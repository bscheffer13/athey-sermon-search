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Thanks, everyone. I want to show you something we've built called Athey Creek Sermon Search. The simplest way to describe it: imagine typing a word or a phrase and instantly finding the exact moment — in any sermon from the last twelve years — where Pastor said it, then jumping straight to that point in the audio and listening. That's what this does. There's a live version you can try on your phone right now at the link on screen. Let me walk you through the why, the what, and where it could go.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challenge. We have roughly twelve years of teaching — going back to October 2013 — hundreds of messages, verse by verse through the Bible. That's an incredible library. But all of that wisdom is locked inside hours and hours of audio and video. If someone asks, 'Where did Pastor teach on marriage?' or 'on forgiveness?' or 'on a particular verse?' — right now there's really no good way to answer that. You'd have to remember which sermon, then scrub through the whole recording to find the spot. The content is there; it's just hard to get 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idea is simple. What if every spoken sentence in every sermon were searchable? You type a word or a phrase, you immediately see the exact lines where it was said across the archive, and then — this is the key part — you click a line and the audio jumps to that exact second and starts playing. Search, see, click, listen.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show you what it actually does today, and I'd encourage you to pull it up live. You type a word — say 'marriage' or 'God' — and you get back the matching sentences, each with a timestamp and a bit of surrounding context, with your search words highlighted. One click jumps the player to that moment. It searches across all the sermons at once, or you can narrow it to a single sermon. And it works just as well on your phone as on a desktop. One technical note for the curious: the app streams the church's existing sermon audio — it doesn't copy or store any of it — and the transcript timestamps line up exactly with the audio.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Under the hood it's three simple steps. We start with the sermon audio we already have. That audio is turned into a transcript automatically. And then we make that transcript searchable and clickable, linked to the audio timeline — so every search result is also a 'play from here' button. One important thing: we're not doing the transcription ourselves. Those transcripts already come from an existing automated speech-to-text pipeline. We're simply making them useful.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want to point out why this is a smart, lean approach. There are no accounts and no heavy servers running behind it, so the cost to keep it online is effectively near-zero today. It reuses what already exists — the audio is already hosted, and the transcripts are already being generated. And it's built to scale: adding a new sermon is really just adding its transcript. Nothing exotic, nothing expensive. For the technically minded, every sermon has a short ID that maps to its audio, its web page, and its transcript — so the catalog can grow almost automatically from that one key.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where are we right now. We have a live, working demo that's publicly accessible — the link I showed you. We've proven the two hardest parts: searching across multiple sermons at once, and click-to-play landing you on the exact moment. Today it's loaded with a small sample — two sermons — as proof of concept, and it's ready to scale up to the full archive.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where it goes next, in phases. First, the whole archive — ingest all twelve years, and automatically pull each sermon's title, date, series, speaker, and scripture so every result is richly labeled. Second, better search — upgrade to a real search engine built for thousands of sermons, with ranking, exact-phrase matching, and filters by Bible book, series, speaker, or date range. Third, watch, not just listen — sync to the video and add shareable timestamped links, so someone can send a friend 'watch from this moment.' And fourth, polish — sermon detail cards, jump-to-scripture, playback speed, and mobile refinements. And importantly, all four of these phases run on the same lean, low-cost approach — free, lightweight tools, reusing the audio and video we already have. Better search is the one line item that could carry a small fee — up to about thirty dollars a month if we choose a managed search service, though it can also be done for free. The cost only really grows when we get into the bigger possibilities, like meaning-based search and personal accounts.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a proposed look at what the full archive could feel like. Same simple search — but now every result is richly labeled. At a glance you can see the scripture it's tied to, the series it belongs to, the speaker, and the date. All of that gets pulled in automatically as we ingest the archive, so you're not just finding a sentence — you're finding it in context.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proposed look at better search. Once we're working with thousands of sermons, you'll want to narrow things down. So along the side you'd have filters — by Bible book, by series, by speaker, and by date range — and results come back ranked by relevance, with the best match first. And when you want the precise wording, you can ask for an exact phrase.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phase is about watching, not just listening. The proposed look puts the video right next to the transcript, and as the sermon plays the transcript follows along, highlighting the current line. Because every line is a moment in time, you also get a shareable link — so you can send someone 'watch from this exact moment,' and it opens right there.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finally, polish. This is a proposed sermon detail view — the title, date, series, and scripture all in one place, with a short synopsis. You can jump straight to a scripture reference, change the playback speed, and the whole experience is tuned to feel great on a phone. These are the refinements that make it something people genuinely enjoy using every 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next ones are further out — possibilities, not promises. We could add 'ask a question' style search, where you type something like 'sermons about anxiety' and it understands the meaning, not just the exact words. We could add personal accounts so people can save favorite moments, build playlists, and share collections. And we could surface themes and topics across the whole archive. I'm keeping these clearly separate so we don't over-promise — they're the horizon, not the plan.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here's the ask. The recommended next step is to approve indexing the full archive and auto-pulling the metadata — that's what turns this from a proof of concept into something the whole congregation can use. Beyond that, the decision I need from you is the priority order for the Phase 2 and 3 features. And there's one optional question: whether this stays public, moves behind a simple login, or both. That's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That's Athey Creek Sermon Search — every word, one click away. The demo is live at the link on screen; please try it, and let me know what you think.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slideLayout" Target="../slideLayouts/slideLayout1.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1.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1.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1.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slideLayout" Target="../slideLayouts/slideLayout1.xm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solidFill>
            <a:srgbClr val="38403A"/>
          </a:solidFill>
          <a:ln/>
        </p:spPr>
      </p:sp>
      <p:sp>
        <p:nvSpPr>
          <p:cNvPr id="3" name="Text 1"/>
          <p:cNvSpPr/>
          <p:nvPr/>
        </p:nvSpPr>
        <p:spPr>
          <a:xfrm>
            <a:off x="1143000" y="2475607"/>
            <a:ext cx="16482060" cy="285750"/>
          </a:xfrm>
          <a:prstGeom prst="rect">
            <a:avLst/>
          </a:prstGeom>
          <a:noFill/>
          <a:ln/>
        </p:spPr>
        <p:txBody>
          <a:bodyPr wrap="square" lIns="25400" tIns="25400" rIns="25400" bIns="25400" rtlCol="0" anchor="t">
            <a:normAutofit/>
          </a:bodyPr>
          <a:lstStyle/>
          <a:p>
            <a:pPr algn="l" indent="0" marL="0">
              <a:buNone/>
            </a:pPr>
            <a:r>
              <a:rPr lang="en-US" sz="1800" b="1" spc="396" kern="0" dirty="0">
                <a:solidFill>
                  <a:srgbClr val="86BAC9"/>
                </a:solidFill>
                <a:latin typeface="Archivo" pitchFamily="34" charset="0"/>
                <a:ea typeface="Archivo" pitchFamily="34" charset="-122"/>
                <a:cs typeface="Archivo" pitchFamily="34" charset="-120"/>
              </a:rPr>
              <a:t>ATHEY CREEK · TEACHING LIBRARY</a:t>
            </a:r>
            <a:endParaRPr lang="en-US" sz="1800" dirty="0"/>
          </a:p>
        </p:txBody>
      </p:sp>
      <p:sp>
        <p:nvSpPr>
          <p:cNvPr id="4" name="Text 2"/>
          <p:cNvSpPr/>
          <p:nvPr/>
        </p:nvSpPr>
        <p:spPr>
          <a:xfrm>
            <a:off x="1143000" y="3142357"/>
            <a:ext cx="9086747" cy="860971"/>
          </a:xfrm>
          <a:prstGeom prst="rect">
            <a:avLst/>
          </a:prstGeom>
          <a:noFill/>
          <a:ln/>
        </p:spPr>
        <p:txBody>
          <a:bodyPr wrap="square" lIns="25400" tIns="25400" rIns="25400" bIns="25400" rtlCol="0" anchor="t">
            <a:normAutofit/>
          </a:bodyPr>
          <a:lstStyle/>
          <a:p>
            <a:pPr algn="l" indent="0" marL="0">
              <a:lnSpc>
                <a:spcPct val="90000"/>
              </a:lnSpc>
              <a:buNone/>
            </a:pPr>
            <a:r>
              <a:rPr lang="en-US" sz="7200" b="1" spc="-144" kern="0" dirty="0">
                <a:solidFill>
                  <a:srgbClr val="F4F1EA"/>
                </a:solidFill>
                <a:latin typeface="Georgia" pitchFamily="34" charset="0"/>
                <a:ea typeface="Georgia" pitchFamily="34" charset="-122"/>
                <a:cs typeface="Georgia" pitchFamily="34" charset="-120"/>
              </a:rPr>
              <a:t>Sermon Search</a:t>
            </a:r>
            <a:endParaRPr lang="en-US" sz="7200" dirty="0"/>
          </a:p>
        </p:txBody>
      </p:sp>
      <p:sp>
        <p:nvSpPr>
          <p:cNvPr id="5" name="Text 3"/>
          <p:cNvSpPr/>
          <p:nvPr/>
        </p:nvSpPr>
        <p:spPr>
          <a:xfrm>
            <a:off x="1143000" y="4384328"/>
            <a:ext cx="6135551" cy="1598116"/>
          </a:xfrm>
          <a:prstGeom prst="rect">
            <a:avLst/>
          </a:prstGeom>
          <a:noFill/>
          <a:ln/>
        </p:spPr>
        <p:txBody>
          <a:bodyPr wrap="square" lIns="25400" tIns="25400" rIns="25400" bIns="25400" rtlCol="0" anchor="t">
            <a:normAutofit/>
          </a:bodyPr>
          <a:lstStyle/>
          <a:p>
            <a:pPr algn="l" indent="0" marL="0">
              <a:lnSpc>
                <a:spcPct val="130000"/>
              </a:lnSpc>
              <a:buNone/>
            </a:pPr>
            <a:r>
              <a:rPr lang="en-US" sz="3150" dirty="0">
                <a:solidFill>
                  <a:srgbClr val="F4F1EA"/>
                </a:solidFill>
                <a:latin typeface="Archivo" pitchFamily="34" charset="0"/>
                <a:ea typeface="Archivo" pitchFamily="34" charset="-122"/>
                <a:cs typeface="Archivo" pitchFamily="34" charset="-120"/>
              </a:rPr>
              <a:t>Find any moment in twelve years of teaching — and jump straight to it.</a:t>
            </a:r>
            <a:endParaRPr lang="en-US" sz="3150" dirty="0"/>
          </a:p>
        </p:txBody>
      </p:sp>
      <p:sp>
        <p:nvSpPr>
          <p:cNvPr id="6" name="Shape 4"/>
          <p:cNvSpPr/>
          <p:nvPr/>
        </p:nvSpPr>
        <p:spPr>
          <a:xfrm>
            <a:off x="1143000" y="6834932"/>
            <a:ext cx="57150" cy="180975"/>
          </a:xfrm>
          <a:prstGeom prst="roundRect">
            <a:avLst>
              <a:gd name="adj" fmla="val 50000"/>
            </a:avLst>
          </a:prstGeom>
          <a:solidFill>
            <a:srgbClr val="7FB6C6">
              <a:alpha val="85000"/>
            </a:srgbClr>
          </a:solidFill>
          <a:ln/>
        </p:spPr>
      </p:sp>
      <p:sp>
        <p:nvSpPr>
          <p:cNvPr id="7" name="Shape 5"/>
          <p:cNvSpPr/>
          <p:nvPr/>
        </p:nvSpPr>
        <p:spPr>
          <a:xfrm>
            <a:off x="1247775" y="6787307"/>
            <a:ext cx="57150" cy="276225"/>
          </a:xfrm>
          <a:prstGeom prst="roundRect">
            <a:avLst>
              <a:gd name="adj" fmla="val 50000"/>
            </a:avLst>
          </a:prstGeom>
          <a:solidFill>
            <a:srgbClr val="7FB6C6">
              <a:alpha val="85000"/>
            </a:srgbClr>
          </a:solidFill>
          <a:ln/>
        </p:spPr>
      </p:sp>
      <p:sp>
        <p:nvSpPr>
          <p:cNvPr id="8" name="Shape 6"/>
          <p:cNvSpPr/>
          <p:nvPr/>
        </p:nvSpPr>
        <p:spPr>
          <a:xfrm>
            <a:off x="1352550" y="6844457"/>
            <a:ext cx="57150" cy="161925"/>
          </a:xfrm>
          <a:prstGeom prst="roundRect">
            <a:avLst>
              <a:gd name="adj" fmla="val 50000"/>
            </a:avLst>
          </a:prstGeom>
          <a:solidFill>
            <a:srgbClr val="7FB6C6">
              <a:alpha val="85000"/>
            </a:srgbClr>
          </a:solidFill>
          <a:ln/>
        </p:spPr>
      </p:sp>
      <p:sp>
        <p:nvSpPr>
          <p:cNvPr id="9" name="Shape 7"/>
          <p:cNvSpPr/>
          <p:nvPr/>
        </p:nvSpPr>
        <p:spPr>
          <a:xfrm>
            <a:off x="1457325" y="6811119"/>
            <a:ext cx="57150" cy="228600"/>
          </a:xfrm>
          <a:prstGeom prst="roundRect">
            <a:avLst>
              <a:gd name="adj" fmla="val 50000"/>
            </a:avLst>
          </a:prstGeom>
          <a:solidFill>
            <a:srgbClr val="7FB6C6">
              <a:alpha val="85000"/>
            </a:srgbClr>
          </a:solidFill>
          <a:ln/>
        </p:spPr>
      </p:sp>
      <p:sp>
        <p:nvSpPr>
          <p:cNvPr id="10" name="Shape 8"/>
          <p:cNvSpPr/>
          <p:nvPr/>
        </p:nvSpPr>
        <p:spPr>
          <a:xfrm>
            <a:off x="1562100" y="6758732"/>
            <a:ext cx="57150" cy="333375"/>
          </a:xfrm>
          <a:prstGeom prst="roundRect">
            <a:avLst>
              <a:gd name="adj" fmla="val 50000"/>
            </a:avLst>
          </a:prstGeom>
          <a:solidFill>
            <a:srgbClr val="7FB6C6">
              <a:alpha val="85000"/>
            </a:srgbClr>
          </a:solidFill>
          <a:ln/>
        </p:spPr>
      </p:sp>
      <p:sp>
        <p:nvSpPr>
          <p:cNvPr id="11" name="Shape 9"/>
          <p:cNvSpPr/>
          <p:nvPr/>
        </p:nvSpPr>
        <p:spPr>
          <a:xfrm>
            <a:off x="1666875" y="6734919"/>
            <a:ext cx="57150" cy="381000"/>
          </a:xfrm>
          <a:prstGeom prst="roundRect">
            <a:avLst>
              <a:gd name="adj" fmla="val 50000"/>
            </a:avLst>
          </a:prstGeom>
          <a:solidFill>
            <a:srgbClr val="7FB6C6">
              <a:alpha val="85000"/>
            </a:srgbClr>
          </a:solidFill>
          <a:ln/>
        </p:spPr>
      </p:sp>
      <p:sp>
        <p:nvSpPr>
          <p:cNvPr id="12" name="Shape 10"/>
          <p:cNvSpPr/>
          <p:nvPr/>
        </p:nvSpPr>
        <p:spPr>
          <a:xfrm>
            <a:off x="1771650" y="6825407"/>
            <a:ext cx="57150" cy="200025"/>
          </a:xfrm>
          <a:prstGeom prst="roundRect">
            <a:avLst>
              <a:gd name="adj" fmla="val 50000"/>
            </a:avLst>
          </a:prstGeom>
          <a:solidFill>
            <a:srgbClr val="7FB6C6">
              <a:alpha val="85000"/>
            </a:srgbClr>
          </a:solidFill>
          <a:ln/>
        </p:spPr>
      </p:sp>
      <p:sp>
        <p:nvSpPr>
          <p:cNvPr id="13" name="Shape 11"/>
          <p:cNvSpPr/>
          <p:nvPr/>
        </p:nvSpPr>
        <p:spPr>
          <a:xfrm>
            <a:off x="1876425" y="6620619"/>
            <a:ext cx="57150" cy="609600"/>
          </a:xfrm>
          <a:prstGeom prst="roundRect">
            <a:avLst>
              <a:gd name="adj" fmla="val 50000"/>
            </a:avLst>
          </a:prstGeom>
          <a:solidFill>
            <a:srgbClr val="7FB6C6">
              <a:alpha val="85000"/>
            </a:srgbClr>
          </a:solidFill>
          <a:ln/>
        </p:spPr>
      </p:sp>
      <p:sp>
        <p:nvSpPr>
          <p:cNvPr id="14" name="Shape 12"/>
          <p:cNvSpPr/>
          <p:nvPr/>
        </p:nvSpPr>
        <p:spPr>
          <a:xfrm>
            <a:off x="1981200" y="6687294"/>
            <a:ext cx="57150" cy="476250"/>
          </a:xfrm>
          <a:prstGeom prst="roundRect">
            <a:avLst>
              <a:gd name="adj" fmla="val 50000"/>
            </a:avLst>
          </a:prstGeom>
          <a:solidFill>
            <a:srgbClr val="7FB6C6">
              <a:alpha val="85000"/>
            </a:srgbClr>
          </a:solidFill>
          <a:ln/>
        </p:spPr>
      </p:sp>
      <p:sp>
        <p:nvSpPr>
          <p:cNvPr id="15" name="Shape 13"/>
          <p:cNvSpPr/>
          <p:nvPr/>
        </p:nvSpPr>
        <p:spPr>
          <a:xfrm>
            <a:off x="2085975" y="6725394"/>
            <a:ext cx="57150" cy="400050"/>
          </a:xfrm>
          <a:prstGeom prst="roundRect">
            <a:avLst>
              <a:gd name="adj" fmla="val 50000"/>
            </a:avLst>
          </a:prstGeom>
          <a:solidFill>
            <a:srgbClr val="7FB6C6">
              <a:alpha val="85000"/>
            </a:srgbClr>
          </a:solidFill>
          <a:ln/>
        </p:spPr>
      </p:sp>
      <p:sp>
        <p:nvSpPr>
          <p:cNvPr id="16" name="Shape 14"/>
          <p:cNvSpPr/>
          <p:nvPr/>
        </p:nvSpPr>
        <p:spPr>
          <a:xfrm>
            <a:off x="2190750" y="6753969"/>
            <a:ext cx="57150" cy="342900"/>
          </a:xfrm>
          <a:prstGeom prst="roundRect">
            <a:avLst>
              <a:gd name="adj" fmla="val 50000"/>
            </a:avLst>
          </a:prstGeom>
          <a:solidFill>
            <a:srgbClr val="7FB6C6">
              <a:alpha val="85000"/>
            </a:srgbClr>
          </a:solidFill>
          <a:ln/>
        </p:spPr>
      </p:sp>
      <p:sp>
        <p:nvSpPr>
          <p:cNvPr id="17" name="Shape 15"/>
          <p:cNvSpPr/>
          <p:nvPr/>
        </p:nvSpPr>
        <p:spPr>
          <a:xfrm>
            <a:off x="2295525" y="6606332"/>
            <a:ext cx="57150" cy="638175"/>
          </a:xfrm>
          <a:prstGeom prst="roundRect">
            <a:avLst>
              <a:gd name="adj" fmla="val 50000"/>
            </a:avLst>
          </a:prstGeom>
          <a:solidFill>
            <a:srgbClr val="7FB6C6">
              <a:alpha val="85000"/>
            </a:srgbClr>
          </a:solidFill>
          <a:ln/>
        </p:spPr>
      </p:sp>
      <p:sp>
        <p:nvSpPr>
          <p:cNvPr id="18" name="Shape 16"/>
          <p:cNvSpPr/>
          <p:nvPr/>
        </p:nvSpPr>
        <p:spPr>
          <a:xfrm>
            <a:off x="2400300" y="6634907"/>
            <a:ext cx="57150" cy="581025"/>
          </a:xfrm>
          <a:prstGeom prst="roundRect">
            <a:avLst>
              <a:gd name="adj" fmla="val 50000"/>
            </a:avLst>
          </a:prstGeom>
          <a:solidFill>
            <a:srgbClr val="7FB6C6">
              <a:alpha val="85000"/>
            </a:srgbClr>
          </a:solidFill>
          <a:ln/>
        </p:spPr>
      </p:sp>
      <p:sp>
        <p:nvSpPr>
          <p:cNvPr id="19" name="Shape 17"/>
          <p:cNvSpPr/>
          <p:nvPr/>
        </p:nvSpPr>
        <p:spPr>
          <a:xfrm>
            <a:off x="2505075" y="6801594"/>
            <a:ext cx="57150" cy="247650"/>
          </a:xfrm>
          <a:prstGeom prst="roundRect">
            <a:avLst>
              <a:gd name="adj" fmla="val 50000"/>
            </a:avLst>
          </a:prstGeom>
          <a:solidFill>
            <a:srgbClr val="7FB6C6">
              <a:alpha val="85000"/>
            </a:srgbClr>
          </a:solidFill>
          <a:ln/>
        </p:spPr>
      </p:sp>
      <p:sp>
        <p:nvSpPr>
          <p:cNvPr id="20" name="Shape 18"/>
          <p:cNvSpPr/>
          <p:nvPr/>
        </p:nvSpPr>
        <p:spPr>
          <a:xfrm>
            <a:off x="2609850" y="6673007"/>
            <a:ext cx="57150" cy="504825"/>
          </a:xfrm>
          <a:prstGeom prst="roundRect">
            <a:avLst>
              <a:gd name="adj" fmla="val 50000"/>
            </a:avLst>
          </a:prstGeom>
          <a:solidFill>
            <a:srgbClr val="7FB6C6">
              <a:alpha val="85000"/>
            </a:srgbClr>
          </a:solidFill>
          <a:ln/>
        </p:spPr>
      </p:sp>
      <p:sp>
        <p:nvSpPr>
          <p:cNvPr id="21" name="Shape 19"/>
          <p:cNvSpPr/>
          <p:nvPr/>
        </p:nvSpPr>
        <p:spPr>
          <a:xfrm>
            <a:off x="2714625" y="6749207"/>
            <a:ext cx="57150" cy="352425"/>
          </a:xfrm>
          <a:prstGeom prst="roundRect">
            <a:avLst>
              <a:gd name="adj" fmla="val 50000"/>
            </a:avLst>
          </a:prstGeom>
          <a:solidFill>
            <a:srgbClr val="7FB6C6">
              <a:alpha val="85000"/>
            </a:srgbClr>
          </a:solidFill>
          <a:ln/>
        </p:spPr>
      </p:sp>
      <p:sp>
        <p:nvSpPr>
          <p:cNvPr id="22" name="Shape 20"/>
          <p:cNvSpPr/>
          <p:nvPr/>
        </p:nvSpPr>
        <p:spPr>
          <a:xfrm>
            <a:off x="2819400" y="6611094"/>
            <a:ext cx="57150" cy="628650"/>
          </a:xfrm>
          <a:prstGeom prst="roundRect">
            <a:avLst>
              <a:gd name="adj" fmla="val 50000"/>
            </a:avLst>
          </a:prstGeom>
          <a:solidFill>
            <a:srgbClr val="7FB6C6">
              <a:alpha val="85000"/>
            </a:srgbClr>
          </a:solidFill>
          <a:ln/>
        </p:spPr>
      </p:sp>
      <p:sp>
        <p:nvSpPr>
          <p:cNvPr id="23" name="Shape 21"/>
          <p:cNvSpPr/>
          <p:nvPr/>
        </p:nvSpPr>
        <p:spPr>
          <a:xfrm>
            <a:off x="2924175" y="6768257"/>
            <a:ext cx="57150" cy="314325"/>
          </a:xfrm>
          <a:prstGeom prst="roundRect">
            <a:avLst>
              <a:gd name="adj" fmla="val 50000"/>
            </a:avLst>
          </a:prstGeom>
          <a:solidFill>
            <a:srgbClr val="7FB6C6">
              <a:alpha val="85000"/>
            </a:srgbClr>
          </a:solidFill>
          <a:ln/>
        </p:spPr>
      </p:sp>
      <p:sp>
        <p:nvSpPr>
          <p:cNvPr id="24" name="Shape 22"/>
          <p:cNvSpPr/>
          <p:nvPr/>
        </p:nvSpPr>
        <p:spPr>
          <a:xfrm>
            <a:off x="3028950" y="6639669"/>
            <a:ext cx="57150" cy="571500"/>
          </a:xfrm>
          <a:prstGeom prst="roundRect">
            <a:avLst>
              <a:gd name="adj" fmla="val 50000"/>
            </a:avLst>
          </a:prstGeom>
          <a:solidFill>
            <a:srgbClr val="7FB6C6">
              <a:alpha val="85000"/>
            </a:srgbClr>
          </a:solidFill>
          <a:ln/>
        </p:spPr>
      </p:sp>
      <p:sp>
        <p:nvSpPr>
          <p:cNvPr id="25" name="Shape 23"/>
          <p:cNvSpPr/>
          <p:nvPr/>
        </p:nvSpPr>
        <p:spPr>
          <a:xfrm>
            <a:off x="3133725" y="6663482"/>
            <a:ext cx="57150" cy="523875"/>
          </a:xfrm>
          <a:prstGeom prst="roundRect">
            <a:avLst>
              <a:gd name="adj" fmla="val 50000"/>
            </a:avLst>
          </a:prstGeom>
          <a:solidFill>
            <a:srgbClr val="7FB6C6">
              <a:alpha val="85000"/>
            </a:srgbClr>
          </a:solidFill>
          <a:ln/>
        </p:spPr>
      </p:sp>
      <p:sp>
        <p:nvSpPr>
          <p:cNvPr id="26" name="Shape 24"/>
          <p:cNvSpPr/>
          <p:nvPr/>
        </p:nvSpPr>
        <p:spPr>
          <a:xfrm>
            <a:off x="3238500" y="6763494"/>
            <a:ext cx="57150" cy="323850"/>
          </a:xfrm>
          <a:prstGeom prst="roundRect">
            <a:avLst>
              <a:gd name="adj" fmla="val 50000"/>
            </a:avLst>
          </a:prstGeom>
          <a:solidFill>
            <a:srgbClr val="7FB6C6">
              <a:alpha val="85000"/>
            </a:srgbClr>
          </a:solidFill>
          <a:ln/>
        </p:spPr>
      </p:sp>
      <p:sp>
        <p:nvSpPr>
          <p:cNvPr id="27" name="Shape 25"/>
          <p:cNvSpPr/>
          <p:nvPr/>
        </p:nvSpPr>
        <p:spPr>
          <a:xfrm>
            <a:off x="3343275" y="6801594"/>
            <a:ext cx="57150" cy="247650"/>
          </a:xfrm>
          <a:prstGeom prst="roundRect">
            <a:avLst>
              <a:gd name="adj" fmla="val 50000"/>
            </a:avLst>
          </a:prstGeom>
          <a:solidFill>
            <a:srgbClr val="7FB6C6">
              <a:alpha val="85000"/>
            </a:srgbClr>
          </a:solidFill>
          <a:ln/>
        </p:spPr>
      </p:sp>
      <p:sp>
        <p:nvSpPr>
          <p:cNvPr id="28" name="Shape 26"/>
          <p:cNvSpPr/>
          <p:nvPr/>
        </p:nvSpPr>
        <p:spPr>
          <a:xfrm>
            <a:off x="3448050" y="6515844"/>
            <a:ext cx="57150" cy="819150"/>
          </a:xfrm>
          <a:prstGeom prst="roundRect">
            <a:avLst>
              <a:gd name="adj" fmla="val 50000"/>
            </a:avLst>
          </a:prstGeom>
          <a:solidFill>
            <a:srgbClr val="7FB6C6">
              <a:alpha val="85000"/>
            </a:srgbClr>
          </a:solidFill>
          <a:ln/>
        </p:spPr>
      </p:sp>
      <p:sp>
        <p:nvSpPr>
          <p:cNvPr id="29" name="Shape 27"/>
          <p:cNvSpPr/>
          <p:nvPr/>
        </p:nvSpPr>
        <p:spPr>
          <a:xfrm>
            <a:off x="3552825" y="6506319"/>
            <a:ext cx="57150" cy="838200"/>
          </a:xfrm>
          <a:prstGeom prst="roundRect">
            <a:avLst>
              <a:gd name="adj" fmla="val 50000"/>
            </a:avLst>
          </a:prstGeom>
          <a:solidFill>
            <a:srgbClr val="7FB6C6">
              <a:alpha val="85000"/>
            </a:srgbClr>
          </a:solidFill>
          <a:ln/>
        </p:spPr>
      </p:sp>
      <p:sp>
        <p:nvSpPr>
          <p:cNvPr id="30" name="Shape 28"/>
          <p:cNvSpPr/>
          <p:nvPr/>
        </p:nvSpPr>
        <p:spPr>
          <a:xfrm>
            <a:off x="3657600" y="6782544"/>
            <a:ext cx="57150" cy="285750"/>
          </a:xfrm>
          <a:prstGeom prst="roundRect">
            <a:avLst>
              <a:gd name="adj" fmla="val 50000"/>
            </a:avLst>
          </a:prstGeom>
          <a:solidFill>
            <a:srgbClr val="7FB6C6">
              <a:alpha val="85000"/>
            </a:srgbClr>
          </a:solidFill>
          <a:ln/>
        </p:spPr>
      </p:sp>
      <p:sp>
        <p:nvSpPr>
          <p:cNvPr id="31" name="Shape 29"/>
          <p:cNvSpPr/>
          <p:nvPr/>
        </p:nvSpPr>
        <p:spPr>
          <a:xfrm>
            <a:off x="3762375" y="6677769"/>
            <a:ext cx="57150" cy="495300"/>
          </a:xfrm>
          <a:prstGeom prst="roundRect">
            <a:avLst>
              <a:gd name="adj" fmla="val 50000"/>
            </a:avLst>
          </a:prstGeom>
          <a:solidFill>
            <a:srgbClr val="7FB6C6">
              <a:alpha val="85000"/>
            </a:srgbClr>
          </a:solidFill>
          <a:ln/>
        </p:spPr>
      </p:sp>
      <p:sp>
        <p:nvSpPr>
          <p:cNvPr id="32" name="Shape 30"/>
          <p:cNvSpPr/>
          <p:nvPr/>
        </p:nvSpPr>
        <p:spPr>
          <a:xfrm>
            <a:off x="3867150" y="6520607"/>
            <a:ext cx="57150" cy="809625"/>
          </a:xfrm>
          <a:prstGeom prst="roundRect">
            <a:avLst>
              <a:gd name="adj" fmla="val 50000"/>
            </a:avLst>
          </a:prstGeom>
          <a:solidFill>
            <a:srgbClr val="7FB6C6">
              <a:alpha val="85000"/>
            </a:srgbClr>
          </a:solidFill>
          <a:ln/>
        </p:spPr>
      </p:sp>
      <p:sp>
        <p:nvSpPr>
          <p:cNvPr id="33" name="Shape 31"/>
          <p:cNvSpPr/>
          <p:nvPr/>
        </p:nvSpPr>
        <p:spPr>
          <a:xfrm>
            <a:off x="3971925" y="6763494"/>
            <a:ext cx="57150" cy="323850"/>
          </a:xfrm>
          <a:prstGeom prst="roundRect">
            <a:avLst>
              <a:gd name="adj" fmla="val 50000"/>
            </a:avLst>
          </a:prstGeom>
          <a:solidFill>
            <a:srgbClr val="7FB6C6">
              <a:alpha val="85000"/>
            </a:srgbClr>
          </a:solidFill>
          <a:ln/>
        </p:spPr>
      </p:sp>
      <p:sp>
        <p:nvSpPr>
          <p:cNvPr id="34" name="Shape 32"/>
          <p:cNvSpPr/>
          <p:nvPr/>
        </p:nvSpPr>
        <p:spPr>
          <a:xfrm>
            <a:off x="4076700" y="6696819"/>
            <a:ext cx="57150" cy="457200"/>
          </a:xfrm>
          <a:prstGeom prst="roundRect">
            <a:avLst>
              <a:gd name="adj" fmla="val 50000"/>
            </a:avLst>
          </a:prstGeom>
          <a:solidFill>
            <a:srgbClr val="7FB6C6">
              <a:alpha val="85000"/>
            </a:srgbClr>
          </a:solidFill>
          <a:ln/>
        </p:spPr>
      </p:sp>
      <p:sp>
        <p:nvSpPr>
          <p:cNvPr id="35" name="Shape 33"/>
          <p:cNvSpPr/>
          <p:nvPr/>
        </p:nvSpPr>
        <p:spPr>
          <a:xfrm>
            <a:off x="4181475" y="6663482"/>
            <a:ext cx="57150" cy="523875"/>
          </a:xfrm>
          <a:prstGeom prst="roundRect">
            <a:avLst>
              <a:gd name="adj" fmla="val 50000"/>
            </a:avLst>
          </a:prstGeom>
          <a:solidFill>
            <a:srgbClr val="7FB6C6">
              <a:alpha val="85000"/>
            </a:srgbClr>
          </a:solidFill>
          <a:ln/>
        </p:spPr>
      </p:sp>
      <p:sp>
        <p:nvSpPr>
          <p:cNvPr id="36" name="Shape 34"/>
          <p:cNvSpPr/>
          <p:nvPr/>
        </p:nvSpPr>
        <p:spPr>
          <a:xfrm>
            <a:off x="4286250" y="6630144"/>
            <a:ext cx="57150" cy="590550"/>
          </a:xfrm>
          <a:prstGeom prst="roundRect">
            <a:avLst>
              <a:gd name="adj" fmla="val 50000"/>
            </a:avLst>
          </a:prstGeom>
          <a:solidFill>
            <a:srgbClr val="7FB6C6">
              <a:alpha val="85000"/>
            </a:srgbClr>
          </a:solidFill>
          <a:ln/>
        </p:spPr>
      </p:sp>
      <p:sp>
        <p:nvSpPr>
          <p:cNvPr id="37" name="Shape 35"/>
          <p:cNvSpPr/>
          <p:nvPr/>
        </p:nvSpPr>
        <p:spPr>
          <a:xfrm>
            <a:off x="4391025" y="6749207"/>
            <a:ext cx="57150" cy="352425"/>
          </a:xfrm>
          <a:prstGeom prst="roundRect">
            <a:avLst>
              <a:gd name="adj" fmla="val 50000"/>
            </a:avLst>
          </a:prstGeom>
          <a:solidFill>
            <a:srgbClr val="7FB6C6">
              <a:alpha val="85000"/>
            </a:srgbClr>
          </a:solidFill>
          <a:ln/>
        </p:spPr>
      </p:sp>
      <p:sp>
        <p:nvSpPr>
          <p:cNvPr id="38" name="Shape 36"/>
          <p:cNvSpPr/>
          <p:nvPr/>
        </p:nvSpPr>
        <p:spPr>
          <a:xfrm>
            <a:off x="4495800" y="6787307"/>
            <a:ext cx="57150" cy="276225"/>
          </a:xfrm>
          <a:prstGeom prst="roundRect">
            <a:avLst>
              <a:gd name="adj" fmla="val 50000"/>
            </a:avLst>
          </a:prstGeom>
          <a:solidFill>
            <a:srgbClr val="7FB6C6">
              <a:alpha val="85000"/>
            </a:srgbClr>
          </a:solidFill>
          <a:ln/>
        </p:spPr>
      </p:sp>
      <p:sp>
        <p:nvSpPr>
          <p:cNvPr id="39" name="Shape 37"/>
          <p:cNvSpPr/>
          <p:nvPr/>
        </p:nvSpPr>
        <p:spPr>
          <a:xfrm>
            <a:off x="4600575" y="6568232"/>
            <a:ext cx="57150" cy="714375"/>
          </a:xfrm>
          <a:prstGeom prst="roundRect">
            <a:avLst>
              <a:gd name="adj" fmla="val 50000"/>
            </a:avLst>
          </a:prstGeom>
          <a:solidFill>
            <a:srgbClr val="7FB6C6">
              <a:alpha val="85000"/>
            </a:srgbClr>
          </a:solidFill>
          <a:ln/>
        </p:spPr>
      </p:sp>
      <p:sp>
        <p:nvSpPr>
          <p:cNvPr id="40" name="Shape 38"/>
          <p:cNvSpPr/>
          <p:nvPr/>
        </p:nvSpPr>
        <p:spPr>
          <a:xfrm>
            <a:off x="4705350" y="6720632"/>
            <a:ext cx="57150" cy="409575"/>
          </a:xfrm>
          <a:prstGeom prst="roundRect">
            <a:avLst>
              <a:gd name="adj" fmla="val 50000"/>
            </a:avLst>
          </a:prstGeom>
          <a:solidFill>
            <a:srgbClr val="7FB6C6">
              <a:alpha val="85000"/>
            </a:srgbClr>
          </a:solidFill>
          <a:ln/>
        </p:spPr>
      </p:sp>
      <p:sp>
        <p:nvSpPr>
          <p:cNvPr id="41" name="Shape 39"/>
          <p:cNvSpPr/>
          <p:nvPr/>
        </p:nvSpPr>
        <p:spPr>
          <a:xfrm>
            <a:off x="4810125" y="6782544"/>
            <a:ext cx="57150" cy="285750"/>
          </a:xfrm>
          <a:prstGeom prst="roundRect">
            <a:avLst>
              <a:gd name="adj" fmla="val 50000"/>
            </a:avLst>
          </a:prstGeom>
          <a:solidFill>
            <a:srgbClr val="7FB6C6">
              <a:alpha val="85000"/>
            </a:srgbClr>
          </a:solidFill>
          <a:ln/>
        </p:spPr>
      </p:sp>
      <p:sp>
        <p:nvSpPr>
          <p:cNvPr id="42" name="Shape 40"/>
          <p:cNvSpPr/>
          <p:nvPr/>
        </p:nvSpPr>
        <p:spPr>
          <a:xfrm>
            <a:off x="4914900" y="6715869"/>
            <a:ext cx="57150" cy="419100"/>
          </a:xfrm>
          <a:prstGeom prst="roundRect">
            <a:avLst>
              <a:gd name="adj" fmla="val 50000"/>
            </a:avLst>
          </a:prstGeom>
          <a:solidFill>
            <a:srgbClr val="7FB6C6">
              <a:alpha val="85000"/>
            </a:srgbClr>
          </a:solidFill>
          <a:ln/>
        </p:spPr>
      </p:sp>
      <p:sp>
        <p:nvSpPr>
          <p:cNvPr id="43" name="Shape 41"/>
          <p:cNvSpPr/>
          <p:nvPr/>
        </p:nvSpPr>
        <p:spPr>
          <a:xfrm>
            <a:off x="5019675" y="6773019"/>
            <a:ext cx="57150" cy="304800"/>
          </a:xfrm>
          <a:prstGeom prst="roundRect">
            <a:avLst>
              <a:gd name="adj" fmla="val 50000"/>
            </a:avLst>
          </a:prstGeom>
          <a:solidFill>
            <a:srgbClr val="7FB6C6">
              <a:alpha val="85000"/>
            </a:srgbClr>
          </a:solidFill>
          <a:ln/>
        </p:spPr>
      </p:sp>
      <p:sp>
        <p:nvSpPr>
          <p:cNvPr id="44" name="Shape 42"/>
          <p:cNvSpPr/>
          <p:nvPr/>
        </p:nvSpPr>
        <p:spPr>
          <a:xfrm>
            <a:off x="5124450" y="6820644"/>
            <a:ext cx="57150" cy="209550"/>
          </a:xfrm>
          <a:prstGeom prst="roundRect">
            <a:avLst>
              <a:gd name="adj" fmla="val 50000"/>
            </a:avLst>
          </a:prstGeom>
          <a:solidFill>
            <a:srgbClr val="7FB6C6">
              <a:alpha val="85000"/>
            </a:srgbClr>
          </a:solidFill>
          <a:ln/>
        </p:spPr>
      </p:sp>
      <p:sp>
        <p:nvSpPr>
          <p:cNvPr id="45" name="Shape 43"/>
          <p:cNvSpPr/>
          <p:nvPr/>
        </p:nvSpPr>
        <p:spPr>
          <a:xfrm>
            <a:off x="5229225" y="6706344"/>
            <a:ext cx="57150" cy="438150"/>
          </a:xfrm>
          <a:prstGeom prst="roundRect">
            <a:avLst>
              <a:gd name="adj" fmla="val 50000"/>
            </a:avLst>
          </a:prstGeom>
          <a:solidFill>
            <a:srgbClr val="7FB6C6">
              <a:alpha val="85000"/>
            </a:srgbClr>
          </a:solidFill>
          <a:ln/>
        </p:spPr>
      </p:sp>
      <p:sp>
        <p:nvSpPr>
          <p:cNvPr id="46" name="Shape 44"/>
          <p:cNvSpPr/>
          <p:nvPr/>
        </p:nvSpPr>
        <p:spPr>
          <a:xfrm>
            <a:off x="5334000" y="6801594"/>
            <a:ext cx="57150" cy="247650"/>
          </a:xfrm>
          <a:prstGeom prst="roundRect">
            <a:avLst>
              <a:gd name="adj" fmla="val 50000"/>
            </a:avLst>
          </a:prstGeom>
          <a:solidFill>
            <a:srgbClr val="7FB6C6">
              <a:alpha val="85000"/>
            </a:srgbClr>
          </a:solidFill>
          <a:ln/>
        </p:spPr>
      </p:sp>
      <p:sp>
        <p:nvSpPr>
          <p:cNvPr id="47" name="Shape 45"/>
          <p:cNvSpPr/>
          <p:nvPr/>
        </p:nvSpPr>
        <p:spPr>
          <a:xfrm>
            <a:off x="5438775" y="6820644"/>
            <a:ext cx="57150" cy="209550"/>
          </a:xfrm>
          <a:prstGeom prst="roundRect">
            <a:avLst>
              <a:gd name="adj" fmla="val 50000"/>
            </a:avLst>
          </a:prstGeom>
          <a:solidFill>
            <a:srgbClr val="7FB6C6">
              <a:alpha val="85000"/>
            </a:srgbClr>
          </a:solidFill>
          <a:ln/>
        </p:spPr>
      </p:sp>
      <p:sp>
        <p:nvSpPr>
          <p:cNvPr id="48" name="Shape 46"/>
          <p:cNvSpPr/>
          <p:nvPr/>
        </p:nvSpPr>
        <p:spPr>
          <a:xfrm>
            <a:off x="1143000" y="8953500"/>
            <a:ext cx="1775371" cy="533400"/>
          </a:xfrm>
          <a:prstGeom prst="roundRect">
            <a:avLst>
              <a:gd name="adj" fmla="val 50000"/>
            </a:avLst>
          </a:prstGeom>
          <a:ln w="9525">
            <a:solidFill>
              <a:srgbClr val="86BAC9">
                <a:alpha val="50000"/>
              </a:srgbClr>
            </a:solidFill>
            <a:prstDash val="solid"/>
          </a:ln>
        </p:spPr>
      </p:sp>
      <p:sp>
        <p:nvSpPr>
          <p:cNvPr id="49" name="Shape 47"/>
          <p:cNvSpPr/>
          <p:nvPr/>
        </p:nvSpPr>
        <p:spPr>
          <a:xfrm>
            <a:off x="1381125" y="9177338"/>
            <a:ext cx="85725" cy="85725"/>
          </a:xfrm>
          <a:prstGeom prst="ellipse">
            <a:avLst/>
          </a:prstGeom>
          <a:solidFill>
            <a:srgbClr val="5FBF7E"/>
          </a:solidFill>
          <a:ln/>
          <a:effectLst>
            <a:outerShdw sx="100000" sy="100000" kx="0" ky="0" algn="bl" rotWithShape="0" blurRad="101600" dist="50800" dir="16200000">
              <a:srgbClr val="5FBF7E">
                <a:alpha val="20000"/>
              </a:srgbClr>
            </a:outerShdw>
          </a:effectLst>
        </p:spPr>
      </p:sp>
      <p:sp>
        <p:nvSpPr>
          <p:cNvPr id="50" name="Text 48"/>
          <p:cNvSpPr/>
          <p:nvPr/>
        </p:nvSpPr>
        <p:spPr>
          <a:xfrm>
            <a:off x="1600200" y="9096375"/>
            <a:ext cx="1156246" cy="285750"/>
          </a:xfrm>
          <a:prstGeom prst="rect">
            <a:avLst/>
          </a:prstGeom>
          <a:noFill/>
          <a:ln/>
        </p:spPr>
        <p:txBody>
          <a:bodyPr wrap="square" lIns="0" tIns="0" rIns="0" bIns="0" rtlCol="0" anchor="t">
            <a:normAutofit/>
          </a:bodyPr>
          <a:lstStyle/>
          <a:p>
            <a:pPr algn="l" indent="0" marL="0">
              <a:buNone/>
            </a:pPr>
            <a:r>
              <a:rPr lang="en-US" sz="1800" b="1" dirty="0">
                <a:solidFill>
                  <a:srgbClr val="9FC9D6"/>
                </a:solidFill>
                <a:latin typeface="Archivo" pitchFamily="34" charset="0"/>
                <a:ea typeface="Archivo" pitchFamily="34" charset="-122"/>
                <a:cs typeface="Archivo" pitchFamily="34" charset="-120"/>
              </a:rPr>
              <a:t>Live demo</a:t>
            </a:r>
            <a:endParaRPr lang="en-US" sz="1800" dirty="0"/>
          </a:p>
        </p:txBody>
      </p:sp>
      <p:sp>
        <p:nvSpPr>
          <p:cNvPr id="51" name="Text 49"/>
          <p:cNvSpPr/>
          <p:nvPr/>
        </p:nvSpPr>
        <p:spPr>
          <a:xfrm>
            <a:off x="3127921" y="9082088"/>
            <a:ext cx="5792328" cy="314325"/>
          </a:xfrm>
          <a:prstGeom prst="rect">
            <a:avLst/>
          </a:prstGeom>
          <a:noFill/>
          <a:ln/>
        </p:spPr>
        <p:txBody>
          <a:bodyPr wrap="square" lIns="25400" tIns="25400" rIns="25400" bIns="25400" rtlCol="0" anchor="t">
            <a:normAutofit/>
          </a:bodyPr>
          <a:lstStyle/>
          <a:p>
            <a:pPr algn="l" indent="0" marL="0">
              <a:buNone/>
            </a:pPr>
            <a:r>
              <a:rPr lang="en-US" sz="1800" dirty="0">
                <a:solidFill>
                  <a:srgbClr val="9FC9D6"/>
                </a:solidFill>
                <a:latin typeface="Spline Sans Mono" pitchFamily="34" charset="0"/>
                <a:ea typeface="Spline Sans Mono" pitchFamily="34" charset="-122"/>
                <a:cs typeface="Spline Sans Mono" pitchFamily="34" charset="-120"/>
              </a:rPr>
              <a:t>bscheffer13.github.io/athey-sermon-search</a:t>
            </a:r>
            <a:endParaRPr lang="en-US" sz="1800" dirty="0"/>
          </a:p>
        </p:txBody>
      </p:sp>
      <p:sp>
        <p:nvSpPr>
          <p:cNvPr id="52" name="Text 50"/>
          <p:cNvSpPr/>
          <p:nvPr/>
        </p:nvSpPr>
        <p:spPr>
          <a:xfrm>
            <a:off x="1143000" y="9601200"/>
            <a:ext cx="3372599" cy="285750"/>
          </a:xfrm>
          <a:prstGeom prst="rect">
            <a:avLst/>
          </a:prstGeom>
          <a:noFill/>
          <a:ln/>
        </p:spPr>
        <p:txBody>
          <a:bodyPr wrap="square" lIns="25400" tIns="25400" rIns="25400" bIns="25400" rtlCol="0" anchor="t">
            <a:normAutofit/>
          </a:bodyPr>
          <a:lstStyle/>
          <a:p>
            <a:pPr algn="l" indent="0" marL="0">
              <a:buNone/>
            </a:pPr>
            <a:r>
              <a:rPr lang="en-US" sz="1800" b="1" spc="288" kern="0" dirty="0">
                <a:solidFill>
                  <a:srgbClr val="F4F1EA">
                    <a:alpha val="40000"/>
                  </a:srgbClr>
                </a:solidFill>
                <a:latin typeface="Archivo" pitchFamily="34" charset="0"/>
                <a:ea typeface="Archivo" pitchFamily="34" charset="-122"/>
                <a:cs typeface="Archivo" pitchFamily="34" charset="-120"/>
              </a:rPr>
              <a:t>ATHEY CREEK CHURCH</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1EA"/>
        </a:solidFill>
      </p:bgPr>
    </p:bg>
    <p:spTree>
      <p:nvGrpSpPr>
        <p:cNvPr id="1" name=""/>
        <p:cNvGrpSpPr/>
        <p:nvPr/>
      </p:nvGrpSpPr>
      <p:grpSpPr>
        <a:xfrm>
          <a:off x="0" y="0"/>
          <a:ext cx="0" cy="0"/>
          <a:chOff x="0" y="0"/>
          <a:chExt cx="0" cy="0"/>
        </a:xfrm>
      </p:grpSpPr>
      <p:sp>
        <p:nvSpPr>
          <p:cNvPr id="2" name="Text 0"/>
          <p:cNvSpPr/>
          <p:nvPr/>
        </p:nvSpPr>
        <p:spPr>
          <a:xfrm>
            <a:off x="1143000" y="876300"/>
            <a:ext cx="16482060" cy="285750"/>
          </a:xfrm>
          <a:prstGeom prst="rect">
            <a:avLst/>
          </a:prstGeom>
          <a:noFill/>
          <a:ln/>
        </p:spPr>
        <p:txBody>
          <a:bodyPr wrap="square" lIns="25400" tIns="25400" rIns="25400" bIns="25400" rtlCol="0" anchor="t">
            <a:normAutofit/>
          </a:bodyPr>
          <a:lstStyle/>
          <a:p>
            <a:pPr algn="l" indent="0" marL="0">
              <a:buNone/>
            </a:pPr>
            <a:r>
              <a:rPr lang="en-US" sz="1800" b="1" spc="396" kern="0" dirty="0">
                <a:solidFill>
                  <a:srgbClr val="3C7C92"/>
                </a:solidFill>
                <a:latin typeface="Archivo" pitchFamily="34" charset="0"/>
                <a:ea typeface="Archivo" pitchFamily="34" charset="-122"/>
                <a:cs typeface="Archivo" pitchFamily="34" charset="-120"/>
              </a:rPr>
              <a:t>THE PROBLEM</a:t>
            </a:r>
            <a:endParaRPr lang="en-US" sz="1800" dirty="0"/>
          </a:p>
        </p:txBody>
      </p:sp>
      <p:sp>
        <p:nvSpPr>
          <p:cNvPr id="3" name="Text 1"/>
          <p:cNvSpPr/>
          <p:nvPr/>
        </p:nvSpPr>
        <p:spPr>
          <a:xfrm>
            <a:off x="1143000" y="3782467"/>
            <a:ext cx="7409569" cy="1752600"/>
          </a:xfrm>
          <a:prstGeom prst="rect">
            <a:avLst/>
          </a:prstGeom>
          <a:noFill/>
          <a:ln/>
        </p:spPr>
        <p:txBody>
          <a:bodyPr wrap="square" lIns="25400" tIns="25400" rIns="25400" bIns="25400" rtlCol="0" anchor="t">
            <a:normAutofit/>
          </a:bodyPr>
          <a:lstStyle/>
          <a:p>
            <a:pPr algn="l" indent="0" marL="0">
              <a:lnSpc>
                <a:spcPct val="90000"/>
              </a:lnSpc>
              <a:buNone/>
            </a:pPr>
            <a:r>
              <a:rPr lang="en-US" sz="15000" b="1" spc="-300" kern="0" dirty="0">
                <a:solidFill>
                  <a:srgbClr val="2E3330"/>
                </a:solidFill>
                <a:latin typeface="Spectral" pitchFamily="34" charset="0"/>
                <a:ea typeface="Spectral" pitchFamily="34" charset="-122"/>
                <a:cs typeface="Spectral" pitchFamily="34" charset="-120"/>
              </a:rPr>
              <a:t>12</a:t>
            </a:r>
            <a:pPr algn="l" indent="0" marL="0">
              <a:lnSpc>
                <a:spcPct val="90000"/>
              </a:lnSpc>
              <a:buNone/>
            </a:pPr>
            <a:r>
              <a:rPr lang="en-US" sz="4800" spc="-300" kern="0" dirty="0">
                <a:solidFill>
                  <a:srgbClr val="2E3330"/>
                </a:solidFill>
                <a:latin typeface="Spectral" pitchFamily="34" charset="0"/>
                <a:ea typeface="Spectral" pitchFamily="34" charset="-122"/>
                <a:cs typeface="Spectral" pitchFamily="34" charset="-120"/>
              </a:rPr>
              <a:t>years</a:t>
            </a:r>
            <a:endParaRPr lang="en-US" sz="15000" dirty="0"/>
          </a:p>
        </p:txBody>
      </p:sp>
      <p:sp>
        <p:nvSpPr>
          <p:cNvPr id="4" name="Text 2"/>
          <p:cNvSpPr/>
          <p:nvPr/>
        </p:nvSpPr>
        <p:spPr>
          <a:xfrm>
            <a:off x="1143000" y="5668417"/>
            <a:ext cx="3775606" cy="1198066"/>
          </a:xfrm>
          <a:prstGeom prst="rect">
            <a:avLst/>
          </a:prstGeom>
          <a:noFill/>
          <a:ln/>
        </p:spPr>
        <p:txBody>
          <a:bodyPr wrap="square" lIns="25400" tIns="25400" rIns="25400" bIns="25400" rtlCol="0" anchor="t">
            <a:normAutofit/>
          </a:bodyPr>
          <a:lstStyle/>
          <a:p>
            <a:pPr algn="l" indent="0" marL="0">
              <a:lnSpc>
                <a:spcPct val="145000"/>
              </a:lnSpc>
              <a:buNone/>
            </a:pPr>
            <a:r>
              <a:rPr lang="en-US" sz="2100" dirty="0">
                <a:solidFill>
                  <a:srgbClr val="6E7570"/>
                </a:solidFill>
                <a:latin typeface="Archivo" pitchFamily="34" charset="0"/>
                <a:ea typeface="Archivo" pitchFamily="34" charset="-122"/>
                <a:cs typeface="Archivo" pitchFamily="34" charset="-120"/>
              </a:rPr>
              <a:t>Of verse-by-verse teaching, from October 2013 to today — hundreds of messages.</a:t>
            </a:r>
            <a:endParaRPr lang="en-US" sz="2100" dirty="0"/>
          </a:p>
        </p:txBody>
      </p:sp>
      <p:sp>
        <p:nvSpPr>
          <p:cNvPr id="5" name="Text 3"/>
          <p:cNvSpPr/>
          <p:nvPr/>
        </p:nvSpPr>
        <p:spPr>
          <a:xfrm>
            <a:off x="9194006" y="3956447"/>
            <a:ext cx="8189370" cy="1583382"/>
          </a:xfrm>
          <a:prstGeom prst="rect">
            <a:avLst/>
          </a:prstGeom>
          <a:noFill/>
          <a:ln/>
        </p:spPr>
        <p:txBody>
          <a:bodyPr wrap="square" lIns="25400" tIns="25400" rIns="25400" bIns="25400" rtlCol="0" anchor="t">
            <a:normAutofit/>
          </a:bodyPr>
          <a:lstStyle/>
          <a:p>
            <a:pPr algn="l" indent="0" marL="0">
              <a:lnSpc>
                <a:spcPct val="104000"/>
              </a:lnSpc>
              <a:buNone/>
            </a:pPr>
            <a:r>
              <a:rPr lang="en-US" sz="3900" b="1" spc="-39" kern="0" dirty="0">
                <a:solidFill>
                  <a:srgbClr val="2E3330"/>
                </a:solidFill>
                <a:latin typeface="Spectral" pitchFamily="34" charset="0"/>
                <a:ea typeface="Spectral" pitchFamily="34" charset="-122"/>
                <a:cs typeface="Spectral" pitchFamily="34" charset="-120"/>
              </a:rPr>
              <a:t>The wisdom is all there — but locked inside hours of audio and video.</a:t>
            </a:r>
            <a:endParaRPr lang="en-US" sz="3900" dirty="0"/>
          </a:p>
        </p:txBody>
      </p:sp>
      <p:sp>
        <p:nvSpPr>
          <p:cNvPr id="6" name="Text 4"/>
          <p:cNvSpPr/>
          <p:nvPr/>
        </p:nvSpPr>
        <p:spPr>
          <a:xfrm>
            <a:off x="9194006" y="5825579"/>
            <a:ext cx="8189370" cy="866775"/>
          </a:xfrm>
          <a:prstGeom prst="rect">
            <a:avLst/>
          </a:prstGeom>
          <a:noFill/>
          <a:ln/>
        </p:spPr>
        <p:txBody>
          <a:bodyPr wrap="square" lIns="25400" tIns="25400" rIns="25400" bIns="25400" rtlCol="0" anchor="t">
            <a:normAutofit/>
          </a:bodyPr>
          <a:lstStyle/>
          <a:p>
            <a:pPr algn="l" indent="0" marL="0">
              <a:lnSpc>
                <a:spcPct val="145000"/>
              </a:lnSpc>
              <a:buNone/>
            </a:pPr>
            <a:r>
              <a:rPr lang="en-US" sz="2250" dirty="0">
                <a:solidFill>
                  <a:srgbClr val="6E7570"/>
                </a:solidFill>
                <a:latin typeface="Archivo" pitchFamily="34" charset="0"/>
                <a:ea typeface="Archivo" pitchFamily="34" charset="-122"/>
                <a:cs typeface="Archivo" pitchFamily="34" charset="-120"/>
              </a:rPr>
              <a:t>There’s no good way to answer a simple question: </a:t>
            </a:r>
            <a:pPr algn="l" indent="0" marL="0">
              <a:lnSpc>
                <a:spcPct val="145000"/>
              </a:lnSpc>
              <a:buNone/>
            </a:pPr>
            <a:r>
              <a:rPr lang="en-US" sz="2250" b="1" dirty="0">
                <a:solidFill>
                  <a:srgbClr val="2E3330"/>
                </a:solidFill>
                <a:latin typeface="Archivo" pitchFamily="34" charset="0"/>
                <a:ea typeface="Archivo" pitchFamily="34" charset="-122"/>
                <a:cs typeface="Archivo" pitchFamily="34" charset="-120"/>
              </a:rPr>
              <a:t>“Where did Pastor teach on marriage, on forgiveness, on this verse?”</a:t>
            </a:r>
            <a:endParaRPr lang="en-US" sz="2250" dirty="0"/>
          </a:p>
        </p:txBody>
      </p:sp>
      <p:sp>
        <p:nvSpPr>
          <p:cNvPr id="7" name="Text 5"/>
          <p:cNvSpPr/>
          <p:nvPr/>
        </p:nvSpPr>
        <p:spPr>
          <a:xfrm>
            <a:off x="16870561" y="9572625"/>
            <a:ext cx="350639" cy="314325"/>
          </a:xfrm>
          <a:prstGeom prst="rect">
            <a:avLst/>
          </a:prstGeom>
          <a:noFill/>
          <a:ln/>
        </p:spPr>
        <p:txBody>
          <a:bodyPr wrap="square" lIns="25400" tIns="25400" rIns="25400" bIns="25400" rtlCol="0" anchor="t">
            <a:normAutofit/>
          </a:bodyPr>
          <a:lstStyle/>
          <a:p>
            <a:pPr algn="l" indent="0" marL="0">
              <a:buNone/>
            </a:pPr>
            <a:r>
              <a:rPr lang="en-US" sz="1800" b="1" dirty="0">
                <a:solidFill>
                  <a:srgbClr val="A9ADA4"/>
                </a:solidFill>
                <a:latin typeface="Spline Sans Mono" pitchFamily="34" charset="0"/>
                <a:ea typeface="Spline Sans Mono" pitchFamily="34" charset="-122"/>
                <a:cs typeface="Spline Sans Mono" pitchFamily="34" charset="-120"/>
              </a:rPr>
              <a:t>02</a:t>
            </a:r>
            <a:endParaRPr 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1EA"/>
        </a:solidFill>
      </p:bgPr>
    </p:bg>
    <p:spTree>
      <p:nvGrpSpPr>
        <p:cNvPr id="1" name=""/>
        <p:cNvGrpSpPr/>
        <p:nvPr/>
      </p:nvGrpSpPr>
      <p:grpSpPr>
        <a:xfrm>
          <a:off x="0" y="0"/>
          <a:ext cx="0" cy="0"/>
          <a:chOff x="0" y="0"/>
          <a:chExt cx="0" cy="0"/>
        </a:xfrm>
      </p:grpSpPr>
      <p:sp>
        <p:nvSpPr>
          <p:cNvPr id="2" name="Text 0"/>
          <p:cNvSpPr/>
          <p:nvPr/>
        </p:nvSpPr>
        <p:spPr>
          <a:xfrm>
            <a:off x="1143000" y="876300"/>
            <a:ext cx="16482060" cy="285750"/>
          </a:xfrm>
          <a:prstGeom prst="rect">
            <a:avLst/>
          </a:prstGeom>
          <a:noFill/>
          <a:ln/>
        </p:spPr>
        <p:txBody>
          <a:bodyPr wrap="square" lIns="25400" tIns="25400" rIns="25400" bIns="25400" rtlCol="0" anchor="t">
            <a:normAutofit/>
          </a:bodyPr>
          <a:lstStyle/>
          <a:p>
            <a:pPr algn="l" indent="0" marL="0">
              <a:buNone/>
            </a:pPr>
            <a:r>
              <a:rPr lang="en-US" sz="1800" b="1" spc="396" kern="0" dirty="0">
                <a:solidFill>
                  <a:srgbClr val="3C7C92"/>
                </a:solidFill>
                <a:latin typeface="Archivo" pitchFamily="34" charset="0"/>
                <a:ea typeface="Archivo" pitchFamily="34" charset="-122"/>
                <a:cs typeface="Archivo" pitchFamily="34" charset="-120"/>
              </a:rPr>
              <a:t>THE IDEA</a:t>
            </a:r>
            <a:endParaRPr lang="en-US" sz="1800" dirty="0"/>
          </a:p>
        </p:txBody>
      </p:sp>
      <p:sp>
        <p:nvSpPr>
          <p:cNvPr id="3" name="Text 1"/>
          <p:cNvSpPr/>
          <p:nvPr/>
        </p:nvSpPr>
        <p:spPr>
          <a:xfrm>
            <a:off x="1143000" y="1314450"/>
            <a:ext cx="7572213" cy="1226641"/>
          </a:xfrm>
          <a:prstGeom prst="rect">
            <a:avLst/>
          </a:prstGeom>
          <a:noFill/>
          <a:ln/>
        </p:spPr>
        <p:txBody>
          <a:bodyPr wrap="square" lIns="25400" tIns="25400" rIns="25400" bIns="25400" rtlCol="0" anchor="t">
            <a:normAutofit/>
          </a:bodyPr>
          <a:lstStyle/>
          <a:p>
            <a:pPr algn="l" indent="0" marL="0">
              <a:lnSpc>
                <a:spcPct val="104000"/>
              </a:lnSpc>
              <a:buNone/>
            </a:pPr>
            <a:r>
              <a:rPr lang="en-US" sz="4500" b="1" spc="-45" kern="0" dirty="0">
                <a:solidFill>
                  <a:srgbClr val="2E3330"/>
                </a:solidFill>
                <a:latin typeface="Spectral" pitchFamily="34" charset="0"/>
                <a:ea typeface="Spectral" pitchFamily="34" charset="-122"/>
                <a:cs typeface="Spectral" pitchFamily="34" charset="-120"/>
              </a:rPr>
              <a:t>Make every spoken sentence searchable.</a:t>
            </a:r>
            <a:endParaRPr lang="en-US" sz="4500" dirty="0"/>
          </a:p>
        </p:txBody>
      </p:sp>
      <p:sp>
        <p:nvSpPr>
          <p:cNvPr id="4" name="Shape 2"/>
          <p:cNvSpPr/>
          <p:nvPr/>
        </p:nvSpPr>
        <p:spPr>
          <a:xfrm>
            <a:off x="1143000" y="4414242"/>
            <a:ext cx="16002000" cy="9525"/>
          </a:xfrm>
          <a:prstGeom prst="rect">
            <a:avLst/>
          </a:prstGeom>
          <a:solidFill>
            <a:srgbClr val="DBD6CC"/>
          </a:solidFill>
          <a:ln/>
        </p:spPr>
      </p:sp>
      <p:sp>
        <p:nvSpPr>
          <p:cNvPr id="5" name="Text 3"/>
          <p:cNvSpPr/>
          <p:nvPr/>
        </p:nvSpPr>
        <p:spPr>
          <a:xfrm>
            <a:off x="1143000" y="4776192"/>
            <a:ext cx="1981200" cy="381000"/>
          </a:xfrm>
          <a:prstGeom prst="rect">
            <a:avLst/>
          </a:prstGeom>
          <a:noFill/>
          <a:ln/>
        </p:spPr>
        <p:txBody>
          <a:bodyPr wrap="square" lIns="25400" tIns="25400" rIns="25400" bIns="25400" rtlCol="0" anchor="t">
            <a:normAutofit/>
          </a:bodyPr>
          <a:lstStyle/>
          <a:p>
            <a:pPr algn="l" indent="0" marL="0">
              <a:lnSpc>
                <a:spcPct val="90000"/>
              </a:lnSpc>
              <a:buNone/>
            </a:pPr>
            <a:r>
              <a:rPr lang="en-US" sz="3000" b="1" spc="-60" kern="0" dirty="0">
                <a:solidFill>
                  <a:srgbClr val="3C7C92"/>
                </a:solidFill>
                <a:latin typeface="Spectral" pitchFamily="34" charset="0"/>
                <a:ea typeface="Spectral" pitchFamily="34" charset="-122"/>
                <a:cs typeface="Spectral" pitchFamily="34" charset="-120"/>
              </a:rPr>
              <a:t>Search</a:t>
            </a:r>
            <a:endParaRPr lang="en-US" sz="3000" dirty="0"/>
          </a:p>
        </p:txBody>
      </p:sp>
      <p:sp>
        <p:nvSpPr>
          <p:cNvPr id="6" name="Text 4"/>
          <p:cNvSpPr/>
          <p:nvPr/>
        </p:nvSpPr>
        <p:spPr>
          <a:xfrm>
            <a:off x="3390900" y="4709517"/>
            <a:ext cx="2773223" cy="507653"/>
          </a:xfrm>
          <a:prstGeom prst="rect">
            <a:avLst/>
          </a:prstGeom>
          <a:noFill/>
          <a:ln/>
        </p:spPr>
        <p:txBody>
          <a:bodyPr wrap="square" lIns="25400" tIns="25400" rIns="25400" bIns="25400" rtlCol="0" anchor="t">
            <a:normAutofit/>
          </a:bodyPr>
          <a:lstStyle/>
          <a:p>
            <a:pPr algn="l" indent="0" marL="0">
              <a:lnSpc>
                <a:spcPct val="145000"/>
              </a:lnSpc>
              <a:buNone/>
            </a:pPr>
            <a:r>
              <a:rPr lang="en-US" sz="2550" dirty="0">
                <a:solidFill>
                  <a:srgbClr val="2E3330"/>
                </a:solidFill>
                <a:latin typeface="Archivo" pitchFamily="34" charset="0"/>
                <a:ea typeface="Archivo" pitchFamily="34" charset="-122"/>
                <a:cs typeface="Archivo" pitchFamily="34" charset="-120"/>
              </a:rPr>
              <a:t>a word or a phrase.</a:t>
            </a:r>
            <a:endParaRPr lang="en-US" sz="2550" dirty="0"/>
          </a:p>
        </p:txBody>
      </p:sp>
      <p:sp>
        <p:nvSpPr>
          <p:cNvPr id="7" name="Shape 5"/>
          <p:cNvSpPr/>
          <p:nvPr/>
        </p:nvSpPr>
        <p:spPr>
          <a:xfrm>
            <a:off x="1143000" y="5464820"/>
            <a:ext cx="16002000" cy="9525"/>
          </a:xfrm>
          <a:prstGeom prst="rect">
            <a:avLst/>
          </a:prstGeom>
          <a:solidFill>
            <a:srgbClr val="DBD6CC"/>
          </a:solidFill>
          <a:ln/>
        </p:spPr>
      </p:sp>
      <p:sp>
        <p:nvSpPr>
          <p:cNvPr id="8" name="Text 6"/>
          <p:cNvSpPr/>
          <p:nvPr/>
        </p:nvSpPr>
        <p:spPr>
          <a:xfrm>
            <a:off x="1143000" y="5826770"/>
            <a:ext cx="1981200" cy="381000"/>
          </a:xfrm>
          <a:prstGeom prst="rect">
            <a:avLst/>
          </a:prstGeom>
          <a:noFill/>
          <a:ln/>
        </p:spPr>
        <p:txBody>
          <a:bodyPr wrap="square" lIns="25400" tIns="25400" rIns="25400" bIns="25400" rtlCol="0" anchor="t">
            <a:normAutofit/>
          </a:bodyPr>
          <a:lstStyle/>
          <a:p>
            <a:pPr algn="l" indent="0" marL="0">
              <a:lnSpc>
                <a:spcPct val="90000"/>
              </a:lnSpc>
              <a:buNone/>
            </a:pPr>
            <a:r>
              <a:rPr lang="en-US" sz="3000" b="1" spc="-60" kern="0" dirty="0">
                <a:solidFill>
                  <a:srgbClr val="3C7C92"/>
                </a:solidFill>
                <a:latin typeface="Spectral" pitchFamily="34" charset="0"/>
                <a:ea typeface="Spectral" pitchFamily="34" charset="-122"/>
                <a:cs typeface="Spectral" pitchFamily="34" charset="-120"/>
              </a:rPr>
              <a:t>See</a:t>
            </a:r>
            <a:endParaRPr lang="en-US" sz="3000" dirty="0"/>
          </a:p>
        </p:txBody>
      </p:sp>
      <p:sp>
        <p:nvSpPr>
          <p:cNvPr id="9" name="Text 7"/>
          <p:cNvSpPr/>
          <p:nvPr/>
        </p:nvSpPr>
        <p:spPr>
          <a:xfrm>
            <a:off x="3390900" y="5760095"/>
            <a:ext cx="4323015" cy="507653"/>
          </a:xfrm>
          <a:prstGeom prst="rect">
            <a:avLst/>
          </a:prstGeom>
          <a:noFill/>
          <a:ln/>
        </p:spPr>
        <p:txBody>
          <a:bodyPr wrap="square" lIns="25400" tIns="25400" rIns="25400" bIns="25400" rtlCol="0" anchor="t">
            <a:normAutofit/>
          </a:bodyPr>
          <a:lstStyle/>
          <a:p>
            <a:pPr algn="l" indent="0" marL="0">
              <a:lnSpc>
                <a:spcPct val="145000"/>
              </a:lnSpc>
              <a:buNone/>
            </a:pPr>
            <a:r>
              <a:rPr lang="en-US" sz="2550" dirty="0">
                <a:solidFill>
                  <a:srgbClr val="2E3330"/>
                </a:solidFill>
                <a:latin typeface="Archivo" pitchFamily="34" charset="0"/>
                <a:ea typeface="Archivo" pitchFamily="34" charset="-122"/>
                <a:cs typeface="Archivo" pitchFamily="34" charset="-120"/>
              </a:rPr>
              <a:t>the exact lines where it’s said.</a:t>
            </a:r>
            <a:endParaRPr lang="en-US" sz="2550" dirty="0"/>
          </a:p>
        </p:txBody>
      </p:sp>
      <p:sp>
        <p:nvSpPr>
          <p:cNvPr id="10" name="Shape 8"/>
          <p:cNvSpPr/>
          <p:nvPr/>
        </p:nvSpPr>
        <p:spPr>
          <a:xfrm>
            <a:off x="1143000" y="7565975"/>
            <a:ext cx="16002000" cy="9525"/>
          </a:xfrm>
          <a:prstGeom prst="rect">
            <a:avLst/>
          </a:prstGeom>
          <a:solidFill>
            <a:srgbClr val="DBD6CC"/>
          </a:solidFill>
          <a:ln/>
        </p:spPr>
      </p:sp>
      <p:sp>
        <p:nvSpPr>
          <p:cNvPr id="11" name="Shape 9"/>
          <p:cNvSpPr/>
          <p:nvPr/>
        </p:nvSpPr>
        <p:spPr>
          <a:xfrm>
            <a:off x="1143000" y="6515398"/>
            <a:ext cx="16002000" cy="9525"/>
          </a:xfrm>
          <a:prstGeom prst="rect">
            <a:avLst/>
          </a:prstGeom>
          <a:solidFill>
            <a:srgbClr val="DBD6CC"/>
          </a:solidFill>
          <a:ln/>
        </p:spPr>
      </p:sp>
      <p:sp>
        <p:nvSpPr>
          <p:cNvPr id="12" name="Text 10"/>
          <p:cNvSpPr/>
          <p:nvPr/>
        </p:nvSpPr>
        <p:spPr>
          <a:xfrm>
            <a:off x="1143000" y="6877348"/>
            <a:ext cx="1981200" cy="381000"/>
          </a:xfrm>
          <a:prstGeom prst="rect">
            <a:avLst/>
          </a:prstGeom>
          <a:noFill/>
          <a:ln/>
        </p:spPr>
        <p:txBody>
          <a:bodyPr wrap="square" lIns="25400" tIns="25400" rIns="25400" bIns="25400" rtlCol="0" anchor="t">
            <a:normAutofit/>
          </a:bodyPr>
          <a:lstStyle/>
          <a:p>
            <a:pPr algn="l" indent="0" marL="0">
              <a:lnSpc>
                <a:spcPct val="90000"/>
              </a:lnSpc>
              <a:buNone/>
            </a:pPr>
            <a:r>
              <a:rPr lang="en-US" sz="3000" b="1" spc="-60" kern="0" dirty="0">
                <a:solidFill>
                  <a:srgbClr val="3C7C92"/>
                </a:solidFill>
                <a:latin typeface="Spectral" pitchFamily="34" charset="0"/>
                <a:ea typeface="Spectral" pitchFamily="34" charset="-122"/>
                <a:cs typeface="Spectral" pitchFamily="34" charset="-120"/>
              </a:rPr>
              <a:t>Click</a:t>
            </a:r>
            <a:endParaRPr lang="en-US" sz="3000" dirty="0"/>
          </a:p>
        </p:txBody>
      </p:sp>
      <p:sp>
        <p:nvSpPr>
          <p:cNvPr id="13" name="Text 11"/>
          <p:cNvSpPr/>
          <p:nvPr/>
        </p:nvSpPr>
        <p:spPr>
          <a:xfrm>
            <a:off x="3390900" y="6810673"/>
            <a:ext cx="7974300" cy="507653"/>
          </a:xfrm>
          <a:prstGeom prst="rect">
            <a:avLst/>
          </a:prstGeom>
          <a:noFill/>
          <a:ln/>
        </p:spPr>
        <p:txBody>
          <a:bodyPr wrap="square" lIns="25400" tIns="25400" rIns="25400" bIns="25400" rtlCol="0" anchor="t">
            <a:normAutofit/>
          </a:bodyPr>
          <a:lstStyle/>
          <a:p>
            <a:pPr algn="l" indent="0" marL="0">
              <a:lnSpc>
                <a:spcPct val="145000"/>
              </a:lnSpc>
              <a:buNone/>
            </a:pPr>
            <a:r>
              <a:rPr lang="en-US" sz="2550" dirty="0">
                <a:solidFill>
                  <a:srgbClr val="2E3330"/>
                </a:solidFill>
                <a:latin typeface="Archivo" pitchFamily="34" charset="0"/>
                <a:ea typeface="Archivo" pitchFamily="34" charset="-122"/>
                <a:cs typeface="Archivo" pitchFamily="34" charset="-120"/>
              </a:rPr>
              <a:t>and the audio jumps to that exact second — and plays.</a:t>
            </a:r>
            <a:endParaRPr lang="en-US" sz="2550" dirty="0"/>
          </a:p>
        </p:txBody>
      </p:sp>
      <p:sp>
        <p:nvSpPr>
          <p:cNvPr id="14" name="Text 12"/>
          <p:cNvSpPr/>
          <p:nvPr/>
        </p:nvSpPr>
        <p:spPr>
          <a:xfrm>
            <a:off x="16870561" y="9572625"/>
            <a:ext cx="350639" cy="314325"/>
          </a:xfrm>
          <a:prstGeom prst="rect">
            <a:avLst/>
          </a:prstGeom>
          <a:noFill/>
          <a:ln/>
        </p:spPr>
        <p:txBody>
          <a:bodyPr wrap="square" lIns="25400" tIns="25400" rIns="25400" bIns="25400" rtlCol="0" anchor="t">
            <a:normAutofit/>
          </a:bodyPr>
          <a:lstStyle/>
          <a:p>
            <a:pPr algn="l" indent="0" marL="0">
              <a:buNone/>
            </a:pPr>
            <a:r>
              <a:rPr lang="en-US" sz="1800" b="1" dirty="0">
                <a:solidFill>
                  <a:srgbClr val="A9ADA4"/>
                </a:solidFill>
                <a:latin typeface="Spline Sans Mono" pitchFamily="34" charset="0"/>
                <a:ea typeface="Spline Sans Mono" pitchFamily="34" charset="-122"/>
                <a:cs typeface="Spline Sans Mono" pitchFamily="34" charset="-120"/>
              </a:rPr>
              <a:t>03</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1EA"/>
        </a:solidFill>
      </p:bgPr>
    </p:bg>
    <p:spTree>
      <p:nvGrpSpPr>
        <p:cNvPr id="1" name=""/>
        <p:cNvGrpSpPr/>
        <p:nvPr/>
      </p:nvGrpSpPr>
      <p:grpSpPr>
        <a:xfrm>
          <a:off x="0" y="0"/>
          <a:ext cx="0" cy="0"/>
          <a:chOff x="0" y="0"/>
          <a:chExt cx="0" cy="0"/>
        </a:xfrm>
      </p:grpSpPr>
      <p:sp>
        <p:nvSpPr>
          <p:cNvPr id="2" name="Text 0"/>
          <p:cNvSpPr/>
          <p:nvPr/>
        </p:nvSpPr>
        <p:spPr>
          <a:xfrm>
            <a:off x="1143000" y="876300"/>
            <a:ext cx="16482060" cy="285750"/>
          </a:xfrm>
          <a:prstGeom prst="rect">
            <a:avLst/>
          </a:prstGeom>
          <a:noFill/>
          <a:ln/>
        </p:spPr>
        <p:txBody>
          <a:bodyPr wrap="square" lIns="25400" tIns="25400" rIns="25400" bIns="25400" rtlCol="0" anchor="t">
            <a:normAutofit/>
          </a:bodyPr>
          <a:lstStyle/>
          <a:p>
            <a:pPr algn="l" indent="0" marL="0">
              <a:buNone/>
            </a:pPr>
            <a:r>
              <a:rPr lang="en-US" sz="1800" b="1" spc="396" kern="0" dirty="0">
                <a:solidFill>
                  <a:srgbClr val="3C7C92"/>
                </a:solidFill>
                <a:latin typeface="Archivo" pitchFamily="34" charset="0"/>
                <a:ea typeface="Archivo" pitchFamily="34" charset="-122"/>
                <a:cs typeface="Archivo" pitchFamily="34" charset="-120"/>
              </a:rPr>
              <a:t>WHAT IT DOES TODAY</a:t>
            </a:r>
            <a:endParaRPr lang="en-US" sz="1800" dirty="0"/>
          </a:p>
        </p:txBody>
      </p:sp>
      <p:sp>
        <p:nvSpPr>
          <p:cNvPr id="3" name="Text 1"/>
          <p:cNvSpPr/>
          <p:nvPr/>
        </p:nvSpPr>
        <p:spPr>
          <a:xfrm>
            <a:off x="1143000" y="1314450"/>
            <a:ext cx="9465381" cy="1226641"/>
          </a:xfrm>
          <a:prstGeom prst="rect">
            <a:avLst/>
          </a:prstGeom>
          <a:noFill/>
          <a:ln/>
        </p:spPr>
        <p:txBody>
          <a:bodyPr wrap="square" lIns="25400" tIns="25400" rIns="25400" bIns="25400" rtlCol="0" anchor="t">
            <a:normAutofit/>
          </a:bodyPr>
          <a:lstStyle/>
          <a:p>
            <a:pPr algn="l" indent="0" marL="0">
              <a:lnSpc>
                <a:spcPct val="104000"/>
              </a:lnSpc>
              <a:buNone/>
            </a:pPr>
            <a:r>
              <a:rPr lang="en-US" sz="4500" b="1" spc="-45" kern="0" dirty="0">
                <a:solidFill>
                  <a:srgbClr val="2E3330"/>
                </a:solidFill>
                <a:latin typeface="Spectral" pitchFamily="34" charset="0"/>
                <a:ea typeface="Spectral" pitchFamily="34" charset="-122"/>
                <a:cs typeface="Spectral" pitchFamily="34" charset="-120"/>
              </a:rPr>
              <a:t>Type a phrase, get the moment, press play.</a:t>
            </a:r>
            <a:endParaRPr lang="en-US" sz="4500" dirty="0"/>
          </a:p>
        </p:txBody>
      </p:sp>
      <p:sp>
        <p:nvSpPr>
          <p:cNvPr id="4" name="Shape 2"/>
          <p:cNvSpPr/>
          <p:nvPr/>
        </p:nvSpPr>
        <p:spPr>
          <a:xfrm>
            <a:off x="1143000" y="4242346"/>
            <a:ext cx="8798570" cy="3867150"/>
          </a:xfrm>
          <a:prstGeom prst="roundRect">
            <a:avLst>
              <a:gd name="adj" fmla="val 4926"/>
            </a:avLst>
          </a:prstGeom>
          <a:solidFill>
            <a:srgbClr val="FCFAF5"/>
          </a:solidFill>
          <a:ln w="9525">
            <a:solidFill>
              <a:srgbClr val="DBD6CC"/>
            </a:solidFill>
            <a:prstDash val="solid"/>
          </a:ln>
          <a:effectLst>
            <a:outerShdw sx="100000" sy="100000" kx="0" ky="0" algn="bl" rotWithShape="0" blurRad="666750" dist="285750" dir="5400000">
              <a:srgbClr val="2E3330">
                <a:alpha val="40000"/>
              </a:srgbClr>
            </a:outerShdw>
          </a:effectLst>
        </p:spPr>
      </p:sp>
      <p:sp>
        <p:nvSpPr>
          <p:cNvPr id="5" name="Shape 3"/>
          <p:cNvSpPr/>
          <p:nvPr/>
        </p:nvSpPr>
        <p:spPr>
          <a:xfrm>
            <a:off x="1152525" y="5109121"/>
            <a:ext cx="8779520" cy="9525"/>
          </a:xfrm>
          <a:prstGeom prst="rect">
            <a:avLst/>
          </a:prstGeom>
          <a:solidFill>
            <a:srgbClr val="DBD6CC"/>
          </a:solidFill>
          <a:ln/>
        </p:spPr>
      </p:sp>
      <p:pic>
        <p:nvPicPr>
          <p:cNvPr id="6" name="Image 0" descr="preencoded.png">    </p:cNvPr>
          <p:cNvPicPr>
            <a:picLocks noChangeAspect="1"/>
          </p:cNvPicPr>
          <p:nvPr/>
        </p:nvPicPr>
        <p:blipFill>
          <a:blip r:embed="rId1"/>
          <a:stretch>
            <a:fillRect/>
          </a:stretch>
        </p:blipFill>
        <p:spPr>
          <a:xfrm>
            <a:off x="1419225" y="4537621"/>
            <a:ext cx="285750" cy="285750"/>
          </a:xfrm>
          <a:prstGeom prst="rect">
            <a:avLst/>
          </a:prstGeom>
        </p:spPr>
      </p:pic>
      <p:sp>
        <p:nvSpPr>
          <p:cNvPr id="7" name="Text 4"/>
          <p:cNvSpPr/>
          <p:nvPr/>
        </p:nvSpPr>
        <p:spPr>
          <a:xfrm>
            <a:off x="1857375" y="4528096"/>
            <a:ext cx="1248073" cy="342900"/>
          </a:xfrm>
          <a:prstGeom prst="rect">
            <a:avLst/>
          </a:prstGeom>
          <a:noFill/>
          <a:ln/>
        </p:spPr>
        <p:txBody>
          <a:bodyPr wrap="square" lIns="25400" tIns="25400" rIns="25400" bIns="25400" rtlCol="0" anchor="t">
            <a:normAutofit/>
          </a:bodyPr>
          <a:lstStyle/>
          <a:p>
            <a:pPr algn="l" indent="0" marL="0">
              <a:buNone/>
            </a:pPr>
            <a:r>
              <a:rPr lang="en-US" sz="2250" b="1" dirty="0">
                <a:solidFill>
                  <a:srgbClr val="2E3330"/>
                </a:solidFill>
                <a:latin typeface="Archivo" pitchFamily="34" charset="0"/>
                <a:ea typeface="Archivo" pitchFamily="34" charset="-122"/>
                <a:cs typeface="Archivo" pitchFamily="34" charset="-120"/>
              </a:rPr>
              <a:t>marriage</a:t>
            </a:r>
            <a:endParaRPr lang="en-US" sz="2250" dirty="0"/>
          </a:p>
        </p:txBody>
      </p:sp>
      <p:sp>
        <p:nvSpPr>
          <p:cNvPr id="8" name="Shape 5"/>
          <p:cNvSpPr/>
          <p:nvPr/>
        </p:nvSpPr>
        <p:spPr>
          <a:xfrm>
            <a:off x="8016329" y="4480471"/>
            <a:ext cx="1649016" cy="400050"/>
          </a:xfrm>
          <a:prstGeom prst="roundRect">
            <a:avLst>
              <a:gd name="adj" fmla="val 50000"/>
            </a:avLst>
          </a:prstGeom>
          <a:ln w="9525">
            <a:solidFill>
              <a:srgbClr val="DBD6CC"/>
            </a:solidFill>
            <a:prstDash val="solid"/>
          </a:ln>
        </p:spPr>
      </p:sp>
      <p:sp>
        <p:nvSpPr>
          <p:cNvPr id="9" name="Text 6"/>
          <p:cNvSpPr/>
          <p:nvPr/>
        </p:nvSpPr>
        <p:spPr>
          <a:xfrm>
            <a:off x="8178254" y="4566196"/>
            <a:ext cx="1172766" cy="266700"/>
          </a:xfrm>
          <a:prstGeom prst="rect">
            <a:avLst/>
          </a:prstGeom>
          <a:noFill/>
          <a:ln/>
        </p:spPr>
        <p:txBody>
          <a:bodyPr wrap="square" lIns="0" tIns="0" rIns="0" bIns="0" rtlCol="0" anchor="t">
            <a:normAutofit/>
          </a:bodyPr>
          <a:lstStyle/>
          <a:p>
            <a:pPr algn="l" indent="0" marL="0">
              <a:buNone/>
            </a:pPr>
            <a:r>
              <a:rPr lang="en-US" sz="1650" dirty="0">
                <a:solidFill>
                  <a:srgbClr val="6E7570"/>
                </a:solidFill>
                <a:latin typeface="Archivo" pitchFamily="34" charset="0"/>
                <a:ea typeface="Archivo" pitchFamily="34" charset="-122"/>
                <a:cs typeface="Archivo" pitchFamily="34" charset="-120"/>
              </a:rPr>
              <a:t>All sermons</a:t>
            </a:r>
            <a:endParaRPr lang="en-US" sz="1650" dirty="0"/>
          </a:p>
        </p:txBody>
      </p:sp>
      <p:pic>
        <p:nvPicPr>
          <p:cNvPr id="10" name="Image 1" descr="preencoded.png">    </p:cNvPr>
          <p:cNvPicPr>
            <a:picLocks noChangeAspect="1"/>
          </p:cNvPicPr>
          <p:nvPr/>
        </p:nvPicPr>
        <p:blipFill>
          <a:blip r:embed="rId2"/>
          <a:stretch>
            <a:fillRect/>
          </a:stretch>
        </p:blipFill>
        <p:spPr>
          <a:xfrm>
            <a:off x="9351020" y="4604296"/>
            <a:ext cx="152400" cy="152400"/>
          </a:xfrm>
          <a:prstGeom prst="rect">
            <a:avLst/>
          </a:prstGeom>
        </p:spPr>
      </p:pic>
      <p:sp>
        <p:nvSpPr>
          <p:cNvPr id="11" name="Shape 7"/>
          <p:cNvSpPr/>
          <p:nvPr/>
        </p:nvSpPr>
        <p:spPr>
          <a:xfrm>
            <a:off x="1419225" y="5423446"/>
            <a:ext cx="514350" cy="514350"/>
          </a:xfrm>
          <a:prstGeom prst="ellipse">
            <a:avLst/>
          </a:prstGeom>
          <a:solidFill>
            <a:srgbClr val="3C7C92"/>
          </a:solidFill>
          <a:ln/>
        </p:spPr>
      </p:sp>
      <p:pic>
        <p:nvPicPr>
          <p:cNvPr id="12" name="Image 2" descr="preencoded.png">    </p:cNvPr>
          <p:cNvPicPr>
            <a:picLocks noChangeAspect="1"/>
          </p:cNvPicPr>
          <p:nvPr/>
        </p:nvPicPr>
        <p:blipFill>
          <a:blip r:embed="rId3"/>
          <a:stretch>
            <a:fillRect/>
          </a:stretch>
        </p:blipFill>
        <p:spPr>
          <a:xfrm>
            <a:off x="1571625" y="5575846"/>
            <a:ext cx="209550" cy="209550"/>
          </a:xfrm>
          <a:prstGeom prst="rect">
            <a:avLst/>
          </a:prstGeom>
        </p:spPr>
      </p:pic>
      <p:sp>
        <p:nvSpPr>
          <p:cNvPr id="13" name="Text 8"/>
          <p:cNvSpPr/>
          <p:nvPr/>
        </p:nvSpPr>
        <p:spPr>
          <a:xfrm>
            <a:off x="2143125" y="5423446"/>
            <a:ext cx="7747887" cy="704850"/>
          </a:xfrm>
          <a:prstGeom prst="rect">
            <a:avLst/>
          </a:prstGeom>
          <a:noFill/>
          <a:ln/>
        </p:spPr>
        <p:txBody>
          <a:bodyPr wrap="square" lIns="25400" tIns="25400" rIns="25400" bIns="25400" rtlCol="0" anchor="t">
            <a:normAutofit/>
          </a:bodyPr>
          <a:lstStyle/>
          <a:p>
            <a:pPr algn="l" indent="0" marL="0">
              <a:lnSpc>
                <a:spcPct val="140000"/>
              </a:lnSpc>
              <a:buNone/>
            </a:pPr>
            <a:r>
              <a:rPr lang="en-US" sz="1875" dirty="0">
                <a:solidFill>
                  <a:srgbClr val="2E3330"/>
                </a:solidFill>
                <a:latin typeface="Archivo" pitchFamily="34" charset="0"/>
                <a:ea typeface="Archivo" pitchFamily="34" charset="-122"/>
                <a:cs typeface="Archivo" pitchFamily="34" charset="-120"/>
              </a:rPr>
              <a:t>… what the Bible actually says about </a:t>
            </a:r>
            <a:pPr algn="l" indent="0" marL="0">
              <a:lnSpc>
                <a:spcPct val="140000"/>
              </a:lnSpc>
              <a:buNone/>
            </a:pPr>
            <a:r>
              <a:rPr lang="en-US" sz="1875" b="1" dirty="0">
                <a:solidFill>
                  <a:srgbClr val="5A4517"/>
                </a:solidFill>
                <a:highlight>
                  <a:srgbClr val="F1D9A3"/>
                </a:highlight>
                <a:latin typeface="Archivo" pitchFamily="34" charset="0"/>
                <a:ea typeface="Archivo" pitchFamily="34" charset="-122"/>
                <a:cs typeface="Archivo" pitchFamily="34" charset="-120"/>
              </a:rPr>
              <a:t>marriage </a:t>
            </a:r>
            <a:pPr algn="l" indent="0" marL="0">
              <a:lnSpc>
                <a:spcPct val="140000"/>
              </a:lnSpc>
              <a:buNone/>
            </a:pPr>
            <a:r>
              <a:rPr lang="en-US" sz="1875" dirty="0">
                <a:solidFill>
                  <a:srgbClr val="2E3330"/>
                </a:solidFill>
                <a:latin typeface="Archivo" pitchFamily="34" charset="0"/>
                <a:ea typeface="Archivo" pitchFamily="34" charset="-122"/>
                <a:cs typeface="Archivo" pitchFamily="34" charset="-120"/>
              </a:rPr>
              <a:t>— that it’s a covenant, not just a contract …</a:t>
            </a:r>
            <a:endParaRPr lang="en-US" sz="1875" dirty="0"/>
          </a:p>
        </p:txBody>
      </p:sp>
      <p:sp>
        <p:nvSpPr>
          <p:cNvPr id="14" name="Text 9"/>
          <p:cNvSpPr/>
          <p:nvPr/>
        </p:nvSpPr>
        <p:spPr>
          <a:xfrm>
            <a:off x="2143125" y="6166396"/>
            <a:ext cx="7747887" cy="266700"/>
          </a:xfrm>
          <a:prstGeom prst="rect">
            <a:avLst/>
          </a:prstGeom>
          <a:noFill/>
          <a:ln/>
        </p:spPr>
        <p:txBody>
          <a:bodyPr wrap="square" lIns="25400" tIns="25400" rIns="25400" bIns="25400" rtlCol="0" anchor="t">
            <a:normAutofit/>
          </a:bodyPr>
          <a:lstStyle/>
          <a:p>
            <a:pPr algn="l" indent="0" marL="0">
              <a:buNone/>
            </a:pPr>
            <a:r>
              <a:rPr lang="en-US" sz="1500" dirty="0">
                <a:solidFill>
                  <a:srgbClr val="6E7570"/>
                </a:solidFill>
                <a:latin typeface="Spline Sans Mono" pitchFamily="34" charset="0"/>
                <a:ea typeface="Spline Sans Mono" pitchFamily="34" charset="-122"/>
                <a:cs typeface="Spline Sans Mono" pitchFamily="34" charset="-120"/>
              </a:rPr>
              <a:t>00:42:17 · Through the Bible · Ephesians</a:t>
            </a:r>
            <a:endParaRPr lang="en-US" sz="1500" dirty="0"/>
          </a:p>
        </p:txBody>
      </p:sp>
      <p:sp>
        <p:nvSpPr>
          <p:cNvPr id="15" name="Shape 10"/>
          <p:cNvSpPr/>
          <p:nvPr/>
        </p:nvSpPr>
        <p:spPr>
          <a:xfrm>
            <a:off x="1152525" y="6604546"/>
            <a:ext cx="8779520" cy="9525"/>
          </a:xfrm>
          <a:prstGeom prst="rect">
            <a:avLst/>
          </a:prstGeom>
          <a:solidFill>
            <a:srgbClr val="DBD6CC"/>
          </a:solidFill>
          <a:ln/>
        </p:spPr>
      </p:sp>
      <p:sp>
        <p:nvSpPr>
          <p:cNvPr id="16" name="Shape 11"/>
          <p:cNvSpPr/>
          <p:nvPr/>
        </p:nvSpPr>
        <p:spPr>
          <a:xfrm>
            <a:off x="1419225" y="6823621"/>
            <a:ext cx="514350" cy="514350"/>
          </a:xfrm>
          <a:prstGeom prst="ellipse">
            <a:avLst/>
          </a:prstGeom>
          <a:solidFill>
            <a:srgbClr val="3C7C92"/>
          </a:solidFill>
          <a:ln/>
        </p:spPr>
      </p:sp>
      <p:pic>
        <p:nvPicPr>
          <p:cNvPr id="17" name="Image 3" descr="preencoded.png">    </p:cNvPr>
          <p:cNvPicPr>
            <a:picLocks noChangeAspect="1"/>
          </p:cNvPicPr>
          <p:nvPr/>
        </p:nvPicPr>
        <p:blipFill>
          <a:blip r:embed="rId4"/>
          <a:stretch>
            <a:fillRect/>
          </a:stretch>
        </p:blipFill>
        <p:spPr>
          <a:xfrm>
            <a:off x="1571625" y="6976021"/>
            <a:ext cx="209550" cy="209550"/>
          </a:xfrm>
          <a:prstGeom prst="rect">
            <a:avLst/>
          </a:prstGeom>
        </p:spPr>
      </p:pic>
      <p:sp>
        <p:nvSpPr>
          <p:cNvPr id="18" name="Text 12"/>
          <p:cNvSpPr/>
          <p:nvPr/>
        </p:nvSpPr>
        <p:spPr>
          <a:xfrm>
            <a:off x="2143125" y="6823621"/>
            <a:ext cx="7747887" cy="704850"/>
          </a:xfrm>
          <a:prstGeom prst="rect">
            <a:avLst/>
          </a:prstGeom>
          <a:noFill/>
          <a:ln/>
        </p:spPr>
        <p:txBody>
          <a:bodyPr wrap="square" lIns="25400" tIns="25400" rIns="25400" bIns="25400" rtlCol="0" anchor="t">
            <a:normAutofit/>
          </a:bodyPr>
          <a:lstStyle/>
          <a:p>
            <a:pPr algn="l" indent="0" marL="0">
              <a:lnSpc>
                <a:spcPct val="140000"/>
              </a:lnSpc>
              <a:buNone/>
            </a:pPr>
            <a:r>
              <a:rPr lang="en-US" sz="1875" dirty="0">
                <a:solidFill>
                  <a:srgbClr val="2E3330"/>
                </a:solidFill>
                <a:latin typeface="Archivo" pitchFamily="34" charset="0"/>
                <a:ea typeface="Archivo" pitchFamily="34" charset="-122"/>
                <a:cs typeface="Archivo" pitchFamily="34" charset="-120"/>
              </a:rPr>
              <a:t>… God designed </a:t>
            </a:r>
            <a:pPr algn="l" indent="0" marL="0">
              <a:lnSpc>
                <a:spcPct val="140000"/>
              </a:lnSpc>
              <a:buNone/>
            </a:pPr>
            <a:r>
              <a:rPr lang="en-US" sz="1875" b="1" dirty="0">
                <a:solidFill>
                  <a:srgbClr val="5A4517"/>
                </a:solidFill>
                <a:highlight>
                  <a:srgbClr val="F1D9A3"/>
                </a:highlight>
                <a:latin typeface="Archivo" pitchFamily="34" charset="0"/>
                <a:ea typeface="Archivo" pitchFamily="34" charset="-122"/>
                <a:cs typeface="Archivo" pitchFamily="34" charset="-120"/>
              </a:rPr>
              <a:t>marriage </a:t>
            </a:r>
            <a:pPr algn="l" indent="0" marL="0">
              <a:lnSpc>
                <a:spcPct val="140000"/>
              </a:lnSpc>
              <a:buNone/>
            </a:pPr>
            <a:r>
              <a:rPr lang="en-US" sz="1875" dirty="0">
                <a:solidFill>
                  <a:srgbClr val="2E3330"/>
                </a:solidFill>
                <a:latin typeface="Archivo" pitchFamily="34" charset="0"/>
                <a:ea typeface="Archivo" pitchFamily="34" charset="-122"/>
                <a:cs typeface="Archivo" pitchFamily="34" charset="-120"/>
              </a:rPr>
              <a:t>to reflect something far bigger than ourselves …</a:t>
            </a:r>
            <a:endParaRPr lang="en-US" sz="1875" dirty="0"/>
          </a:p>
        </p:txBody>
      </p:sp>
      <p:sp>
        <p:nvSpPr>
          <p:cNvPr id="19" name="Text 13"/>
          <p:cNvSpPr/>
          <p:nvPr/>
        </p:nvSpPr>
        <p:spPr>
          <a:xfrm>
            <a:off x="2143125" y="7566571"/>
            <a:ext cx="7747887" cy="266700"/>
          </a:xfrm>
          <a:prstGeom prst="rect">
            <a:avLst/>
          </a:prstGeom>
          <a:noFill/>
          <a:ln/>
        </p:spPr>
        <p:txBody>
          <a:bodyPr wrap="square" lIns="25400" tIns="25400" rIns="25400" bIns="25400" rtlCol="0" anchor="t">
            <a:normAutofit/>
          </a:bodyPr>
          <a:lstStyle/>
          <a:p>
            <a:pPr algn="l" indent="0" marL="0">
              <a:buNone/>
            </a:pPr>
            <a:r>
              <a:rPr lang="en-US" sz="1500" dirty="0">
                <a:solidFill>
                  <a:srgbClr val="6E7570"/>
                </a:solidFill>
                <a:latin typeface="Spline Sans Mono" pitchFamily="34" charset="0"/>
                <a:ea typeface="Spline Sans Mono" pitchFamily="34" charset="-122"/>
                <a:cs typeface="Spline Sans Mono" pitchFamily="34" charset="-120"/>
              </a:rPr>
              <a:t>01:08:54 · Sunday Teaching</a:t>
            </a:r>
            <a:endParaRPr lang="en-US" sz="1500" dirty="0"/>
          </a:p>
        </p:txBody>
      </p:sp>
      <p:sp>
        <p:nvSpPr>
          <p:cNvPr id="20" name="Text 14"/>
          <p:cNvSpPr/>
          <p:nvPr/>
        </p:nvSpPr>
        <p:spPr>
          <a:xfrm>
            <a:off x="10627370" y="4826943"/>
            <a:ext cx="396925" cy="381000"/>
          </a:xfrm>
          <a:prstGeom prst="rect">
            <a:avLst/>
          </a:prstGeom>
          <a:noFill/>
          <a:ln/>
        </p:spPr>
        <p:txBody>
          <a:bodyPr wrap="square" lIns="25400" tIns="25400" rIns="25400" bIns="25400" rtlCol="0" anchor="t">
            <a:normAutofit/>
          </a:bodyPr>
          <a:lstStyle/>
          <a:p>
            <a:pPr algn="l" indent="0" marL="0">
              <a:lnSpc>
                <a:spcPct val="120000"/>
              </a:lnSpc>
              <a:buNone/>
            </a:pPr>
            <a:r>
              <a:rPr lang="en-US" sz="2250" b="1" dirty="0">
                <a:solidFill>
                  <a:srgbClr val="3C7C92"/>
                </a:solidFill>
                <a:latin typeface="Spectral" pitchFamily="34" charset="0"/>
                <a:ea typeface="Spectral" pitchFamily="34" charset="-122"/>
                <a:cs typeface="Spectral" pitchFamily="34" charset="-120"/>
              </a:rPr>
              <a:t>01</a:t>
            </a:r>
            <a:endParaRPr lang="en-US" sz="2250" dirty="0"/>
          </a:p>
        </p:txBody>
      </p:sp>
      <p:sp>
        <p:nvSpPr>
          <p:cNvPr id="21" name="Text 15"/>
          <p:cNvSpPr/>
          <p:nvPr/>
        </p:nvSpPr>
        <p:spPr>
          <a:xfrm>
            <a:off x="11138595" y="4826943"/>
            <a:ext cx="6186598" cy="728663"/>
          </a:xfrm>
          <a:prstGeom prst="rect">
            <a:avLst/>
          </a:prstGeom>
          <a:noFill/>
          <a:ln/>
        </p:spPr>
        <p:txBody>
          <a:bodyPr wrap="square" lIns="25400" tIns="25400" rIns="25400" bIns="25400" rtlCol="0" anchor="t">
            <a:normAutofit/>
          </a:bodyPr>
          <a:lstStyle/>
          <a:p>
            <a:pPr algn="l" indent="0" marL="0">
              <a:lnSpc>
                <a:spcPct val="145000"/>
              </a:lnSpc>
              <a:buNone/>
            </a:pPr>
            <a:r>
              <a:rPr lang="en-US" sz="1875" dirty="0">
                <a:solidFill>
                  <a:srgbClr val="2E3330"/>
                </a:solidFill>
                <a:latin typeface="Archivo" pitchFamily="34" charset="0"/>
                <a:ea typeface="Archivo" pitchFamily="34" charset="-122"/>
                <a:cs typeface="Archivo" pitchFamily="34" charset="-120"/>
              </a:rPr>
              <a:t>Matching words are </a:t>
            </a:r>
            <a:pPr algn="l" indent="0" marL="0">
              <a:lnSpc>
                <a:spcPct val="145000"/>
              </a:lnSpc>
              <a:buNone/>
            </a:pPr>
            <a:r>
              <a:rPr lang="en-US" sz="1875" b="1" dirty="0">
                <a:solidFill>
                  <a:srgbClr val="5A4517"/>
                </a:solidFill>
                <a:highlight>
                  <a:srgbClr val="F1D9A3"/>
                </a:highlight>
                <a:latin typeface="Archivo" pitchFamily="34" charset="0"/>
                <a:ea typeface="Archivo" pitchFamily="34" charset="-122"/>
                <a:cs typeface="Archivo" pitchFamily="34" charset="-120"/>
              </a:rPr>
              <a:t>highlighted </a:t>
            </a:r>
            <a:pPr algn="l" indent="0" marL="0">
              <a:lnSpc>
                <a:spcPct val="145000"/>
              </a:lnSpc>
              <a:buNone/>
            </a:pPr>
            <a:r>
              <a:rPr lang="en-US" sz="1875" dirty="0">
                <a:solidFill>
                  <a:srgbClr val="2E3330"/>
                </a:solidFill>
                <a:latin typeface="Archivo" pitchFamily="34" charset="0"/>
                <a:ea typeface="Archivo" pitchFamily="34" charset="-122"/>
                <a:cs typeface="Archivo" pitchFamily="34" charset="-120"/>
              </a:rPr>
              <a:t>with surrounding context.</a:t>
            </a:r>
            <a:endParaRPr lang="en-US" sz="1875" dirty="0"/>
          </a:p>
        </p:txBody>
      </p:sp>
      <p:sp>
        <p:nvSpPr>
          <p:cNvPr id="22" name="Text 16"/>
          <p:cNvSpPr/>
          <p:nvPr/>
        </p:nvSpPr>
        <p:spPr>
          <a:xfrm>
            <a:off x="10627370" y="5841355"/>
            <a:ext cx="396925" cy="381000"/>
          </a:xfrm>
          <a:prstGeom prst="rect">
            <a:avLst/>
          </a:prstGeom>
          <a:noFill/>
          <a:ln/>
        </p:spPr>
        <p:txBody>
          <a:bodyPr wrap="square" lIns="25400" tIns="25400" rIns="25400" bIns="25400" rtlCol="0" anchor="t">
            <a:normAutofit/>
          </a:bodyPr>
          <a:lstStyle/>
          <a:p>
            <a:pPr algn="l" indent="0" marL="0">
              <a:lnSpc>
                <a:spcPct val="120000"/>
              </a:lnSpc>
              <a:buNone/>
            </a:pPr>
            <a:r>
              <a:rPr lang="en-US" sz="2250" b="1" dirty="0">
                <a:solidFill>
                  <a:srgbClr val="3C7C92"/>
                </a:solidFill>
                <a:latin typeface="Spectral" pitchFamily="34" charset="0"/>
                <a:ea typeface="Spectral" pitchFamily="34" charset="-122"/>
                <a:cs typeface="Spectral" pitchFamily="34" charset="-120"/>
              </a:rPr>
              <a:t>02</a:t>
            </a:r>
            <a:endParaRPr lang="en-US" sz="2250" dirty="0"/>
          </a:p>
        </p:txBody>
      </p:sp>
      <p:sp>
        <p:nvSpPr>
          <p:cNvPr id="23" name="Text 17"/>
          <p:cNvSpPr/>
          <p:nvPr/>
        </p:nvSpPr>
        <p:spPr>
          <a:xfrm>
            <a:off x="11138595" y="5841355"/>
            <a:ext cx="5121671" cy="383381"/>
          </a:xfrm>
          <a:prstGeom prst="rect">
            <a:avLst/>
          </a:prstGeom>
          <a:noFill/>
          <a:ln/>
        </p:spPr>
        <p:txBody>
          <a:bodyPr wrap="square" lIns="25400" tIns="25400" rIns="25400" bIns="25400" rtlCol="0" anchor="t">
            <a:normAutofit/>
          </a:bodyPr>
          <a:lstStyle/>
          <a:p>
            <a:pPr algn="l" indent="0" marL="0">
              <a:lnSpc>
                <a:spcPct val="145000"/>
              </a:lnSpc>
              <a:buNone/>
            </a:pPr>
            <a:r>
              <a:rPr lang="en-US" sz="1875" dirty="0">
                <a:solidFill>
                  <a:srgbClr val="2E3330"/>
                </a:solidFill>
                <a:latin typeface="Archivo" pitchFamily="34" charset="0"/>
                <a:ea typeface="Archivo" pitchFamily="34" charset="-122"/>
                <a:cs typeface="Archivo" pitchFamily="34" charset="-120"/>
              </a:rPr>
              <a:t>One click jumps the player to that exact second.</a:t>
            </a:r>
            <a:endParaRPr lang="en-US" sz="1875" dirty="0"/>
          </a:p>
        </p:txBody>
      </p:sp>
      <p:sp>
        <p:nvSpPr>
          <p:cNvPr id="24" name="Text 18"/>
          <p:cNvSpPr/>
          <p:nvPr/>
        </p:nvSpPr>
        <p:spPr>
          <a:xfrm>
            <a:off x="10627370" y="6510486"/>
            <a:ext cx="396925" cy="381000"/>
          </a:xfrm>
          <a:prstGeom prst="rect">
            <a:avLst/>
          </a:prstGeom>
          <a:noFill/>
          <a:ln/>
        </p:spPr>
        <p:txBody>
          <a:bodyPr wrap="square" lIns="25400" tIns="25400" rIns="25400" bIns="25400" rtlCol="0" anchor="t">
            <a:normAutofit/>
          </a:bodyPr>
          <a:lstStyle/>
          <a:p>
            <a:pPr algn="l" indent="0" marL="0">
              <a:lnSpc>
                <a:spcPct val="120000"/>
              </a:lnSpc>
              <a:buNone/>
            </a:pPr>
            <a:r>
              <a:rPr lang="en-US" sz="2250" b="1" dirty="0">
                <a:solidFill>
                  <a:srgbClr val="3C7C92"/>
                </a:solidFill>
                <a:latin typeface="Spectral" pitchFamily="34" charset="0"/>
                <a:ea typeface="Spectral" pitchFamily="34" charset="-122"/>
                <a:cs typeface="Spectral" pitchFamily="34" charset="-120"/>
              </a:rPr>
              <a:t>03</a:t>
            </a:r>
            <a:endParaRPr lang="en-US" sz="2250" dirty="0"/>
          </a:p>
        </p:txBody>
      </p:sp>
      <p:sp>
        <p:nvSpPr>
          <p:cNvPr id="25" name="Text 19"/>
          <p:cNvSpPr/>
          <p:nvPr/>
        </p:nvSpPr>
        <p:spPr>
          <a:xfrm>
            <a:off x="11138595" y="6510486"/>
            <a:ext cx="5578791" cy="383381"/>
          </a:xfrm>
          <a:prstGeom prst="rect">
            <a:avLst/>
          </a:prstGeom>
          <a:noFill/>
          <a:ln/>
        </p:spPr>
        <p:txBody>
          <a:bodyPr wrap="square" lIns="25400" tIns="25400" rIns="25400" bIns="25400" rtlCol="0" anchor="t">
            <a:normAutofit/>
          </a:bodyPr>
          <a:lstStyle/>
          <a:p>
            <a:pPr algn="l" indent="0" marL="0">
              <a:lnSpc>
                <a:spcPct val="145000"/>
              </a:lnSpc>
              <a:buNone/>
            </a:pPr>
            <a:r>
              <a:rPr lang="en-US" sz="1875" dirty="0">
                <a:solidFill>
                  <a:srgbClr val="2E3330"/>
                </a:solidFill>
                <a:latin typeface="Archivo" pitchFamily="34" charset="0"/>
                <a:ea typeface="Archivo" pitchFamily="34" charset="-122"/>
                <a:cs typeface="Archivo" pitchFamily="34" charset="-120"/>
              </a:rPr>
              <a:t>Search across every sermon at once, or filter to one.</a:t>
            </a:r>
            <a:endParaRPr lang="en-US" sz="1875" dirty="0"/>
          </a:p>
        </p:txBody>
      </p:sp>
      <p:sp>
        <p:nvSpPr>
          <p:cNvPr id="26" name="Text 20"/>
          <p:cNvSpPr/>
          <p:nvPr/>
        </p:nvSpPr>
        <p:spPr>
          <a:xfrm>
            <a:off x="10627370" y="7179618"/>
            <a:ext cx="396925" cy="381000"/>
          </a:xfrm>
          <a:prstGeom prst="rect">
            <a:avLst/>
          </a:prstGeom>
          <a:noFill/>
          <a:ln/>
        </p:spPr>
        <p:txBody>
          <a:bodyPr wrap="square" lIns="25400" tIns="25400" rIns="25400" bIns="25400" rtlCol="0" anchor="t">
            <a:normAutofit/>
          </a:bodyPr>
          <a:lstStyle/>
          <a:p>
            <a:pPr algn="l" indent="0" marL="0">
              <a:lnSpc>
                <a:spcPct val="120000"/>
              </a:lnSpc>
              <a:buNone/>
            </a:pPr>
            <a:r>
              <a:rPr lang="en-US" sz="2250" b="1" dirty="0">
                <a:solidFill>
                  <a:srgbClr val="3C7C92"/>
                </a:solidFill>
                <a:latin typeface="Spectral" pitchFamily="34" charset="0"/>
                <a:ea typeface="Spectral" pitchFamily="34" charset="-122"/>
                <a:cs typeface="Spectral" pitchFamily="34" charset="-120"/>
              </a:rPr>
              <a:t>04</a:t>
            </a:r>
            <a:endParaRPr lang="en-US" sz="2250" dirty="0"/>
          </a:p>
        </p:txBody>
      </p:sp>
      <p:sp>
        <p:nvSpPr>
          <p:cNvPr id="27" name="Text 21"/>
          <p:cNvSpPr/>
          <p:nvPr/>
        </p:nvSpPr>
        <p:spPr>
          <a:xfrm>
            <a:off x="11138595" y="7179618"/>
            <a:ext cx="3209188" cy="383381"/>
          </a:xfrm>
          <a:prstGeom prst="rect">
            <a:avLst/>
          </a:prstGeom>
          <a:noFill/>
          <a:ln/>
        </p:spPr>
        <p:txBody>
          <a:bodyPr wrap="square" lIns="25400" tIns="25400" rIns="25400" bIns="25400" rtlCol="0" anchor="t">
            <a:normAutofit/>
          </a:bodyPr>
          <a:lstStyle/>
          <a:p>
            <a:pPr algn="l" indent="0" marL="0">
              <a:lnSpc>
                <a:spcPct val="145000"/>
              </a:lnSpc>
              <a:buNone/>
            </a:pPr>
            <a:r>
              <a:rPr lang="en-US" sz="1875" dirty="0">
                <a:solidFill>
                  <a:srgbClr val="2E3330"/>
                </a:solidFill>
                <a:latin typeface="Archivo" pitchFamily="34" charset="0"/>
                <a:ea typeface="Archivo" pitchFamily="34" charset="-122"/>
                <a:cs typeface="Archivo" pitchFamily="34" charset="-120"/>
              </a:rPr>
              <a:t>Works on phone and desktop.</a:t>
            </a:r>
            <a:endParaRPr lang="en-US" sz="1875" dirty="0"/>
          </a:p>
        </p:txBody>
      </p:sp>
      <p:sp>
        <p:nvSpPr>
          <p:cNvPr id="28" name="Text 22"/>
          <p:cNvSpPr/>
          <p:nvPr/>
        </p:nvSpPr>
        <p:spPr>
          <a:xfrm>
            <a:off x="16870561" y="9572625"/>
            <a:ext cx="350639" cy="314325"/>
          </a:xfrm>
          <a:prstGeom prst="rect">
            <a:avLst/>
          </a:prstGeom>
          <a:noFill/>
          <a:ln/>
        </p:spPr>
        <p:txBody>
          <a:bodyPr wrap="square" lIns="25400" tIns="25400" rIns="25400" bIns="25400" rtlCol="0" anchor="t">
            <a:normAutofit/>
          </a:bodyPr>
          <a:lstStyle/>
          <a:p>
            <a:pPr algn="l" indent="0" marL="0">
              <a:buNone/>
            </a:pPr>
            <a:r>
              <a:rPr lang="en-US" sz="1800" b="1" dirty="0">
                <a:solidFill>
                  <a:srgbClr val="A9ADA4"/>
                </a:solidFill>
                <a:latin typeface="Spline Sans Mono" pitchFamily="34" charset="0"/>
                <a:ea typeface="Spline Sans Mono" pitchFamily="34" charset="-122"/>
                <a:cs typeface="Spline Sans Mono" pitchFamily="34" charset="-120"/>
              </a:rPr>
              <a:t>04</a:t>
            </a:r>
            <a:endParaRPr lang="en-US"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2E3330"/>
        </a:solidFill>
      </p:bgPr>
    </p:bg>
    <p:spTree>
      <p:nvGrpSpPr>
        <p:cNvPr id="1" name=""/>
        <p:cNvGrpSpPr/>
        <p:nvPr/>
      </p:nvGrpSpPr>
      <p:grpSpPr>
        <a:xfrm>
          <a:off x="0" y="0"/>
          <a:ext cx="0" cy="0"/>
          <a:chOff x="0" y="0"/>
          <a:chExt cx="0" cy="0"/>
        </a:xfrm>
      </p:grpSpPr>
      <p:sp>
        <p:nvSpPr>
          <p:cNvPr id="2" name="Text 0"/>
          <p:cNvSpPr/>
          <p:nvPr/>
        </p:nvSpPr>
        <p:spPr>
          <a:xfrm>
            <a:off x="1143000" y="876300"/>
            <a:ext cx="16482060" cy="285750"/>
          </a:xfrm>
          <a:prstGeom prst="rect">
            <a:avLst/>
          </a:prstGeom>
          <a:noFill/>
          <a:ln/>
        </p:spPr>
        <p:txBody>
          <a:bodyPr wrap="square" lIns="25400" tIns="25400" rIns="25400" bIns="25400" rtlCol="0" anchor="t">
            <a:normAutofit/>
          </a:bodyPr>
          <a:lstStyle/>
          <a:p>
            <a:pPr algn="l" indent="0" marL="0">
              <a:buNone/>
            </a:pPr>
            <a:r>
              <a:rPr lang="en-US" sz="1800" b="1" spc="396" kern="0" dirty="0">
                <a:solidFill>
                  <a:srgbClr val="86BAC9"/>
                </a:solidFill>
                <a:latin typeface="Archivo" pitchFamily="34" charset="0"/>
                <a:ea typeface="Archivo" pitchFamily="34" charset="-122"/>
                <a:cs typeface="Archivo" pitchFamily="34" charset="-120"/>
              </a:rPr>
              <a:t>HOW IT WORKS</a:t>
            </a:r>
            <a:endParaRPr lang="en-US" sz="1800" dirty="0"/>
          </a:p>
        </p:txBody>
      </p:sp>
      <p:sp>
        <p:nvSpPr>
          <p:cNvPr id="3" name="Text 1"/>
          <p:cNvSpPr/>
          <p:nvPr/>
        </p:nvSpPr>
        <p:spPr>
          <a:xfrm>
            <a:off x="1143000" y="1314450"/>
            <a:ext cx="8203320" cy="1226641"/>
          </a:xfrm>
          <a:prstGeom prst="rect">
            <a:avLst/>
          </a:prstGeom>
          <a:noFill/>
          <a:ln/>
        </p:spPr>
        <p:txBody>
          <a:bodyPr wrap="square" lIns="25400" tIns="25400" rIns="25400" bIns="25400" rtlCol="0" anchor="t">
            <a:normAutofit/>
          </a:bodyPr>
          <a:lstStyle/>
          <a:p>
            <a:pPr algn="l" indent="0" marL="0">
              <a:lnSpc>
                <a:spcPct val="104000"/>
              </a:lnSpc>
              <a:buNone/>
            </a:pPr>
            <a:r>
              <a:rPr lang="en-US" sz="4500" b="1" spc="-45" kern="0" dirty="0">
                <a:solidFill>
                  <a:srgbClr val="F4F1EA"/>
                </a:solidFill>
                <a:latin typeface="Spectral" pitchFamily="34" charset="0"/>
                <a:ea typeface="Spectral" pitchFamily="34" charset="-122"/>
                <a:cs typeface="Spectral" pitchFamily="34" charset="-120"/>
              </a:rPr>
              <a:t>From a recording to a result you can play.</a:t>
            </a:r>
            <a:endParaRPr lang="en-US" sz="4500" dirty="0"/>
          </a:p>
        </p:txBody>
      </p:sp>
      <p:sp>
        <p:nvSpPr>
          <p:cNvPr id="4" name="Shape 2"/>
          <p:cNvSpPr/>
          <p:nvPr/>
        </p:nvSpPr>
        <p:spPr>
          <a:xfrm>
            <a:off x="1143000" y="4719786"/>
            <a:ext cx="723900" cy="723900"/>
          </a:xfrm>
          <a:prstGeom prst="roundRect">
            <a:avLst>
              <a:gd name="adj" fmla="val 23684"/>
            </a:avLst>
          </a:prstGeom>
          <a:solidFill>
            <a:srgbClr val="7FB6C6">
              <a:alpha val="13000"/>
            </a:srgbClr>
          </a:solidFill>
          <a:ln/>
        </p:spPr>
      </p:sp>
      <p:pic>
        <p:nvPicPr>
          <p:cNvPr id="5" name="Image 0" descr="preencoded.png">    </p:cNvPr>
          <p:cNvPicPr>
            <a:picLocks noChangeAspect="1"/>
          </p:cNvPicPr>
          <p:nvPr/>
        </p:nvPicPr>
        <p:blipFill>
          <a:blip r:embed="rId1"/>
          <a:stretch>
            <a:fillRect/>
          </a:stretch>
        </p:blipFill>
        <p:spPr>
          <a:xfrm>
            <a:off x="1276350" y="4853136"/>
            <a:ext cx="457200" cy="457200"/>
          </a:xfrm>
          <a:prstGeom prst="rect">
            <a:avLst/>
          </a:prstGeom>
        </p:spPr>
      </p:pic>
      <p:sp>
        <p:nvSpPr>
          <p:cNvPr id="6" name="Text 3"/>
          <p:cNvSpPr/>
          <p:nvPr/>
        </p:nvSpPr>
        <p:spPr>
          <a:xfrm>
            <a:off x="1143000" y="5691336"/>
            <a:ext cx="4682947" cy="371475"/>
          </a:xfrm>
          <a:prstGeom prst="rect">
            <a:avLst/>
          </a:prstGeom>
          <a:noFill/>
          <a:ln/>
        </p:spPr>
        <p:txBody>
          <a:bodyPr wrap="square" lIns="25400" tIns="25400" rIns="25400" bIns="25400" rtlCol="0" anchor="t">
            <a:normAutofit/>
          </a:bodyPr>
          <a:lstStyle/>
          <a:p>
            <a:pPr algn="l" indent="0" marL="0">
              <a:buNone/>
            </a:pPr>
            <a:r>
              <a:rPr lang="en-US" sz="2400" b="1" dirty="0">
                <a:solidFill>
                  <a:srgbClr val="F4F1EA"/>
                </a:solidFill>
                <a:latin typeface="Archivo" pitchFamily="34" charset="0"/>
                <a:ea typeface="Archivo" pitchFamily="34" charset="-122"/>
                <a:cs typeface="Archivo" pitchFamily="34" charset="-120"/>
              </a:rPr>
              <a:t>Sermon audio</a:t>
            </a:r>
            <a:endParaRPr lang="en-US" sz="2400" dirty="0"/>
          </a:p>
        </p:txBody>
      </p:sp>
      <p:sp>
        <p:nvSpPr>
          <p:cNvPr id="7" name="Text 4"/>
          <p:cNvSpPr/>
          <p:nvPr/>
        </p:nvSpPr>
        <p:spPr>
          <a:xfrm>
            <a:off x="1143000" y="6139011"/>
            <a:ext cx="4213870" cy="728663"/>
          </a:xfrm>
          <a:prstGeom prst="rect">
            <a:avLst/>
          </a:prstGeom>
          <a:noFill/>
          <a:ln/>
        </p:spPr>
        <p:txBody>
          <a:bodyPr wrap="square" lIns="25400" tIns="25400" rIns="25400" bIns="25400" rtlCol="0" anchor="t">
            <a:normAutofit/>
          </a:bodyPr>
          <a:lstStyle/>
          <a:p>
            <a:pPr algn="l" indent="0" marL="0">
              <a:lnSpc>
                <a:spcPct val="145000"/>
              </a:lnSpc>
              <a:buNone/>
            </a:pPr>
            <a:r>
              <a:rPr lang="en-US" sz="1875" dirty="0">
                <a:solidFill>
                  <a:srgbClr val="AEB4AC"/>
                </a:solidFill>
                <a:latin typeface="Archivo" pitchFamily="34" charset="0"/>
                <a:ea typeface="Archivo" pitchFamily="34" charset="-122"/>
                <a:cs typeface="Archivo" pitchFamily="34" charset="-120"/>
              </a:rPr>
              <a:t>The recordings the church already hosts.</a:t>
            </a:r>
            <a:endParaRPr lang="en-US" sz="1875" dirty="0"/>
          </a:p>
        </p:txBody>
      </p:sp>
      <p:pic>
        <p:nvPicPr>
          <p:cNvPr id="8" name="Image 1" descr="preencoded.png">    </p:cNvPr>
          <p:cNvPicPr>
            <a:picLocks noChangeAspect="1"/>
          </p:cNvPicPr>
          <p:nvPr/>
        </p:nvPicPr>
        <p:blipFill>
          <a:blip r:embed="rId2"/>
          <a:stretch>
            <a:fillRect/>
          </a:stretch>
        </p:blipFill>
        <p:spPr>
          <a:xfrm>
            <a:off x="5975300" y="5622280"/>
            <a:ext cx="609600" cy="228600"/>
          </a:xfrm>
          <a:prstGeom prst="rect">
            <a:avLst/>
          </a:prstGeom>
        </p:spPr>
      </p:pic>
      <p:sp>
        <p:nvSpPr>
          <p:cNvPr id="9" name="Shape 5"/>
          <p:cNvSpPr/>
          <p:nvPr/>
        </p:nvSpPr>
        <p:spPr>
          <a:xfrm>
            <a:off x="6870650" y="4719786"/>
            <a:ext cx="723900" cy="723900"/>
          </a:xfrm>
          <a:prstGeom prst="roundRect">
            <a:avLst>
              <a:gd name="adj" fmla="val 23684"/>
            </a:avLst>
          </a:prstGeom>
          <a:solidFill>
            <a:srgbClr val="7FB6C6">
              <a:alpha val="13000"/>
            </a:srgbClr>
          </a:solidFill>
          <a:ln/>
        </p:spPr>
      </p:sp>
      <p:pic>
        <p:nvPicPr>
          <p:cNvPr id="10" name="Image 2" descr="preencoded.png">    </p:cNvPr>
          <p:cNvPicPr>
            <a:picLocks noChangeAspect="1"/>
          </p:cNvPicPr>
          <p:nvPr/>
        </p:nvPicPr>
        <p:blipFill>
          <a:blip r:embed="rId3"/>
          <a:stretch>
            <a:fillRect/>
          </a:stretch>
        </p:blipFill>
        <p:spPr>
          <a:xfrm>
            <a:off x="7004000" y="4853136"/>
            <a:ext cx="457200" cy="457200"/>
          </a:xfrm>
          <a:prstGeom prst="rect">
            <a:avLst/>
          </a:prstGeom>
        </p:spPr>
      </p:pic>
      <p:sp>
        <p:nvSpPr>
          <p:cNvPr id="11" name="Text 6"/>
          <p:cNvSpPr/>
          <p:nvPr/>
        </p:nvSpPr>
        <p:spPr>
          <a:xfrm>
            <a:off x="6870650" y="5691336"/>
            <a:ext cx="4682947" cy="371475"/>
          </a:xfrm>
          <a:prstGeom prst="rect">
            <a:avLst/>
          </a:prstGeom>
          <a:noFill/>
          <a:ln/>
        </p:spPr>
        <p:txBody>
          <a:bodyPr wrap="square" lIns="25400" tIns="25400" rIns="25400" bIns="25400" rtlCol="0" anchor="t">
            <a:normAutofit/>
          </a:bodyPr>
          <a:lstStyle/>
          <a:p>
            <a:pPr algn="l" indent="0" marL="0">
              <a:buNone/>
            </a:pPr>
            <a:r>
              <a:rPr lang="en-US" sz="2400" b="1" dirty="0">
                <a:solidFill>
                  <a:srgbClr val="F4F1EA"/>
                </a:solidFill>
                <a:latin typeface="Archivo" pitchFamily="34" charset="0"/>
                <a:ea typeface="Archivo" pitchFamily="34" charset="-122"/>
                <a:cs typeface="Archivo" pitchFamily="34" charset="-120"/>
              </a:rPr>
              <a:t>Auto-generated transcript</a:t>
            </a:r>
            <a:endParaRPr lang="en-US" sz="2400" dirty="0"/>
          </a:p>
        </p:txBody>
      </p:sp>
      <p:sp>
        <p:nvSpPr>
          <p:cNvPr id="12" name="Text 7"/>
          <p:cNvSpPr/>
          <p:nvPr/>
        </p:nvSpPr>
        <p:spPr>
          <a:xfrm>
            <a:off x="6870650" y="6139011"/>
            <a:ext cx="4213870" cy="728663"/>
          </a:xfrm>
          <a:prstGeom prst="rect">
            <a:avLst/>
          </a:prstGeom>
          <a:noFill/>
          <a:ln/>
        </p:spPr>
        <p:txBody>
          <a:bodyPr wrap="square" lIns="25400" tIns="25400" rIns="25400" bIns="25400" rtlCol="0" anchor="t">
            <a:normAutofit/>
          </a:bodyPr>
          <a:lstStyle/>
          <a:p>
            <a:pPr algn="l" indent="0" marL="0">
              <a:lnSpc>
                <a:spcPct val="145000"/>
              </a:lnSpc>
              <a:buNone/>
            </a:pPr>
            <a:r>
              <a:rPr lang="en-US" sz="1875" dirty="0">
                <a:solidFill>
                  <a:srgbClr val="AEB4AC"/>
                </a:solidFill>
                <a:latin typeface="Archivo" pitchFamily="34" charset="0"/>
                <a:ea typeface="Archivo" pitchFamily="34" charset="-122"/>
                <a:cs typeface="Archivo" pitchFamily="34" charset="-120"/>
              </a:rPr>
              <a:t>Every sentence captured, timed to the audio.</a:t>
            </a:r>
            <a:endParaRPr lang="en-US" sz="1875" dirty="0"/>
          </a:p>
        </p:txBody>
      </p:sp>
      <p:pic>
        <p:nvPicPr>
          <p:cNvPr id="13" name="Image 3" descr="preencoded.png">    </p:cNvPr>
          <p:cNvPicPr>
            <a:picLocks noChangeAspect="1"/>
          </p:cNvPicPr>
          <p:nvPr/>
        </p:nvPicPr>
        <p:blipFill>
          <a:blip r:embed="rId4"/>
          <a:stretch>
            <a:fillRect/>
          </a:stretch>
        </p:blipFill>
        <p:spPr>
          <a:xfrm>
            <a:off x="11702951" y="5622280"/>
            <a:ext cx="609600" cy="228600"/>
          </a:xfrm>
          <a:prstGeom prst="rect">
            <a:avLst/>
          </a:prstGeom>
        </p:spPr>
      </p:pic>
      <p:sp>
        <p:nvSpPr>
          <p:cNvPr id="14" name="Shape 8"/>
          <p:cNvSpPr/>
          <p:nvPr/>
        </p:nvSpPr>
        <p:spPr>
          <a:xfrm>
            <a:off x="12598301" y="4719786"/>
            <a:ext cx="723900" cy="723900"/>
          </a:xfrm>
          <a:prstGeom prst="roundRect">
            <a:avLst>
              <a:gd name="adj" fmla="val 23684"/>
            </a:avLst>
          </a:prstGeom>
          <a:solidFill>
            <a:srgbClr val="7FB6C6">
              <a:alpha val="13000"/>
            </a:srgbClr>
          </a:solidFill>
          <a:ln/>
        </p:spPr>
      </p:sp>
      <p:pic>
        <p:nvPicPr>
          <p:cNvPr id="15" name="Image 4" descr="preencoded.png">    </p:cNvPr>
          <p:cNvPicPr>
            <a:picLocks noChangeAspect="1"/>
          </p:cNvPicPr>
          <p:nvPr/>
        </p:nvPicPr>
        <p:blipFill>
          <a:blip r:embed="rId5"/>
          <a:stretch>
            <a:fillRect/>
          </a:stretch>
        </p:blipFill>
        <p:spPr>
          <a:xfrm>
            <a:off x="12731651" y="4853136"/>
            <a:ext cx="457200" cy="457200"/>
          </a:xfrm>
          <a:prstGeom prst="rect">
            <a:avLst/>
          </a:prstGeom>
        </p:spPr>
      </p:pic>
      <p:sp>
        <p:nvSpPr>
          <p:cNvPr id="16" name="Text 9"/>
          <p:cNvSpPr/>
          <p:nvPr/>
        </p:nvSpPr>
        <p:spPr>
          <a:xfrm>
            <a:off x="12598301" y="5691336"/>
            <a:ext cx="4683100" cy="371475"/>
          </a:xfrm>
          <a:prstGeom prst="rect">
            <a:avLst/>
          </a:prstGeom>
          <a:noFill/>
          <a:ln/>
        </p:spPr>
        <p:txBody>
          <a:bodyPr wrap="square" lIns="25400" tIns="25400" rIns="25400" bIns="25400" rtlCol="0" anchor="t">
            <a:normAutofit/>
          </a:bodyPr>
          <a:lstStyle/>
          <a:p>
            <a:pPr algn="l" indent="0" marL="0">
              <a:buNone/>
            </a:pPr>
            <a:r>
              <a:rPr lang="en-US" sz="2400" b="1" dirty="0">
                <a:solidFill>
                  <a:srgbClr val="F4F1EA"/>
                </a:solidFill>
                <a:latin typeface="Archivo" pitchFamily="34" charset="0"/>
                <a:ea typeface="Archivo" pitchFamily="34" charset="-122"/>
                <a:cs typeface="Archivo" pitchFamily="34" charset="-120"/>
              </a:rPr>
              <a:t>Searchable, clickable text</a:t>
            </a:r>
            <a:endParaRPr lang="en-US" sz="2400" dirty="0"/>
          </a:p>
        </p:txBody>
      </p:sp>
      <p:sp>
        <p:nvSpPr>
          <p:cNvPr id="17" name="Text 10"/>
          <p:cNvSpPr/>
          <p:nvPr/>
        </p:nvSpPr>
        <p:spPr>
          <a:xfrm>
            <a:off x="12598301" y="6139011"/>
            <a:ext cx="4213870" cy="728663"/>
          </a:xfrm>
          <a:prstGeom prst="rect">
            <a:avLst/>
          </a:prstGeom>
          <a:noFill/>
          <a:ln/>
        </p:spPr>
        <p:txBody>
          <a:bodyPr wrap="square" lIns="25400" tIns="25400" rIns="25400" bIns="25400" rtlCol="0" anchor="t">
            <a:normAutofit/>
          </a:bodyPr>
          <a:lstStyle/>
          <a:p>
            <a:pPr algn="l" indent="0" marL="0">
              <a:lnSpc>
                <a:spcPct val="145000"/>
              </a:lnSpc>
              <a:buNone/>
            </a:pPr>
            <a:r>
              <a:rPr lang="en-US" sz="1875" dirty="0">
                <a:solidFill>
                  <a:srgbClr val="AEB4AC"/>
                </a:solidFill>
                <a:latin typeface="Archivo" pitchFamily="34" charset="0"/>
                <a:ea typeface="Archivo" pitchFamily="34" charset="-122"/>
                <a:cs typeface="Archivo" pitchFamily="34" charset="-120"/>
              </a:rPr>
              <a:t>Each result is also a “play from here” button.</a:t>
            </a:r>
            <a:endParaRPr lang="en-US" sz="1875" dirty="0"/>
          </a:p>
        </p:txBody>
      </p:sp>
      <p:sp>
        <p:nvSpPr>
          <p:cNvPr id="18" name="Text 11"/>
          <p:cNvSpPr/>
          <p:nvPr/>
        </p:nvSpPr>
        <p:spPr>
          <a:xfrm>
            <a:off x="1143000" y="9141619"/>
            <a:ext cx="16482060" cy="383381"/>
          </a:xfrm>
          <a:prstGeom prst="rect">
            <a:avLst/>
          </a:prstGeom>
          <a:noFill/>
          <a:ln/>
        </p:spPr>
        <p:txBody>
          <a:bodyPr wrap="square" lIns="25400" tIns="25400" rIns="25400" bIns="25400" rtlCol="0" anchor="t">
            <a:normAutofit/>
          </a:bodyPr>
          <a:lstStyle/>
          <a:p>
            <a:pPr algn="l" indent="0" marL="0">
              <a:lnSpc>
                <a:spcPct val="145000"/>
              </a:lnSpc>
              <a:buNone/>
            </a:pPr>
            <a:r>
              <a:rPr lang="en-US" sz="1875" dirty="0">
                <a:solidFill>
                  <a:srgbClr val="9FC9D6"/>
                </a:solidFill>
                <a:latin typeface="Archivo" pitchFamily="34" charset="0"/>
                <a:ea typeface="Archivo" pitchFamily="34" charset="-122"/>
                <a:cs typeface="Archivo" pitchFamily="34" charset="-120"/>
              </a:rPr>
              <a:t>The text is linked to the audio timeline — so finding the words means finding the moment.</a:t>
            </a:r>
            <a:endParaRPr lang="en-US" sz="1875" dirty="0"/>
          </a:p>
        </p:txBody>
      </p:sp>
      <p:sp>
        <p:nvSpPr>
          <p:cNvPr id="19" name="Text 12"/>
          <p:cNvSpPr/>
          <p:nvPr/>
        </p:nvSpPr>
        <p:spPr>
          <a:xfrm>
            <a:off x="16870561" y="9572625"/>
            <a:ext cx="350639" cy="314325"/>
          </a:xfrm>
          <a:prstGeom prst="rect">
            <a:avLst/>
          </a:prstGeom>
          <a:noFill/>
          <a:ln/>
        </p:spPr>
        <p:txBody>
          <a:bodyPr wrap="square" lIns="25400" tIns="25400" rIns="25400" bIns="25400" rtlCol="0" anchor="t">
            <a:normAutofit/>
          </a:bodyPr>
          <a:lstStyle/>
          <a:p>
            <a:pPr algn="l" indent="0" marL="0">
              <a:buNone/>
            </a:pPr>
            <a:r>
              <a:rPr lang="en-US" sz="1800" b="1" dirty="0">
                <a:solidFill>
                  <a:srgbClr val="F4F1EA">
                    <a:alpha val="40000"/>
                  </a:srgbClr>
                </a:solidFill>
                <a:latin typeface="Spline Sans Mono" pitchFamily="34" charset="0"/>
                <a:ea typeface="Spline Sans Mono" pitchFamily="34" charset="-122"/>
                <a:cs typeface="Spline Sans Mono" pitchFamily="34" charset="-120"/>
              </a:rPr>
              <a:t>05</a:t>
            </a:r>
            <a:endParaRPr lang="en-US" sz="1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1EA"/>
        </a:solidFill>
      </p:bgPr>
    </p:bg>
    <p:spTree>
      <p:nvGrpSpPr>
        <p:cNvPr id="1" name=""/>
        <p:cNvGrpSpPr/>
        <p:nvPr/>
      </p:nvGrpSpPr>
      <p:grpSpPr>
        <a:xfrm>
          <a:off x="0" y="0"/>
          <a:ext cx="0" cy="0"/>
          <a:chOff x="0" y="0"/>
          <a:chExt cx="0" cy="0"/>
        </a:xfrm>
      </p:grpSpPr>
      <p:sp>
        <p:nvSpPr>
          <p:cNvPr id="2" name="Text 0"/>
          <p:cNvSpPr/>
          <p:nvPr/>
        </p:nvSpPr>
        <p:spPr>
          <a:xfrm>
            <a:off x="1143000" y="876300"/>
            <a:ext cx="16482060" cy="285750"/>
          </a:xfrm>
          <a:prstGeom prst="rect">
            <a:avLst/>
          </a:prstGeom>
          <a:noFill/>
          <a:ln/>
        </p:spPr>
        <p:txBody>
          <a:bodyPr wrap="square" lIns="25400" tIns="25400" rIns="25400" bIns="25400" rtlCol="0" anchor="t">
            <a:normAutofit/>
          </a:bodyPr>
          <a:lstStyle/>
          <a:p>
            <a:pPr algn="l" indent="0" marL="0">
              <a:buNone/>
            </a:pPr>
            <a:r>
              <a:rPr lang="en-US" sz="1800" b="1" spc="396" kern="0" dirty="0">
                <a:solidFill>
                  <a:srgbClr val="3C7C92"/>
                </a:solidFill>
                <a:latin typeface="Archivo" pitchFamily="34" charset="0"/>
                <a:ea typeface="Archivo" pitchFamily="34" charset="-122"/>
                <a:cs typeface="Archivo" pitchFamily="34" charset="-120"/>
              </a:rPr>
              <a:t>A LEAN APPROACH</a:t>
            </a:r>
            <a:endParaRPr lang="en-US" sz="1800" dirty="0"/>
          </a:p>
        </p:txBody>
      </p:sp>
      <p:sp>
        <p:nvSpPr>
          <p:cNvPr id="3" name="Text 1"/>
          <p:cNvSpPr/>
          <p:nvPr/>
        </p:nvSpPr>
        <p:spPr>
          <a:xfrm>
            <a:off x="1143000" y="1314450"/>
            <a:ext cx="8834274" cy="1226641"/>
          </a:xfrm>
          <a:prstGeom prst="rect">
            <a:avLst/>
          </a:prstGeom>
          <a:noFill/>
          <a:ln/>
        </p:spPr>
        <p:txBody>
          <a:bodyPr wrap="square" lIns="25400" tIns="25400" rIns="25400" bIns="25400" rtlCol="0" anchor="t">
            <a:normAutofit/>
          </a:bodyPr>
          <a:lstStyle/>
          <a:p>
            <a:pPr algn="l" indent="0" marL="0">
              <a:lnSpc>
                <a:spcPct val="104000"/>
              </a:lnSpc>
              <a:buNone/>
            </a:pPr>
            <a:r>
              <a:rPr lang="en-US" sz="4500" b="1" spc="-45" kern="0" dirty="0">
                <a:solidFill>
                  <a:srgbClr val="2E3330"/>
                </a:solidFill>
                <a:latin typeface="Spectral" pitchFamily="34" charset="0"/>
                <a:ea typeface="Spectral" pitchFamily="34" charset="-122"/>
                <a:cs typeface="Spectral" pitchFamily="34" charset="-120"/>
              </a:rPr>
              <a:t>Built to be inexpensive, durable, and easy to grow.</a:t>
            </a:r>
            <a:endParaRPr lang="en-US" sz="4500" dirty="0"/>
          </a:p>
        </p:txBody>
      </p:sp>
      <p:sp>
        <p:nvSpPr>
          <p:cNvPr id="4" name="Shape 2"/>
          <p:cNvSpPr/>
          <p:nvPr/>
        </p:nvSpPr>
        <p:spPr>
          <a:xfrm>
            <a:off x="1143000" y="4977705"/>
            <a:ext cx="685800" cy="685800"/>
          </a:xfrm>
          <a:prstGeom prst="roundRect">
            <a:avLst>
              <a:gd name="adj" fmla="val 22222"/>
            </a:avLst>
          </a:prstGeom>
          <a:solidFill>
            <a:srgbClr val="3C7C92">
              <a:alpha val="12000"/>
            </a:srgbClr>
          </a:solidFill>
          <a:ln/>
        </p:spPr>
      </p:sp>
      <p:pic>
        <p:nvPicPr>
          <p:cNvPr id="5" name="Image 0" descr="preencoded.png">    </p:cNvPr>
          <p:cNvPicPr>
            <a:picLocks noChangeAspect="1"/>
          </p:cNvPicPr>
          <p:nvPr/>
        </p:nvPicPr>
        <p:blipFill>
          <a:blip r:embed="rId1"/>
          <a:stretch>
            <a:fillRect/>
          </a:stretch>
        </p:blipFill>
        <p:spPr>
          <a:xfrm>
            <a:off x="1304925" y="5139630"/>
            <a:ext cx="361950" cy="361950"/>
          </a:xfrm>
          <a:prstGeom prst="rect">
            <a:avLst/>
          </a:prstGeom>
        </p:spPr>
      </p:pic>
      <p:sp>
        <p:nvSpPr>
          <p:cNvPr id="6" name="Text 3"/>
          <p:cNvSpPr/>
          <p:nvPr/>
        </p:nvSpPr>
        <p:spPr>
          <a:xfrm>
            <a:off x="1143000" y="5911155"/>
            <a:ext cx="5232349" cy="342900"/>
          </a:xfrm>
          <a:prstGeom prst="rect">
            <a:avLst/>
          </a:prstGeom>
          <a:noFill/>
          <a:ln/>
        </p:spPr>
        <p:txBody>
          <a:bodyPr wrap="square" lIns="25400" tIns="25400" rIns="25400" bIns="25400" rtlCol="0" anchor="t">
            <a:normAutofit/>
          </a:bodyPr>
          <a:lstStyle/>
          <a:p>
            <a:pPr algn="l" indent="0" marL="0">
              <a:buNone/>
            </a:pPr>
            <a:r>
              <a:rPr lang="en-US" sz="2250" b="1" dirty="0">
                <a:solidFill>
                  <a:srgbClr val="2E3330"/>
                </a:solidFill>
                <a:latin typeface="Archivo" pitchFamily="34" charset="0"/>
                <a:ea typeface="Archivo" pitchFamily="34" charset="-122"/>
                <a:cs typeface="Archivo" pitchFamily="34" charset="-120"/>
              </a:rPr>
              <a:t>Near-zero cost</a:t>
            </a:r>
            <a:endParaRPr lang="en-US" sz="2250" dirty="0"/>
          </a:p>
        </p:txBody>
      </p:sp>
      <p:sp>
        <p:nvSpPr>
          <p:cNvPr id="7" name="Text 4"/>
          <p:cNvSpPr/>
          <p:nvPr/>
        </p:nvSpPr>
        <p:spPr>
          <a:xfrm>
            <a:off x="1143000" y="6349305"/>
            <a:ext cx="5232349" cy="700980"/>
          </a:xfrm>
          <a:prstGeom prst="rect">
            <a:avLst/>
          </a:prstGeom>
          <a:noFill/>
          <a:ln/>
        </p:spPr>
        <p:txBody>
          <a:bodyPr wrap="square" lIns="25400" tIns="25400" rIns="25400" bIns="25400" rtlCol="0" anchor="t">
            <a:normAutofit/>
          </a:bodyPr>
          <a:lstStyle/>
          <a:p>
            <a:pPr algn="l" indent="0" marL="0">
              <a:lnSpc>
                <a:spcPct val="145000"/>
              </a:lnSpc>
              <a:buNone/>
            </a:pPr>
            <a:r>
              <a:rPr lang="en-US" sz="1800" dirty="0">
                <a:solidFill>
                  <a:srgbClr val="6E7570"/>
                </a:solidFill>
                <a:latin typeface="Archivo" pitchFamily="34" charset="0"/>
                <a:ea typeface="Archivo" pitchFamily="34" charset="-122"/>
                <a:cs typeface="Archivo" pitchFamily="34" charset="-120"/>
              </a:rPr>
              <a:t>No accounts and no heavy servers, so it’s very low cost and easy to keep running.</a:t>
            </a:r>
            <a:endParaRPr lang="en-US" sz="1800" dirty="0"/>
          </a:p>
        </p:txBody>
      </p:sp>
      <p:sp>
        <p:nvSpPr>
          <p:cNvPr id="8" name="Shape 5"/>
          <p:cNvSpPr/>
          <p:nvPr/>
        </p:nvSpPr>
        <p:spPr>
          <a:xfrm>
            <a:off x="6603950" y="4977705"/>
            <a:ext cx="685800" cy="685800"/>
          </a:xfrm>
          <a:prstGeom prst="roundRect">
            <a:avLst>
              <a:gd name="adj" fmla="val 22222"/>
            </a:avLst>
          </a:prstGeom>
          <a:solidFill>
            <a:srgbClr val="3C7C92">
              <a:alpha val="12000"/>
            </a:srgbClr>
          </a:solidFill>
          <a:ln/>
        </p:spPr>
      </p:sp>
      <p:pic>
        <p:nvPicPr>
          <p:cNvPr id="9" name="Image 1" descr="preencoded.png">    </p:cNvPr>
          <p:cNvPicPr>
            <a:picLocks noChangeAspect="1"/>
          </p:cNvPicPr>
          <p:nvPr/>
        </p:nvPicPr>
        <p:blipFill>
          <a:blip r:embed="rId2"/>
          <a:stretch>
            <a:fillRect/>
          </a:stretch>
        </p:blipFill>
        <p:spPr>
          <a:xfrm>
            <a:off x="6765875" y="5139630"/>
            <a:ext cx="361950" cy="361950"/>
          </a:xfrm>
          <a:prstGeom prst="rect">
            <a:avLst/>
          </a:prstGeom>
        </p:spPr>
      </p:pic>
      <p:sp>
        <p:nvSpPr>
          <p:cNvPr id="10" name="Text 6"/>
          <p:cNvSpPr/>
          <p:nvPr/>
        </p:nvSpPr>
        <p:spPr>
          <a:xfrm>
            <a:off x="6603950" y="5911155"/>
            <a:ext cx="5232349" cy="342900"/>
          </a:xfrm>
          <a:prstGeom prst="rect">
            <a:avLst/>
          </a:prstGeom>
          <a:noFill/>
          <a:ln/>
        </p:spPr>
        <p:txBody>
          <a:bodyPr wrap="square" lIns="25400" tIns="25400" rIns="25400" bIns="25400" rtlCol="0" anchor="t">
            <a:normAutofit/>
          </a:bodyPr>
          <a:lstStyle/>
          <a:p>
            <a:pPr algn="l" indent="0" marL="0">
              <a:buNone/>
            </a:pPr>
            <a:r>
              <a:rPr lang="en-US" sz="2250" b="1" dirty="0">
                <a:solidFill>
                  <a:srgbClr val="2E3330"/>
                </a:solidFill>
                <a:latin typeface="Archivo" pitchFamily="34" charset="0"/>
                <a:ea typeface="Archivo" pitchFamily="34" charset="-122"/>
                <a:cs typeface="Archivo" pitchFamily="34" charset="-120"/>
              </a:rPr>
              <a:t>Reuses what exists</a:t>
            </a:r>
            <a:endParaRPr lang="en-US" sz="2250" dirty="0"/>
          </a:p>
        </p:txBody>
      </p:sp>
      <p:sp>
        <p:nvSpPr>
          <p:cNvPr id="11" name="Text 7"/>
          <p:cNvSpPr/>
          <p:nvPr/>
        </p:nvSpPr>
        <p:spPr>
          <a:xfrm>
            <a:off x="6603950" y="6349305"/>
            <a:ext cx="5232349" cy="700980"/>
          </a:xfrm>
          <a:prstGeom prst="rect">
            <a:avLst/>
          </a:prstGeom>
          <a:noFill/>
          <a:ln/>
        </p:spPr>
        <p:txBody>
          <a:bodyPr wrap="square" lIns="25400" tIns="25400" rIns="25400" bIns="25400" rtlCol="0" anchor="t">
            <a:normAutofit/>
          </a:bodyPr>
          <a:lstStyle/>
          <a:p>
            <a:pPr algn="l" indent="0" marL="0">
              <a:lnSpc>
                <a:spcPct val="145000"/>
              </a:lnSpc>
              <a:buNone/>
            </a:pPr>
            <a:r>
              <a:rPr lang="en-US" sz="1800" dirty="0">
                <a:solidFill>
                  <a:srgbClr val="6E7570"/>
                </a:solidFill>
                <a:latin typeface="Archivo" pitchFamily="34" charset="0"/>
                <a:ea typeface="Archivo" pitchFamily="34" charset="-122"/>
                <a:cs typeface="Archivo" pitchFamily="34" charset="-120"/>
              </a:rPr>
              <a:t>The audio is already hosted and the transcripts are already generated. We just connect them.</a:t>
            </a:r>
            <a:endParaRPr lang="en-US" sz="1800" dirty="0"/>
          </a:p>
        </p:txBody>
      </p:sp>
      <p:sp>
        <p:nvSpPr>
          <p:cNvPr id="12" name="Shape 8"/>
          <p:cNvSpPr/>
          <p:nvPr/>
        </p:nvSpPr>
        <p:spPr>
          <a:xfrm>
            <a:off x="12064901" y="4977705"/>
            <a:ext cx="685800" cy="685800"/>
          </a:xfrm>
          <a:prstGeom prst="roundRect">
            <a:avLst>
              <a:gd name="adj" fmla="val 22222"/>
            </a:avLst>
          </a:prstGeom>
          <a:solidFill>
            <a:srgbClr val="3C7C92">
              <a:alpha val="12000"/>
            </a:srgbClr>
          </a:solidFill>
          <a:ln/>
        </p:spPr>
      </p:sp>
      <p:pic>
        <p:nvPicPr>
          <p:cNvPr id="13" name="Image 2" descr="preencoded.png">    </p:cNvPr>
          <p:cNvPicPr>
            <a:picLocks noChangeAspect="1"/>
          </p:cNvPicPr>
          <p:nvPr/>
        </p:nvPicPr>
        <p:blipFill>
          <a:blip r:embed="rId3"/>
          <a:stretch>
            <a:fillRect/>
          </a:stretch>
        </p:blipFill>
        <p:spPr>
          <a:xfrm>
            <a:off x="12226826" y="5139630"/>
            <a:ext cx="361950" cy="361950"/>
          </a:xfrm>
          <a:prstGeom prst="rect">
            <a:avLst/>
          </a:prstGeom>
        </p:spPr>
      </p:pic>
      <p:sp>
        <p:nvSpPr>
          <p:cNvPr id="14" name="Text 9"/>
          <p:cNvSpPr/>
          <p:nvPr/>
        </p:nvSpPr>
        <p:spPr>
          <a:xfrm>
            <a:off x="12064901" y="5911155"/>
            <a:ext cx="5232349" cy="342900"/>
          </a:xfrm>
          <a:prstGeom prst="rect">
            <a:avLst/>
          </a:prstGeom>
          <a:noFill/>
          <a:ln/>
        </p:spPr>
        <p:txBody>
          <a:bodyPr wrap="square" lIns="25400" tIns="25400" rIns="25400" bIns="25400" rtlCol="0" anchor="t">
            <a:normAutofit/>
          </a:bodyPr>
          <a:lstStyle/>
          <a:p>
            <a:pPr algn="l" indent="0" marL="0">
              <a:buNone/>
            </a:pPr>
            <a:r>
              <a:rPr lang="en-US" sz="2250" b="1" dirty="0">
                <a:solidFill>
                  <a:srgbClr val="2E3330"/>
                </a:solidFill>
                <a:latin typeface="Archivo" pitchFamily="34" charset="0"/>
                <a:ea typeface="Archivo" pitchFamily="34" charset="-122"/>
                <a:cs typeface="Archivo" pitchFamily="34" charset="-120"/>
              </a:rPr>
              <a:t>Scales simply</a:t>
            </a:r>
            <a:endParaRPr lang="en-US" sz="2250" dirty="0"/>
          </a:p>
        </p:txBody>
      </p:sp>
      <p:sp>
        <p:nvSpPr>
          <p:cNvPr id="15" name="Text 10"/>
          <p:cNvSpPr/>
          <p:nvPr/>
        </p:nvSpPr>
        <p:spPr>
          <a:xfrm>
            <a:off x="12064901" y="6349305"/>
            <a:ext cx="5232349" cy="700980"/>
          </a:xfrm>
          <a:prstGeom prst="rect">
            <a:avLst/>
          </a:prstGeom>
          <a:noFill/>
          <a:ln/>
        </p:spPr>
        <p:txBody>
          <a:bodyPr wrap="square" lIns="25400" tIns="25400" rIns="25400" bIns="25400" rtlCol="0" anchor="t">
            <a:normAutofit/>
          </a:bodyPr>
          <a:lstStyle/>
          <a:p>
            <a:pPr algn="l" indent="0" marL="0">
              <a:lnSpc>
                <a:spcPct val="145000"/>
              </a:lnSpc>
              <a:buNone/>
            </a:pPr>
            <a:r>
              <a:rPr lang="en-US" sz="1800" dirty="0">
                <a:solidFill>
                  <a:srgbClr val="6E7570"/>
                </a:solidFill>
                <a:latin typeface="Archivo" pitchFamily="34" charset="0"/>
                <a:ea typeface="Archivo" pitchFamily="34" charset="-122"/>
                <a:cs typeface="Archivo" pitchFamily="34" charset="-120"/>
              </a:rPr>
              <a:t>Adding a sermon is just adding its transcript. The library grows on its own.</a:t>
            </a:r>
            <a:endParaRPr lang="en-US" sz="1800" dirty="0"/>
          </a:p>
        </p:txBody>
      </p:sp>
      <p:sp>
        <p:nvSpPr>
          <p:cNvPr id="16" name="Text 11"/>
          <p:cNvSpPr/>
          <p:nvPr/>
        </p:nvSpPr>
        <p:spPr>
          <a:xfrm>
            <a:off x="16870561" y="9572625"/>
            <a:ext cx="350639" cy="314325"/>
          </a:xfrm>
          <a:prstGeom prst="rect">
            <a:avLst/>
          </a:prstGeom>
          <a:noFill/>
          <a:ln/>
        </p:spPr>
        <p:txBody>
          <a:bodyPr wrap="square" lIns="25400" tIns="25400" rIns="25400" bIns="25400" rtlCol="0" anchor="t">
            <a:normAutofit/>
          </a:bodyPr>
          <a:lstStyle/>
          <a:p>
            <a:pPr algn="l" indent="0" marL="0">
              <a:buNone/>
            </a:pPr>
            <a:r>
              <a:rPr lang="en-US" sz="1800" b="1" dirty="0">
                <a:solidFill>
                  <a:srgbClr val="A9ADA4"/>
                </a:solidFill>
                <a:latin typeface="Spline Sans Mono" pitchFamily="34" charset="0"/>
                <a:ea typeface="Spline Sans Mono" pitchFamily="34" charset="-122"/>
                <a:cs typeface="Spline Sans Mono" pitchFamily="34" charset="-120"/>
              </a:rPr>
              <a:t>06</a:t>
            </a:r>
            <a:endParaRPr lang="en-US" sz="1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1EA"/>
        </a:solidFill>
      </p:bgPr>
    </p:bg>
    <p:spTree>
      <p:nvGrpSpPr>
        <p:cNvPr id="1" name=""/>
        <p:cNvGrpSpPr/>
        <p:nvPr/>
      </p:nvGrpSpPr>
      <p:grpSpPr>
        <a:xfrm>
          <a:off x="0" y="0"/>
          <a:ext cx="0" cy="0"/>
          <a:chOff x="0" y="0"/>
          <a:chExt cx="0" cy="0"/>
        </a:xfrm>
      </p:grpSpPr>
      <p:sp>
        <p:nvSpPr>
          <p:cNvPr id="2" name="Text 0"/>
          <p:cNvSpPr/>
          <p:nvPr/>
        </p:nvSpPr>
        <p:spPr>
          <a:xfrm>
            <a:off x="1143000" y="876300"/>
            <a:ext cx="16482060" cy="285750"/>
          </a:xfrm>
          <a:prstGeom prst="rect">
            <a:avLst/>
          </a:prstGeom>
          <a:noFill/>
          <a:ln/>
        </p:spPr>
        <p:txBody>
          <a:bodyPr wrap="square" lIns="25400" tIns="25400" rIns="25400" bIns="25400" rtlCol="0" anchor="t">
            <a:normAutofit/>
          </a:bodyPr>
          <a:lstStyle/>
          <a:p>
            <a:pPr algn="l" indent="0" marL="0">
              <a:buNone/>
            </a:pPr>
            <a:r>
              <a:rPr lang="en-US" sz="1800" b="1" spc="396" kern="0" dirty="0">
                <a:solidFill>
                  <a:srgbClr val="3C7C92"/>
                </a:solidFill>
                <a:latin typeface="Archivo" pitchFamily="34" charset="0"/>
                <a:ea typeface="Archivo" pitchFamily="34" charset="-122"/>
                <a:cs typeface="Archivo" pitchFamily="34" charset="-120"/>
              </a:rPr>
              <a:t>WHERE WE ARE NOW</a:t>
            </a:r>
            <a:endParaRPr lang="en-US" sz="1800" dirty="0"/>
          </a:p>
        </p:txBody>
      </p:sp>
      <p:sp>
        <p:nvSpPr>
          <p:cNvPr id="3" name="Text 1"/>
          <p:cNvSpPr/>
          <p:nvPr/>
        </p:nvSpPr>
        <p:spPr>
          <a:xfrm>
            <a:off x="1143000" y="1314450"/>
            <a:ext cx="7572213" cy="1226641"/>
          </a:xfrm>
          <a:prstGeom prst="rect">
            <a:avLst/>
          </a:prstGeom>
          <a:noFill/>
          <a:ln/>
        </p:spPr>
        <p:txBody>
          <a:bodyPr wrap="square" lIns="25400" tIns="25400" rIns="25400" bIns="25400" rtlCol="0" anchor="t">
            <a:normAutofit/>
          </a:bodyPr>
          <a:lstStyle/>
          <a:p>
            <a:pPr algn="l" indent="0" marL="0">
              <a:lnSpc>
                <a:spcPct val="104000"/>
              </a:lnSpc>
              <a:buNone/>
            </a:pPr>
            <a:r>
              <a:rPr lang="en-US" sz="4500" b="1" spc="-45" kern="0" dirty="0">
                <a:solidFill>
                  <a:srgbClr val="2E3330"/>
                </a:solidFill>
                <a:latin typeface="Spectral" pitchFamily="34" charset="0"/>
                <a:ea typeface="Spectral" pitchFamily="34" charset="-122"/>
                <a:cs typeface="Spectral" pitchFamily="34" charset="-120"/>
              </a:rPr>
              <a:t>A working demo — proven and ready to scale.</a:t>
            </a:r>
            <a:endParaRPr lang="en-US" sz="4500" dirty="0"/>
          </a:p>
        </p:txBody>
      </p:sp>
      <p:sp>
        <p:nvSpPr>
          <p:cNvPr id="4" name="Shape 2"/>
          <p:cNvSpPr/>
          <p:nvPr/>
        </p:nvSpPr>
        <p:spPr>
          <a:xfrm>
            <a:off x="1143000" y="4347121"/>
            <a:ext cx="16002000" cy="9525"/>
          </a:xfrm>
          <a:prstGeom prst="rect">
            <a:avLst/>
          </a:prstGeom>
          <a:solidFill>
            <a:srgbClr val="DBD6CC"/>
          </a:solidFill>
          <a:ln/>
        </p:spPr>
      </p:sp>
      <p:sp>
        <p:nvSpPr>
          <p:cNvPr id="5" name="Shape 3"/>
          <p:cNvSpPr/>
          <p:nvPr/>
        </p:nvSpPr>
        <p:spPr>
          <a:xfrm>
            <a:off x="1143000" y="4661446"/>
            <a:ext cx="476250" cy="476250"/>
          </a:xfrm>
          <a:prstGeom prst="ellipse">
            <a:avLst/>
          </a:prstGeom>
          <a:solidFill>
            <a:srgbClr val="5FBF7E"/>
          </a:solidFill>
          <a:ln/>
        </p:spPr>
      </p:sp>
      <p:pic>
        <p:nvPicPr>
          <p:cNvPr id="6" name="Image 0" descr="preencoded.png">    </p:cNvPr>
          <p:cNvPicPr>
            <a:picLocks noChangeAspect="1"/>
          </p:cNvPicPr>
          <p:nvPr/>
        </p:nvPicPr>
        <p:blipFill>
          <a:blip r:embed="rId1"/>
          <a:stretch>
            <a:fillRect/>
          </a:stretch>
        </p:blipFill>
        <p:spPr>
          <a:xfrm>
            <a:off x="1257300" y="4775746"/>
            <a:ext cx="247650" cy="247650"/>
          </a:xfrm>
          <a:prstGeom prst="rect">
            <a:avLst/>
          </a:prstGeom>
        </p:spPr>
      </p:pic>
      <p:sp>
        <p:nvSpPr>
          <p:cNvPr id="7" name="Text 4"/>
          <p:cNvSpPr/>
          <p:nvPr/>
        </p:nvSpPr>
        <p:spPr>
          <a:xfrm>
            <a:off x="1905000" y="4664720"/>
            <a:ext cx="7559030" cy="507653"/>
          </a:xfrm>
          <a:prstGeom prst="rect">
            <a:avLst/>
          </a:prstGeom>
          <a:noFill/>
          <a:ln/>
        </p:spPr>
        <p:txBody>
          <a:bodyPr wrap="square" lIns="25400" tIns="25400" rIns="25400" bIns="25400" rtlCol="0" anchor="t">
            <a:normAutofit/>
          </a:bodyPr>
          <a:lstStyle/>
          <a:p>
            <a:pPr algn="l" indent="0" marL="0">
              <a:lnSpc>
                <a:spcPct val="145000"/>
              </a:lnSpc>
              <a:buNone/>
            </a:pPr>
            <a:r>
              <a:rPr lang="en-US" sz="2550" dirty="0">
                <a:solidFill>
                  <a:srgbClr val="2E3330"/>
                </a:solidFill>
                <a:latin typeface="Archivo" pitchFamily="34" charset="0"/>
                <a:ea typeface="Archivo" pitchFamily="34" charset="-122"/>
                <a:cs typeface="Archivo" pitchFamily="34" charset="-120"/>
              </a:rPr>
              <a:t>Live, working demo — publicly accessible right now.</a:t>
            </a:r>
            <a:endParaRPr lang="en-US" sz="2550" dirty="0"/>
          </a:p>
        </p:txBody>
      </p:sp>
      <p:sp>
        <p:nvSpPr>
          <p:cNvPr id="8" name="Shape 5"/>
          <p:cNvSpPr/>
          <p:nvPr/>
        </p:nvSpPr>
        <p:spPr>
          <a:xfrm>
            <a:off x="1143000" y="5442496"/>
            <a:ext cx="16002000" cy="9525"/>
          </a:xfrm>
          <a:prstGeom prst="rect">
            <a:avLst/>
          </a:prstGeom>
          <a:solidFill>
            <a:srgbClr val="DBD6CC"/>
          </a:solidFill>
          <a:ln/>
        </p:spPr>
      </p:sp>
      <p:sp>
        <p:nvSpPr>
          <p:cNvPr id="9" name="Shape 6"/>
          <p:cNvSpPr/>
          <p:nvPr/>
        </p:nvSpPr>
        <p:spPr>
          <a:xfrm>
            <a:off x="1143000" y="5756821"/>
            <a:ext cx="476250" cy="476250"/>
          </a:xfrm>
          <a:prstGeom prst="ellipse">
            <a:avLst/>
          </a:prstGeom>
          <a:solidFill>
            <a:srgbClr val="5FBF7E"/>
          </a:solidFill>
          <a:ln/>
        </p:spPr>
      </p:sp>
      <p:pic>
        <p:nvPicPr>
          <p:cNvPr id="10" name="Image 1" descr="preencoded.png">    </p:cNvPr>
          <p:cNvPicPr>
            <a:picLocks noChangeAspect="1"/>
          </p:cNvPicPr>
          <p:nvPr/>
        </p:nvPicPr>
        <p:blipFill>
          <a:blip r:embed="rId2"/>
          <a:stretch>
            <a:fillRect/>
          </a:stretch>
        </p:blipFill>
        <p:spPr>
          <a:xfrm>
            <a:off x="1257300" y="5871121"/>
            <a:ext cx="247650" cy="247650"/>
          </a:xfrm>
          <a:prstGeom prst="rect">
            <a:avLst/>
          </a:prstGeom>
        </p:spPr>
      </p:pic>
      <p:sp>
        <p:nvSpPr>
          <p:cNvPr id="11" name="Text 7"/>
          <p:cNvSpPr/>
          <p:nvPr/>
        </p:nvSpPr>
        <p:spPr>
          <a:xfrm>
            <a:off x="1905000" y="5760095"/>
            <a:ext cx="6902169" cy="507653"/>
          </a:xfrm>
          <a:prstGeom prst="rect">
            <a:avLst/>
          </a:prstGeom>
          <a:noFill/>
          <a:ln/>
        </p:spPr>
        <p:txBody>
          <a:bodyPr wrap="square" lIns="25400" tIns="25400" rIns="25400" bIns="25400" rtlCol="0" anchor="t">
            <a:normAutofit/>
          </a:bodyPr>
          <a:lstStyle/>
          <a:p>
            <a:pPr algn="l" indent="0" marL="0">
              <a:lnSpc>
                <a:spcPct val="145000"/>
              </a:lnSpc>
              <a:buNone/>
            </a:pPr>
            <a:r>
              <a:rPr lang="en-US" sz="2550" dirty="0">
                <a:solidFill>
                  <a:srgbClr val="2E3330"/>
                </a:solidFill>
                <a:latin typeface="Archivo" pitchFamily="34" charset="0"/>
                <a:ea typeface="Archivo" pitchFamily="34" charset="-122"/>
                <a:cs typeface="Archivo" pitchFamily="34" charset="-120"/>
              </a:rPr>
              <a:t>Cross-sermon search and click-to-play, proven.</a:t>
            </a:r>
            <a:endParaRPr lang="en-US" sz="2550" dirty="0"/>
          </a:p>
        </p:txBody>
      </p:sp>
      <p:sp>
        <p:nvSpPr>
          <p:cNvPr id="12" name="Shape 8"/>
          <p:cNvSpPr/>
          <p:nvPr/>
        </p:nvSpPr>
        <p:spPr>
          <a:xfrm>
            <a:off x="1143000" y="7633246"/>
            <a:ext cx="16002000" cy="9525"/>
          </a:xfrm>
          <a:prstGeom prst="rect">
            <a:avLst/>
          </a:prstGeom>
          <a:solidFill>
            <a:srgbClr val="DBD6CC"/>
          </a:solidFill>
          <a:ln/>
        </p:spPr>
      </p:sp>
      <p:sp>
        <p:nvSpPr>
          <p:cNvPr id="13" name="Shape 9"/>
          <p:cNvSpPr/>
          <p:nvPr/>
        </p:nvSpPr>
        <p:spPr>
          <a:xfrm>
            <a:off x="1143000" y="6537871"/>
            <a:ext cx="16002000" cy="9525"/>
          </a:xfrm>
          <a:prstGeom prst="rect">
            <a:avLst/>
          </a:prstGeom>
          <a:solidFill>
            <a:srgbClr val="DBD6CC"/>
          </a:solidFill>
          <a:ln/>
        </p:spPr>
      </p:sp>
      <p:sp>
        <p:nvSpPr>
          <p:cNvPr id="14" name="Shape 10"/>
          <p:cNvSpPr/>
          <p:nvPr/>
        </p:nvSpPr>
        <p:spPr>
          <a:xfrm>
            <a:off x="1143000" y="6852196"/>
            <a:ext cx="476250" cy="476250"/>
          </a:xfrm>
          <a:prstGeom prst="ellipse">
            <a:avLst/>
          </a:prstGeom>
          <a:solidFill>
            <a:srgbClr val="3C7C92">
              <a:alpha val="14000"/>
            </a:srgbClr>
          </a:solidFill>
          <a:ln/>
        </p:spPr>
      </p:sp>
      <p:pic>
        <p:nvPicPr>
          <p:cNvPr id="15" name="Image 2" descr="preencoded.png">    </p:cNvPr>
          <p:cNvPicPr>
            <a:picLocks noChangeAspect="1"/>
          </p:cNvPicPr>
          <p:nvPr/>
        </p:nvPicPr>
        <p:blipFill>
          <a:blip r:embed="rId3"/>
          <a:stretch>
            <a:fillRect/>
          </a:stretch>
        </p:blipFill>
        <p:spPr>
          <a:xfrm>
            <a:off x="1257300" y="6966496"/>
            <a:ext cx="247650" cy="247650"/>
          </a:xfrm>
          <a:prstGeom prst="rect">
            <a:avLst/>
          </a:prstGeom>
        </p:spPr>
      </p:pic>
      <p:sp>
        <p:nvSpPr>
          <p:cNvPr id="16" name="Text 11"/>
          <p:cNvSpPr/>
          <p:nvPr/>
        </p:nvSpPr>
        <p:spPr>
          <a:xfrm>
            <a:off x="1905000" y="6855470"/>
            <a:ext cx="10142016" cy="507653"/>
          </a:xfrm>
          <a:prstGeom prst="rect">
            <a:avLst/>
          </a:prstGeom>
          <a:noFill/>
          <a:ln/>
        </p:spPr>
        <p:txBody>
          <a:bodyPr wrap="square" lIns="25400" tIns="25400" rIns="25400" bIns="25400" rtlCol="0" anchor="t">
            <a:normAutofit/>
          </a:bodyPr>
          <a:lstStyle/>
          <a:p>
            <a:pPr algn="l" indent="0" marL="0">
              <a:lnSpc>
                <a:spcPct val="145000"/>
              </a:lnSpc>
              <a:buNone/>
            </a:pPr>
            <a:r>
              <a:rPr lang="en-US" sz="2550" dirty="0">
                <a:solidFill>
                  <a:srgbClr val="2E3330"/>
                </a:solidFill>
                <a:latin typeface="Archivo" pitchFamily="34" charset="0"/>
                <a:ea typeface="Archivo" pitchFamily="34" charset="-122"/>
                <a:cs typeface="Archivo" pitchFamily="34" charset="-120"/>
              </a:rPr>
              <a:t>Indexing a sample of two sermons — ready to scale to the full archive.</a:t>
            </a:r>
            <a:endParaRPr lang="en-US" sz="2550" dirty="0"/>
          </a:p>
        </p:txBody>
      </p:sp>
      <p:sp>
        <p:nvSpPr>
          <p:cNvPr id="17" name="Text 12"/>
          <p:cNvSpPr/>
          <p:nvPr/>
        </p:nvSpPr>
        <p:spPr>
          <a:xfrm>
            <a:off x="16870561" y="9572625"/>
            <a:ext cx="350639" cy="314325"/>
          </a:xfrm>
          <a:prstGeom prst="rect">
            <a:avLst/>
          </a:prstGeom>
          <a:noFill/>
          <a:ln/>
        </p:spPr>
        <p:txBody>
          <a:bodyPr wrap="square" lIns="25400" tIns="25400" rIns="25400" bIns="25400" rtlCol="0" anchor="t">
            <a:normAutofit/>
          </a:bodyPr>
          <a:lstStyle/>
          <a:p>
            <a:pPr algn="l" indent="0" marL="0">
              <a:buNone/>
            </a:pPr>
            <a:r>
              <a:rPr lang="en-US" sz="1800" b="1" dirty="0">
                <a:solidFill>
                  <a:srgbClr val="A9ADA4"/>
                </a:solidFill>
                <a:latin typeface="Spline Sans Mono" pitchFamily="34" charset="0"/>
                <a:ea typeface="Spline Sans Mono" pitchFamily="34" charset="-122"/>
                <a:cs typeface="Spline Sans Mono" pitchFamily="34" charset="-120"/>
              </a:rPr>
              <a:t>07</a:t>
            </a:r>
            <a:endParaRPr lang="en-US" sz="1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solidFill>
            <a:srgbClr val="38403A"/>
          </a:solidFill>
          <a:ln/>
        </p:spPr>
      </p:sp>
      <p:sp>
        <p:nvSpPr>
          <p:cNvPr id="3" name="Text 1"/>
          <p:cNvSpPr/>
          <p:nvPr/>
        </p:nvSpPr>
        <p:spPr>
          <a:xfrm>
            <a:off x="1143000" y="876300"/>
            <a:ext cx="16482060" cy="285750"/>
          </a:xfrm>
          <a:prstGeom prst="rect">
            <a:avLst/>
          </a:prstGeom>
          <a:noFill/>
          <a:ln/>
        </p:spPr>
        <p:txBody>
          <a:bodyPr wrap="square" lIns="25400" tIns="25400" rIns="25400" bIns="25400" rtlCol="0" anchor="t">
            <a:normAutofit/>
          </a:bodyPr>
          <a:lstStyle/>
          <a:p>
            <a:pPr algn="l" indent="0" marL="0">
              <a:buNone/>
            </a:pPr>
            <a:r>
              <a:rPr lang="en-US" sz="1800" b="1" spc="396" kern="0" dirty="0">
                <a:solidFill>
                  <a:srgbClr val="86BAC9"/>
                </a:solidFill>
                <a:latin typeface="Archivo" pitchFamily="34" charset="0"/>
                <a:ea typeface="Archivo" pitchFamily="34" charset="-122"/>
                <a:cs typeface="Archivo" pitchFamily="34" charset="-120"/>
              </a:rPr>
              <a:t>WHERE IT GOES NEXT</a:t>
            </a:r>
            <a:endParaRPr lang="en-US" sz="1800" dirty="0"/>
          </a:p>
        </p:txBody>
      </p:sp>
      <p:sp>
        <p:nvSpPr>
          <p:cNvPr id="4" name="Text 2"/>
          <p:cNvSpPr/>
          <p:nvPr/>
        </p:nvSpPr>
        <p:spPr>
          <a:xfrm>
            <a:off x="1143000" y="1314450"/>
            <a:ext cx="16482060" cy="632371"/>
          </a:xfrm>
          <a:prstGeom prst="rect">
            <a:avLst/>
          </a:prstGeom>
          <a:noFill/>
          <a:ln/>
        </p:spPr>
        <p:txBody>
          <a:bodyPr wrap="square" lIns="25400" tIns="25400" rIns="25400" bIns="25400" rtlCol="0" anchor="t">
            <a:normAutofit/>
          </a:bodyPr>
          <a:lstStyle/>
          <a:p>
            <a:pPr algn="l" indent="0" marL="0">
              <a:lnSpc>
                <a:spcPct val="104000"/>
              </a:lnSpc>
              <a:buNone/>
            </a:pPr>
            <a:r>
              <a:rPr lang="en-US" sz="4500" b="1" spc="-45" kern="0" dirty="0">
                <a:solidFill>
                  <a:srgbClr val="F4F1EA"/>
                </a:solidFill>
                <a:latin typeface="Spectral" pitchFamily="34" charset="0"/>
                <a:ea typeface="Spectral" pitchFamily="34" charset="-122"/>
                <a:cs typeface="Spectral" pitchFamily="34" charset="-120"/>
              </a:rPr>
              <a:t>The roadmap, in four phases.</a:t>
            </a:r>
            <a:endParaRPr lang="en-US" sz="4500" dirty="0"/>
          </a:p>
        </p:txBody>
      </p:sp>
      <p:sp>
        <p:nvSpPr>
          <p:cNvPr id="5" name="Shape 3"/>
          <p:cNvSpPr/>
          <p:nvPr/>
        </p:nvSpPr>
        <p:spPr>
          <a:xfrm>
            <a:off x="1143000" y="2480518"/>
            <a:ext cx="16002000" cy="9525"/>
          </a:xfrm>
          <a:prstGeom prst="rect">
            <a:avLst/>
          </a:prstGeom>
          <a:solidFill>
            <a:srgbClr val="F4F1EA">
              <a:alpha val="16000"/>
            </a:srgbClr>
          </a:solidFill>
          <a:ln/>
        </p:spPr>
      </p:sp>
      <p:sp>
        <p:nvSpPr>
          <p:cNvPr id="6" name="Text 4"/>
          <p:cNvSpPr/>
          <p:nvPr/>
        </p:nvSpPr>
        <p:spPr>
          <a:xfrm>
            <a:off x="1143000" y="2819549"/>
            <a:ext cx="1333500" cy="266700"/>
          </a:xfrm>
          <a:prstGeom prst="rect">
            <a:avLst/>
          </a:prstGeom>
          <a:noFill/>
          <a:ln/>
        </p:spPr>
        <p:txBody>
          <a:bodyPr wrap="square" lIns="25400" tIns="25400" rIns="25400" bIns="25400" rtlCol="0" anchor="t">
            <a:normAutofit/>
          </a:bodyPr>
          <a:lstStyle/>
          <a:p>
            <a:pPr algn="l" indent="0" marL="0">
              <a:lnSpc>
                <a:spcPct val="100000"/>
              </a:lnSpc>
              <a:buNone/>
            </a:pPr>
            <a:r>
              <a:rPr lang="en-US" sz="1800" b="1" spc="252" kern="0" dirty="0">
                <a:solidFill>
                  <a:srgbClr val="86BAC9"/>
                </a:solidFill>
                <a:latin typeface="Archivo" pitchFamily="34" charset="0"/>
                <a:ea typeface="Archivo" pitchFamily="34" charset="-122"/>
                <a:cs typeface="Archivo" pitchFamily="34" charset="-120"/>
              </a:rPr>
              <a:t>PHASE</a:t>
            </a:r>
            <a:endParaRPr lang="en-US" sz="1800" dirty="0"/>
          </a:p>
        </p:txBody>
      </p:sp>
      <p:sp>
        <p:nvSpPr>
          <p:cNvPr id="7" name="Text 5"/>
          <p:cNvSpPr/>
          <p:nvPr/>
        </p:nvSpPr>
        <p:spPr>
          <a:xfrm>
            <a:off x="1143000" y="3076724"/>
            <a:ext cx="1333500" cy="590550"/>
          </a:xfrm>
          <a:prstGeom prst="rect">
            <a:avLst/>
          </a:prstGeom>
          <a:noFill/>
          <a:ln/>
        </p:spPr>
        <p:txBody>
          <a:bodyPr wrap="square" lIns="25400" tIns="25400" rIns="25400" bIns="25400" rtlCol="0" anchor="t">
            <a:normAutofit/>
          </a:bodyPr>
          <a:lstStyle/>
          <a:p>
            <a:pPr algn="l" indent="0" marL="0">
              <a:lnSpc>
                <a:spcPct val="100000"/>
              </a:lnSpc>
              <a:buNone/>
            </a:pPr>
            <a:r>
              <a:rPr lang="en-US" sz="4350" b="1" dirty="0">
                <a:solidFill>
                  <a:srgbClr val="F4F1EA"/>
                </a:solidFill>
                <a:latin typeface="Spectral" pitchFamily="34" charset="0"/>
                <a:ea typeface="Spectral" pitchFamily="34" charset="-122"/>
                <a:cs typeface="Spectral" pitchFamily="34" charset="-120"/>
              </a:rPr>
              <a:t>1</a:t>
            </a:r>
            <a:endParaRPr lang="en-US" sz="4350" dirty="0"/>
          </a:p>
        </p:txBody>
      </p:sp>
      <p:sp>
        <p:nvSpPr>
          <p:cNvPr id="8" name="Text 6"/>
          <p:cNvSpPr/>
          <p:nvPr/>
        </p:nvSpPr>
        <p:spPr>
          <a:xfrm>
            <a:off x="2781300" y="2699593"/>
            <a:ext cx="12156899" cy="371475"/>
          </a:xfrm>
          <a:prstGeom prst="rect">
            <a:avLst/>
          </a:prstGeom>
          <a:noFill/>
          <a:ln/>
        </p:spPr>
        <p:txBody>
          <a:bodyPr wrap="square" lIns="25400" tIns="25400" rIns="25400" bIns="25400" rtlCol="0" anchor="t">
            <a:normAutofit/>
          </a:bodyPr>
          <a:lstStyle/>
          <a:p>
            <a:pPr algn="l" indent="0" marL="0">
              <a:buNone/>
            </a:pPr>
            <a:r>
              <a:rPr lang="en-US" sz="2400" b="1" dirty="0">
                <a:solidFill>
                  <a:srgbClr val="F4F1EA"/>
                </a:solidFill>
                <a:latin typeface="Archivo" pitchFamily="34" charset="0"/>
                <a:ea typeface="Archivo" pitchFamily="34" charset="-122"/>
                <a:cs typeface="Archivo" pitchFamily="34" charset="-120"/>
              </a:rPr>
              <a:t>The whole archive</a:t>
            </a:r>
            <a:endParaRPr lang="en-US" sz="2400" dirty="0"/>
          </a:p>
        </p:txBody>
      </p:sp>
      <p:sp>
        <p:nvSpPr>
          <p:cNvPr id="9" name="Text 7"/>
          <p:cNvSpPr/>
          <p:nvPr/>
        </p:nvSpPr>
        <p:spPr>
          <a:xfrm>
            <a:off x="2781300" y="3109168"/>
            <a:ext cx="8090803" cy="678061"/>
          </a:xfrm>
          <a:prstGeom prst="rect">
            <a:avLst/>
          </a:prstGeom>
          <a:noFill/>
          <a:ln/>
        </p:spPr>
        <p:txBody>
          <a:bodyPr wrap="square" lIns="25400" tIns="25400" rIns="25400" bIns="25400" rtlCol="0" anchor="t">
            <a:normAutofit/>
          </a:bodyPr>
          <a:lstStyle/>
          <a:p>
            <a:pPr algn="l" indent="0" marL="0">
              <a:lnSpc>
                <a:spcPct val="140000"/>
              </a:lnSpc>
              <a:buNone/>
            </a:pPr>
            <a:r>
              <a:rPr lang="en-US" sz="1800" dirty="0">
                <a:solidFill>
                  <a:srgbClr val="AEB4AC"/>
                </a:solidFill>
                <a:latin typeface="Archivo" pitchFamily="34" charset="0"/>
                <a:ea typeface="Archivo" pitchFamily="34" charset="-122"/>
                <a:cs typeface="Archivo" pitchFamily="34" charset="-120"/>
              </a:rPr>
              <a:t>Ingest all twelve years, and auto-pull each sermon’s title, date, series, speaker, and scripture so results are richly labeled.</a:t>
            </a:r>
            <a:endParaRPr lang="en-US" sz="1800" dirty="0"/>
          </a:p>
        </p:txBody>
      </p:sp>
      <p:sp>
        <p:nvSpPr>
          <p:cNvPr id="10" name="Shape 8"/>
          <p:cNvSpPr/>
          <p:nvPr/>
        </p:nvSpPr>
        <p:spPr>
          <a:xfrm>
            <a:off x="14965114" y="2986236"/>
            <a:ext cx="2179886" cy="476250"/>
          </a:xfrm>
          <a:prstGeom prst="roundRect">
            <a:avLst>
              <a:gd name="adj" fmla="val 50000"/>
            </a:avLst>
          </a:prstGeom>
          <a:ln w="9525">
            <a:solidFill>
              <a:srgbClr val="86BAC9">
                <a:alpha val="40000"/>
              </a:srgbClr>
            </a:solidFill>
            <a:prstDash val="solid"/>
          </a:ln>
        </p:spPr>
      </p:sp>
      <p:sp>
        <p:nvSpPr>
          <p:cNvPr id="11" name="Shape 9"/>
          <p:cNvSpPr/>
          <p:nvPr/>
        </p:nvSpPr>
        <p:spPr>
          <a:xfrm>
            <a:off x="15184189" y="3176736"/>
            <a:ext cx="95250" cy="95250"/>
          </a:xfrm>
          <a:prstGeom prst="ellipse">
            <a:avLst/>
          </a:prstGeom>
          <a:solidFill>
            <a:srgbClr val="5FBF7E"/>
          </a:solidFill>
          <a:ln/>
        </p:spPr>
      </p:sp>
      <p:sp>
        <p:nvSpPr>
          <p:cNvPr id="12" name="Text 10"/>
          <p:cNvSpPr/>
          <p:nvPr/>
        </p:nvSpPr>
        <p:spPr>
          <a:xfrm>
            <a:off x="15384214" y="3100536"/>
            <a:ext cx="1617911" cy="285750"/>
          </a:xfrm>
          <a:prstGeom prst="rect">
            <a:avLst/>
          </a:prstGeom>
          <a:noFill/>
          <a:ln/>
        </p:spPr>
        <p:txBody>
          <a:bodyPr wrap="square" lIns="0" tIns="0" rIns="0" bIns="0" rtlCol="0" anchor="t">
            <a:normAutofit/>
          </a:bodyPr>
          <a:lstStyle/>
          <a:p>
            <a:pPr algn="l" indent="0" marL="0">
              <a:buNone/>
            </a:pPr>
            <a:r>
              <a:rPr lang="en-US" sz="1800" b="1" dirty="0">
                <a:solidFill>
                  <a:srgbClr val="9FC9D6"/>
                </a:solidFill>
                <a:latin typeface="Archivo" pitchFamily="34" charset="0"/>
                <a:ea typeface="Archivo" pitchFamily="34" charset="-122"/>
                <a:cs typeface="Archivo" pitchFamily="34" charset="-120"/>
              </a:rPr>
              <a:t>Near-zero cost</a:t>
            </a:r>
            <a:endParaRPr lang="en-US" sz="1800" dirty="0"/>
          </a:p>
        </p:txBody>
      </p:sp>
      <p:sp>
        <p:nvSpPr>
          <p:cNvPr id="13" name="Shape 11"/>
          <p:cNvSpPr/>
          <p:nvPr/>
        </p:nvSpPr>
        <p:spPr>
          <a:xfrm>
            <a:off x="1143000" y="3958679"/>
            <a:ext cx="16002000" cy="9525"/>
          </a:xfrm>
          <a:prstGeom prst="rect">
            <a:avLst/>
          </a:prstGeom>
          <a:solidFill>
            <a:srgbClr val="F4F1EA">
              <a:alpha val="16000"/>
            </a:srgbClr>
          </a:solidFill>
          <a:ln/>
        </p:spPr>
      </p:sp>
      <p:sp>
        <p:nvSpPr>
          <p:cNvPr id="14" name="Text 12"/>
          <p:cNvSpPr/>
          <p:nvPr/>
        </p:nvSpPr>
        <p:spPr>
          <a:xfrm>
            <a:off x="1143000" y="4297710"/>
            <a:ext cx="1333500" cy="266700"/>
          </a:xfrm>
          <a:prstGeom prst="rect">
            <a:avLst/>
          </a:prstGeom>
          <a:noFill/>
          <a:ln/>
        </p:spPr>
        <p:txBody>
          <a:bodyPr wrap="square" lIns="25400" tIns="25400" rIns="25400" bIns="25400" rtlCol="0" anchor="t">
            <a:normAutofit/>
          </a:bodyPr>
          <a:lstStyle/>
          <a:p>
            <a:pPr algn="l" indent="0" marL="0">
              <a:lnSpc>
                <a:spcPct val="100000"/>
              </a:lnSpc>
              <a:buNone/>
            </a:pPr>
            <a:r>
              <a:rPr lang="en-US" sz="1800" b="1" spc="252" kern="0" dirty="0">
                <a:solidFill>
                  <a:srgbClr val="86BAC9"/>
                </a:solidFill>
                <a:latin typeface="Archivo" pitchFamily="34" charset="0"/>
                <a:ea typeface="Archivo" pitchFamily="34" charset="-122"/>
                <a:cs typeface="Archivo" pitchFamily="34" charset="-120"/>
              </a:rPr>
              <a:t>PHASE</a:t>
            </a:r>
            <a:endParaRPr lang="en-US" sz="1800" dirty="0"/>
          </a:p>
        </p:txBody>
      </p:sp>
      <p:sp>
        <p:nvSpPr>
          <p:cNvPr id="15" name="Text 13"/>
          <p:cNvSpPr/>
          <p:nvPr/>
        </p:nvSpPr>
        <p:spPr>
          <a:xfrm>
            <a:off x="1143000" y="4554885"/>
            <a:ext cx="1333500" cy="590550"/>
          </a:xfrm>
          <a:prstGeom prst="rect">
            <a:avLst/>
          </a:prstGeom>
          <a:noFill/>
          <a:ln/>
        </p:spPr>
        <p:txBody>
          <a:bodyPr wrap="square" lIns="25400" tIns="25400" rIns="25400" bIns="25400" rtlCol="0" anchor="t">
            <a:normAutofit/>
          </a:bodyPr>
          <a:lstStyle/>
          <a:p>
            <a:pPr algn="l" indent="0" marL="0">
              <a:lnSpc>
                <a:spcPct val="100000"/>
              </a:lnSpc>
              <a:buNone/>
            </a:pPr>
            <a:r>
              <a:rPr lang="en-US" sz="4350" b="1" dirty="0">
                <a:solidFill>
                  <a:srgbClr val="F4F1EA"/>
                </a:solidFill>
                <a:latin typeface="Spectral" pitchFamily="34" charset="0"/>
                <a:ea typeface="Spectral" pitchFamily="34" charset="-122"/>
                <a:cs typeface="Spectral" pitchFamily="34" charset="-120"/>
              </a:rPr>
              <a:t>2</a:t>
            </a:r>
            <a:endParaRPr lang="en-US" sz="4350" dirty="0"/>
          </a:p>
        </p:txBody>
      </p:sp>
      <p:sp>
        <p:nvSpPr>
          <p:cNvPr id="16" name="Text 14"/>
          <p:cNvSpPr/>
          <p:nvPr/>
        </p:nvSpPr>
        <p:spPr>
          <a:xfrm>
            <a:off x="2781300" y="4177754"/>
            <a:ext cx="12773290" cy="371475"/>
          </a:xfrm>
          <a:prstGeom prst="rect">
            <a:avLst/>
          </a:prstGeom>
          <a:noFill/>
          <a:ln/>
        </p:spPr>
        <p:txBody>
          <a:bodyPr wrap="square" lIns="25400" tIns="25400" rIns="25400" bIns="25400" rtlCol="0" anchor="t">
            <a:normAutofit/>
          </a:bodyPr>
          <a:lstStyle/>
          <a:p>
            <a:pPr algn="l" indent="0" marL="0">
              <a:buNone/>
            </a:pPr>
            <a:r>
              <a:rPr lang="en-US" sz="2400" b="1" dirty="0">
                <a:solidFill>
                  <a:srgbClr val="F4F1EA"/>
                </a:solidFill>
                <a:latin typeface="Archivo" pitchFamily="34" charset="0"/>
                <a:ea typeface="Archivo" pitchFamily="34" charset="-122"/>
                <a:cs typeface="Archivo" pitchFamily="34" charset="-120"/>
              </a:rPr>
              <a:t>Better search</a:t>
            </a:r>
            <a:endParaRPr lang="en-US" sz="2400" dirty="0"/>
          </a:p>
        </p:txBody>
      </p:sp>
      <p:sp>
        <p:nvSpPr>
          <p:cNvPr id="17" name="Text 15"/>
          <p:cNvSpPr/>
          <p:nvPr/>
        </p:nvSpPr>
        <p:spPr>
          <a:xfrm>
            <a:off x="2781300" y="4587329"/>
            <a:ext cx="8090803" cy="678061"/>
          </a:xfrm>
          <a:prstGeom prst="rect">
            <a:avLst/>
          </a:prstGeom>
          <a:noFill/>
          <a:ln/>
        </p:spPr>
        <p:txBody>
          <a:bodyPr wrap="square" lIns="25400" tIns="25400" rIns="25400" bIns="25400" rtlCol="0" anchor="t">
            <a:normAutofit/>
          </a:bodyPr>
          <a:lstStyle/>
          <a:p>
            <a:pPr algn="l" indent="0" marL="0">
              <a:lnSpc>
                <a:spcPct val="140000"/>
              </a:lnSpc>
              <a:buNone/>
            </a:pPr>
            <a:r>
              <a:rPr lang="en-US" sz="1800" dirty="0">
                <a:solidFill>
                  <a:srgbClr val="AEB4AC"/>
                </a:solidFill>
                <a:latin typeface="Archivo" pitchFamily="34" charset="0"/>
                <a:ea typeface="Archivo" pitchFamily="34" charset="-122"/>
                <a:cs typeface="Archivo" pitchFamily="34" charset="-120"/>
              </a:rPr>
              <a:t>Upgrade to a real search engine for thousands of sermons: ranking, exact phrases, and filters by Bible book, series, speaker, and date range.</a:t>
            </a:r>
            <a:endParaRPr lang="en-US" sz="1800" dirty="0"/>
          </a:p>
        </p:txBody>
      </p:sp>
      <p:sp>
        <p:nvSpPr>
          <p:cNvPr id="18" name="Shape 16"/>
          <p:cNvSpPr/>
          <p:nvPr/>
        </p:nvSpPr>
        <p:spPr>
          <a:xfrm>
            <a:off x="15563552" y="4307235"/>
            <a:ext cx="1581448" cy="476250"/>
          </a:xfrm>
          <a:prstGeom prst="roundRect">
            <a:avLst>
              <a:gd name="adj" fmla="val 50000"/>
            </a:avLst>
          </a:prstGeom>
          <a:ln w="9525">
            <a:solidFill>
              <a:srgbClr val="86BAC9">
                <a:alpha val="40000"/>
              </a:srgbClr>
            </a:solidFill>
            <a:prstDash val="solid"/>
          </a:ln>
        </p:spPr>
      </p:sp>
      <p:sp>
        <p:nvSpPr>
          <p:cNvPr id="19" name="Shape 17"/>
          <p:cNvSpPr/>
          <p:nvPr/>
        </p:nvSpPr>
        <p:spPr>
          <a:xfrm>
            <a:off x="15782627" y="4497735"/>
            <a:ext cx="95250" cy="95250"/>
          </a:xfrm>
          <a:prstGeom prst="ellipse">
            <a:avLst/>
          </a:prstGeom>
          <a:solidFill>
            <a:srgbClr val="D8A24A"/>
          </a:solidFill>
          <a:ln/>
        </p:spPr>
      </p:sp>
      <p:sp>
        <p:nvSpPr>
          <p:cNvPr id="20" name="Text 18"/>
          <p:cNvSpPr/>
          <p:nvPr/>
        </p:nvSpPr>
        <p:spPr>
          <a:xfrm>
            <a:off x="15982652" y="4421535"/>
            <a:ext cx="1019473" cy="285750"/>
          </a:xfrm>
          <a:prstGeom prst="rect">
            <a:avLst/>
          </a:prstGeom>
          <a:noFill/>
          <a:ln/>
        </p:spPr>
        <p:txBody>
          <a:bodyPr wrap="square" lIns="0" tIns="0" rIns="0" bIns="0" rtlCol="0" anchor="t">
            <a:normAutofit/>
          </a:bodyPr>
          <a:lstStyle/>
          <a:p>
            <a:pPr algn="l" indent="0" marL="0">
              <a:buNone/>
            </a:pPr>
            <a:r>
              <a:rPr lang="en-US" sz="1800" b="1" dirty="0">
                <a:solidFill>
                  <a:srgbClr val="9FC9D6"/>
                </a:solidFill>
                <a:latin typeface="Archivo" pitchFamily="34" charset="0"/>
                <a:ea typeface="Archivo" pitchFamily="34" charset="-122"/>
                <a:cs typeface="Archivo" pitchFamily="34" charset="-120"/>
              </a:rPr>
              <a:t>Low cost</a:t>
            </a:r>
            <a:endParaRPr lang="en-US" sz="1800" dirty="0"/>
          </a:p>
        </p:txBody>
      </p:sp>
      <p:sp>
        <p:nvSpPr>
          <p:cNvPr id="21" name="Text 19"/>
          <p:cNvSpPr/>
          <p:nvPr/>
        </p:nvSpPr>
        <p:spPr>
          <a:xfrm>
            <a:off x="15784860" y="4869210"/>
            <a:ext cx="1436340" cy="266700"/>
          </a:xfrm>
          <a:prstGeom prst="rect">
            <a:avLst/>
          </a:prstGeom>
          <a:noFill/>
          <a:ln/>
        </p:spPr>
        <p:txBody>
          <a:bodyPr wrap="square" lIns="25400" tIns="25400" rIns="25400" bIns="25400" rtlCol="0" anchor="t">
            <a:normAutofit/>
          </a:bodyPr>
          <a:lstStyle/>
          <a:p>
            <a:pPr algn="l" indent="0" marL="0">
              <a:buNone/>
            </a:pPr>
            <a:r>
              <a:rPr lang="en-US" sz="1650" dirty="0">
                <a:solidFill>
                  <a:srgbClr val="AEB4AC"/>
                </a:solidFill>
                <a:latin typeface="Archivo" pitchFamily="34" charset="0"/>
                <a:ea typeface="Archivo" pitchFamily="34" charset="-122"/>
                <a:cs typeface="Archivo" pitchFamily="34" charset="-120"/>
              </a:rPr>
              <a:t>up to ~$30/mo</a:t>
            </a:r>
            <a:endParaRPr lang="en-US" sz="1650" dirty="0"/>
          </a:p>
        </p:txBody>
      </p:sp>
      <p:sp>
        <p:nvSpPr>
          <p:cNvPr id="22" name="Shape 20"/>
          <p:cNvSpPr/>
          <p:nvPr/>
        </p:nvSpPr>
        <p:spPr>
          <a:xfrm>
            <a:off x="1143000" y="5436840"/>
            <a:ext cx="16002000" cy="9525"/>
          </a:xfrm>
          <a:prstGeom prst="rect">
            <a:avLst/>
          </a:prstGeom>
          <a:solidFill>
            <a:srgbClr val="F4F1EA">
              <a:alpha val="16000"/>
            </a:srgbClr>
          </a:solidFill>
          <a:ln/>
        </p:spPr>
      </p:sp>
      <p:sp>
        <p:nvSpPr>
          <p:cNvPr id="23" name="Text 21"/>
          <p:cNvSpPr/>
          <p:nvPr/>
        </p:nvSpPr>
        <p:spPr>
          <a:xfrm>
            <a:off x="1143000" y="5775871"/>
            <a:ext cx="1333500" cy="266700"/>
          </a:xfrm>
          <a:prstGeom prst="rect">
            <a:avLst/>
          </a:prstGeom>
          <a:noFill/>
          <a:ln/>
        </p:spPr>
        <p:txBody>
          <a:bodyPr wrap="square" lIns="25400" tIns="25400" rIns="25400" bIns="25400" rtlCol="0" anchor="t">
            <a:normAutofit/>
          </a:bodyPr>
          <a:lstStyle/>
          <a:p>
            <a:pPr algn="l" indent="0" marL="0">
              <a:lnSpc>
                <a:spcPct val="100000"/>
              </a:lnSpc>
              <a:buNone/>
            </a:pPr>
            <a:r>
              <a:rPr lang="en-US" sz="1800" b="1" spc="252" kern="0" dirty="0">
                <a:solidFill>
                  <a:srgbClr val="86BAC9"/>
                </a:solidFill>
                <a:latin typeface="Archivo" pitchFamily="34" charset="0"/>
                <a:ea typeface="Archivo" pitchFamily="34" charset="-122"/>
                <a:cs typeface="Archivo" pitchFamily="34" charset="-120"/>
              </a:rPr>
              <a:t>PHASE</a:t>
            </a:r>
            <a:endParaRPr lang="en-US" sz="1800" dirty="0"/>
          </a:p>
        </p:txBody>
      </p:sp>
      <p:sp>
        <p:nvSpPr>
          <p:cNvPr id="24" name="Text 22"/>
          <p:cNvSpPr/>
          <p:nvPr/>
        </p:nvSpPr>
        <p:spPr>
          <a:xfrm>
            <a:off x="1143000" y="6033046"/>
            <a:ext cx="1333500" cy="590550"/>
          </a:xfrm>
          <a:prstGeom prst="rect">
            <a:avLst/>
          </a:prstGeom>
          <a:noFill/>
          <a:ln/>
        </p:spPr>
        <p:txBody>
          <a:bodyPr wrap="square" lIns="25400" tIns="25400" rIns="25400" bIns="25400" rtlCol="0" anchor="t">
            <a:normAutofit/>
          </a:bodyPr>
          <a:lstStyle/>
          <a:p>
            <a:pPr algn="l" indent="0" marL="0">
              <a:lnSpc>
                <a:spcPct val="100000"/>
              </a:lnSpc>
              <a:buNone/>
            </a:pPr>
            <a:r>
              <a:rPr lang="en-US" sz="4350" b="1" dirty="0">
                <a:solidFill>
                  <a:srgbClr val="F4F1EA"/>
                </a:solidFill>
                <a:latin typeface="Spectral" pitchFamily="34" charset="0"/>
                <a:ea typeface="Spectral" pitchFamily="34" charset="-122"/>
                <a:cs typeface="Spectral" pitchFamily="34" charset="-120"/>
              </a:rPr>
              <a:t>3</a:t>
            </a:r>
            <a:endParaRPr lang="en-US" sz="4350" dirty="0"/>
          </a:p>
        </p:txBody>
      </p:sp>
      <p:sp>
        <p:nvSpPr>
          <p:cNvPr id="25" name="Text 23"/>
          <p:cNvSpPr/>
          <p:nvPr/>
        </p:nvSpPr>
        <p:spPr>
          <a:xfrm>
            <a:off x="2781300" y="5655915"/>
            <a:ext cx="12156899" cy="371475"/>
          </a:xfrm>
          <a:prstGeom prst="rect">
            <a:avLst/>
          </a:prstGeom>
          <a:noFill/>
          <a:ln/>
        </p:spPr>
        <p:txBody>
          <a:bodyPr wrap="square" lIns="25400" tIns="25400" rIns="25400" bIns="25400" rtlCol="0" anchor="t">
            <a:normAutofit/>
          </a:bodyPr>
          <a:lstStyle/>
          <a:p>
            <a:pPr algn="l" indent="0" marL="0">
              <a:buNone/>
            </a:pPr>
            <a:r>
              <a:rPr lang="en-US" sz="2400" b="1" dirty="0">
                <a:solidFill>
                  <a:srgbClr val="F4F1EA"/>
                </a:solidFill>
                <a:latin typeface="Archivo" pitchFamily="34" charset="0"/>
                <a:ea typeface="Archivo" pitchFamily="34" charset="-122"/>
                <a:cs typeface="Archivo" pitchFamily="34" charset="-120"/>
              </a:rPr>
              <a:t>Watch, not just listen</a:t>
            </a:r>
            <a:endParaRPr lang="en-US" sz="2400" dirty="0"/>
          </a:p>
        </p:txBody>
      </p:sp>
      <p:sp>
        <p:nvSpPr>
          <p:cNvPr id="26" name="Text 24"/>
          <p:cNvSpPr/>
          <p:nvPr/>
        </p:nvSpPr>
        <p:spPr>
          <a:xfrm>
            <a:off x="2781300" y="6065490"/>
            <a:ext cx="8090803" cy="678061"/>
          </a:xfrm>
          <a:prstGeom prst="rect">
            <a:avLst/>
          </a:prstGeom>
          <a:noFill/>
          <a:ln/>
        </p:spPr>
        <p:txBody>
          <a:bodyPr wrap="square" lIns="25400" tIns="25400" rIns="25400" bIns="25400" rtlCol="0" anchor="t">
            <a:normAutofit/>
          </a:bodyPr>
          <a:lstStyle/>
          <a:p>
            <a:pPr algn="l" indent="0" marL="0">
              <a:lnSpc>
                <a:spcPct val="140000"/>
              </a:lnSpc>
              <a:buNone/>
            </a:pPr>
            <a:r>
              <a:rPr lang="en-US" sz="1800" dirty="0">
                <a:solidFill>
                  <a:srgbClr val="AEB4AC"/>
                </a:solidFill>
                <a:latin typeface="Archivo" pitchFamily="34" charset="0"/>
                <a:ea typeface="Archivo" pitchFamily="34" charset="-122"/>
                <a:cs typeface="Archivo" pitchFamily="34" charset="-120"/>
              </a:rPr>
              <a:t>Sync to the video and add shareable timestamped links, so people can send “watch from this moment.”</a:t>
            </a:r>
            <a:endParaRPr lang="en-US" sz="1800" dirty="0"/>
          </a:p>
        </p:txBody>
      </p:sp>
      <p:sp>
        <p:nvSpPr>
          <p:cNvPr id="27" name="Shape 25"/>
          <p:cNvSpPr/>
          <p:nvPr/>
        </p:nvSpPr>
        <p:spPr>
          <a:xfrm>
            <a:off x="14965114" y="5942558"/>
            <a:ext cx="2179886" cy="476250"/>
          </a:xfrm>
          <a:prstGeom prst="roundRect">
            <a:avLst>
              <a:gd name="adj" fmla="val 50000"/>
            </a:avLst>
          </a:prstGeom>
          <a:ln w="9525">
            <a:solidFill>
              <a:srgbClr val="86BAC9">
                <a:alpha val="40000"/>
              </a:srgbClr>
            </a:solidFill>
            <a:prstDash val="solid"/>
          </a:ln>
        </p:spPr>
      </p:sp>
      <p:sp>
        <p:nvSpPr>
          <p:cNvPr id="28" name="Shape 26"/>
          <p:cNvSpPr/>
          <p:nvPr/>
        </p:nvSpPr>
        <p:spPr>
          <a:xfrm>
            <a:off x="15184189" y="6133058"/>
            <a:ext cx="95250" cy="95250"/>
          </a:xfrm>
          <a:prstGeom prst="ellipse">
            <a:avLst/>
          </a:prstGeom>
          <a:solidFill>
            <a:srgbClr val="5FBF7E"/>
          </a:solidFill>
          <a:ln/>
        </p:spPr>
      </p:sp>
      <p:sp>
        <p:nvSpPr>
          <p:cNvPr id="29" name="Text 27"/>
          <p:cNvSpPr/>
          <p:nvPr/>
        </p:nvSpPr>
        <p:spPr>
          <a:xfrm>
            <a:off x="15384214" y="6056858"/>
            <a:ext cx="1617911" cy="285750"/>
          </a:xfrm>
          <a:prstGeom prst="rect">
            <a:avLst/>
          </a:prstGeom>
          <a:noFill/>
          <a:ln/>
        </p:spPr>
        <p:txBody>
          <a:bodyPr wrap="square" lIns="0" tIns="0" rIns="0" bIns="0" rtlCol="0" anchor="t">
            <a:normAutofit/>
          </a:bodyPr>
          <a:lstStyle/>
          <a:p>
            <a:pPr algn="l" indent="0" marL="0">
              <a:buNone/>
            </a:pPr>
            <a:r>
              <a:rPr lang="en-US" sz="1800" b="1" dirty="0">
                <a:solidFill>
                  <a:srgbClr val="9FC9D6"/>
                </a:solidFill>
                <a:latin typeface="Archivo" pitchFamily="34" charset="0"/>
                <a:ea typeface="Archivo" pitchFamily="34" charset="-122"/>
                <a:cs typeface="Archivo" pitchFamily="34" charset="-120"/>
              </a:rPr>
              <a:t>Near-zero cost</a:t>
            </a:r>
            <a:endParaRPr lang="en-US" sz="1800" dirty="0"/>
          </a:p>
        </p:txBody>
      </p:sp>
      <p:sp>
        <p:nvSpPr>
          <p:cNvPr id="30" name="Shape 28"/>
          <p:cNvSpPr/>
          <p:nvPr/>
        </p:nvSpPr>
        <p:spPr>
          <a:xfrm>
            <a:off x="1143000" y="6915001"/>
            <a:ext cx="16002000" cy="9525"/>
          </a:xfrm>
          <a:prstGeom prst="rect">
            <a:avLst/>
          </a:prstGeom>
          <a:solidFill>
            <a:srgbClr val="F4F1EA">
              <a:alpha val="16000"/>
            </a:srgbClr>
          </a:solidFill>
          <a:ln/>
        </p:spPr>
      </p:sp>
      <p:sp>
        <p:nvSpPr>
          <p:cNvPr id="31" name="Text 29"/>
          <p:cNvSpPr/>
          <p:nvPr/>
        </p:nvSpPr>
        <p:spPr>
          <a:xfrm>
            <a:off x="1143000" y="7254032"/>
            <a:ext cx="1333500" cy="266700"/>
          </a:xfrm>
          <a:prstGeom prst="rect">
            <a:avLst/>
          </a:prstGeom>
          <a:noFill/>
          <a:ln/>
        </p:spPr>
        <p:txBody>
          <a:bodyPr wrap="square" lIns="25400" tIns="25400" rIns="25400" bIns="25400" rtlCol="0" anchor="t">
            <a:normAutofit/>
          </a:bodyPr>
          <a:lstStyle/>
          <a:p>
            <a:pPr algn="l" indent="0" marL="0">
              <a:lnSpc>
                <a:spcPct val="100000"/>
              </a:lnSpc>
              <a:buNone/>
            </a:pPr>
            <a:r>
              <a:rPr lang="en-US" sz="1800" b="1" spc="252" kern="0" dirty="0">
                <a:solidFill>
                  <a:srgbClr val="86BAC9"/>
                </a:solidFill>
                <a:latin typeface="Archivo" pitchFamily="34" charset="0"/>
                <a:ea typeface="Archivo" pitchFamily="34" charset="-122"/>
                <a:cs typeface="Archivo" pitchFamily="34" charset="-120"/>
              </a:rPr>
              <a:t>PHASE</a:t>
            </a:r>
            <a:endParaRPr lang="en-US" sz="1800" dirty="0"/>
          </a:p>
        </p:txBody>
      </p:sp>
      <p:sp>
        <p:nvSpPr>
          <p:cNvPr id="32" name="Text 30"/>
          <p:cNvSpPr/>
          <p:nvPr/>
        </p:nvSpPr>
        <p:spPr>
          <a:xfrm>
            <a:off x="1143000" y="7511207"/>
            <a:ext cx="1333500" cy="590550"/>
          </a:xfrm>
          <a:prstGeom prst="rect">
            <a:avLst/>
          </a:prstGeom>
          <a:noFill/>
          <a:ln/>
        </p:spPr>
        <p:txBody>
          <a:bodyPr wrap="square" lIns="25400" tIns="25400" rIns="25400" bIns="25400" rtlCol="0" anchor="t">
            <a:normAutofit/>
          </a:bodyPr>
          <a:lstStyle/>
          <a:p>
            <a:pPr algn="l" indent="0" marL="0">
              <a:lnSpc>
                <a:spcPct val="100000"/>
              </a:lnSpc>
              <a:buNone/>
            </a:pPr>
            <a:r>
              <a:rPr lang="en-US" sz="4350" b="1" dirty="0">
                <a:solidFill>
                  <a:srgbClr val="F4F1EA"/>
                </a:solidFill>
                <a:latin typeface="Spectral" pitchFamily="34" charset="0"/>
                <a:ea typeface="Spectral" pitchFamily="34" charset="-122"/>
                <a:cs typeface="Spectral" pitchFamily="34" charset="-120"/>
              </a:rPr>
              <a:t>4</a:t>
            </a:r>
            <a:endParaRPr lang="en-US" sz="4350" dirty="0"/>
          </a:p>
        </p:txBody>
      </p:sp>
      <p:sp>
        <p:nvSpPr>
          <p:cNvPr id="33" name="Text 31"/>
          <p:cNvSpPr/>
          <p:nvPr/>
        </p:nvSpPr>
        <p:spPr>
          <a:xfrm>
            <a:off x="2781300" y="7134076"/>
            <a:ext cx="12156899" cy="371475"/>
          </a:xfrm>
          <a:prstGeom prst="rect">
            <a:avLst/>
          </a:prstGeom>
          <a:noFill/>
          <a:ln/>
        </p:spPr>
        <p:txBody>
          <a:bodyPr wrap="square" lIns="25400" tIns="25400" rIns="25400" bIns="25400" rtlCol="0" anchor="t">
            <a:normAutofit/>
          </a:bodyPr>
          <a:lstStyle/>
          <a:p>
            <a:pPr algn="l" indent="0" marL="0">
              <a:buNone/>
            </a:pPr>
            <a:r>
              <a:rPr lang="en-US" sz="2400" b="1" dirty="0">
                <a:solidFill>
                  <a:srgbClr val="F4F1EA"/>
                </a:solidFill>
                <a:latin typeface="Archivo" pitchFamily="34" charset="0"/>
                <a:ea typeface="Archivo" pitchFamily="34" charset="-122"/>
                <a:cs typeface="Archivo" pitchFamily="34" charset="-120"/>
              </a:rPr>
              <a:t>Polish</a:t>
            </a:r>
            <a:endParaRPr lang="en-US" sz="2400" dirty="0"/>
          </a:p>
        </p:txBody>
      </p:sp>
      <p:sp>
        <p:nvSpPr>
          <p:cNvPr id="34" name="Text 32"/>
          <p:cNvSpPr/>
          <p:nvPr/>
        </p:nvSpPr>
        <p:spPr>
          <a:xfrm>
            <a:off x="2781300" y="7543651"/>
            <a:ext cx="8090803" cy="678061"/>
          </a:xfrm>
          <a:prstGeom prst="rect">
            <a:avLst/>
          </a:prstGeom>
          <a:noFill/>
          <a:ln/>
        </p:spPr>
        <p:txBody>
          <a:bodyPr wrap="square" lIns="25400" tIns="25400" rIns="25400" bIns="25400" rtlCol="0" anchor="t">
            <a:normAutofit/>
          </a:bodyPr>
          <a:lstStyle/>
          <a:p>
            <a:pPr algn="l" indent="0" marL="0">
              <a:lnSpc>
                <a:spcPct val="140000"/>
              </a:lnSpc>
              <a:buNone/>
            </a:pPr>
            <a:r>
              <a:rPr lang="en-US" sz="1800" dirty="0">
                <a:solidFill>
                  <a:srgbClr val="AEB4AC"/>
                </a:solidFill>
                <a:latin typeface="Archivo" pitchFamily="34" charset="0"/>
                <a:ea typeface="Archivo" pitchFamily="34" charset="-122"/>
                <a:cs typeface="Archivo" pitchFamily="34" charset="-120"/>
              </a:rPr>
              <a:t>Sermon detail cards, jump-to-scripture, playback speed, and mobile refinements.</a:t>
            </a:r>
            <a:endParaRPr lang="en-US" sz="1800" dirty="0"/>
          </a:p>
        </p:txBody>
      </p:sp>
      <p:sp>
        <p:nvSpPr>
          <p:cNvPr id="35" name="Shape 33"/>
          <p:cNvSpPr/>
          <p:nvPr/>
        </p:nvSpPr>
        <p:spPr>
          <a:xfrm>
            <a:off x="14965114" y="7420719"/>
            <a:ext cx="2179886" cy="476250"/>
          </a:xfrm>
          <a:prstGeom prst="roundRect">
            <a:avLst>
              <a:gd name="adj" fmla="val 50000"/>
            </a:avLst>
          </a:prstGeom>
          <a:ln w="9525">
            <a:solidFill>
              <a:srgbClr val="86BAC9">
                <a:alpha val="40000"/>
              </a:srgbClr>
            </a:solidFill>
            <a:prstDash val="solid"/>
          </a:ln>
        </p:spPr>
      </p:sp>
      <p:sp>
        <p:nvSpPr>
          <p:cNvPr id="36" name="Shape 34"/>
          <p:cNvSpPr/>
          <p:nvPr/>
        </p:nvSpPr>
        <p:spPr>
          <a:xfrm>
            <a:off x="15184189" y="7611219"/>
            <a:ext cx="95250" cy="95250"/>
          </a:xfrm>
          <a:prstGeom prst="ellipse">
            <a:avLst/>
          </a:prstGeom>
          <a:solidFill>
            <a:srgbClr val="5FBF7E"/>
          </a:solidFill>
          <a:ln/>
        </p:spPr>
      </p:sp>
      <p:sp>
        <p:nvSpPr>
          <p:cNvPr id="37" name="Text 35"/>
          <p:cNvSpPr/>
          <p:nvPr/>
        </p:nvSpPr>
        <p:spPr>
          <a:xfrm>
            <a:off x="15384214" y="7535019"/>
            <a:ext cx="1617911" cy="285750"/>
          </a:xfrm>
          <a:prstGeom prst="rect">
            <a:avLst/>
          </a:prstGeom>
          <a:noFill/>
          <a:ln/>
        </p:spPr>
        <p:txBody>
          <a:bodyPr wrap="square" lIns="0" tIns="0" rIns="0" bIns="0" rtlCol="0" anchor="t">
            <a:normAutofit/>
          </a:bodyPr>
          <a:lstStyle/>
          <a:p>
            <a:pPr algn="l" indent="0" marL="0">
              <a:buNone/>
            </a:pPr>
            <a:r>
              <a:rPr lang="en-US" sz="1800" b="1" dirty="0">
                <a:solidFill>
                  <a:srgbClr val="9FC9D6"/>
                </a:solidFill>
                <a:latin typeface="Archivo" pitchFamily="34" charset="0"/>
                <a:ea typeface="Archivo" pitchFamily="34" charset="-122"/>
                <a:cs typeface="Archivo" pitchFamily="34" charset="-120"/>
              </a:rPr>
              <a:t>Near-zero cost</a:t>
            </a:r>
            <a:endParaRPr lang="en-US" sz="1800" dirty="0"/>
          </a:p>
        </p:txBody>
      </p:sp>
      <p:sp>
        <p:nvSpPr>
          <p:cNvPr id="38" name="Text 36"/>
          <p:cNvSpPr/>
          <p:nvPr/>
        </p:nvSpPr>
        <p:spPr>
          <a:xfrm>
            <a:off x="1143000" y="8640812"/>
            <a:ext cx="16482060" cy="369540"/>
          </a:xfrm>
          <a:prstGeom prst="rect">
            <a:avLst/>
          </a:prstGeom>
          <a:noFill/>
          <a:ln/>
        </p:spPr>
        <p:txBody>
          <a:bodyPr wrap="square" lIns="25400" tIns="25400" rIns="25400" bIns="25400" rtlCol="0" anchor="t">
            <a:normAutofit/>
          </a:bodyPr>
          <a:lstStyle/>
          <a:p>
            <a:pPr algn="l" indent="0" marL="0">
              <a:lnSpc>
                <a:spcPct val="145000"/>
              </a:lnSpc>
              <a:buNone/>
            </a:pPr>
            <a:r>
              <a:rPr lang="en-US" sz="1800" dirty="0">
                <a:solidFill>
                  <a:srgbClr val="9FC9D6"/>
                </a:solidFill>
                <a:latin typeface="Archivo" pitchFamily="34" charset="0"/>
                <a:ea typeface="Archivo" pitchFamily="34" charset="-122"/>
                <a:cs typeface="Archivo" pitchFamily="34" charset="-120"/>
              </a:rPr>
              <a:t>All four phases run on the same lean, free tooling — costs only grow with the bigger possibilities.</a:t>
            </a:r>
            <a:endParaRPr lang="en-US" sz="1800" dirty="0"/>
          </a:p>
        </p:txBody>
      </p:sp>
      <p:sp>
        <p:nvSpPr>
          <p:cNvPr id="39" name="Text 37"/>
          <p:cNvSpPr/>
          <p:nvPr/>
        </p:nvSpPr>
        <p:spPr>
          <a:xfrm>
            <a:off x="16870561" y="9572625"/>
            <a:ext cx="350639" cy="314325"/>
          </a:xfrm>
          <a:prstGeom prst="rect">
            <a:avLst/>
          </a:prstGeom>
          <a:noFill/>
          <a:ln/>
        </p:spPr>
        <p:txBody>
          <a:bodyPr wrap="square" lIns="25400" tIns="25400" rIns="25400" bIns="25400" rtlCol="0" anchor="t">
            <a:normAutofit/>
          </a:bodyPr>
          <a:lstStyle/>
          <a:p>
            <a:pPr algn="l" indent="0" marL="0">
              <a:buNone/>
            </a:pPr>
            <a:r>
              <a:rPr lang="en-US" sz="1800" b="1" dirty="0">
                <a:solidFill>
                  <a:srgbClr val="F4F1EA">
                    <a:alpha val="40000"/>
                  </a:srgbClr>
                </a:solidFill>
                <a:latin typeface="Spline Sans Mono" pitchFamily="34" charset="0"/>
                <a:ea typeface="Spline Sans Mono" pitchFamily="34" charset="-122"/>
                <a:cs typeface="Spline Sans Mono" pitchFamily="34" charset="-120"/>
              </a:rPr>
              <a:t>08</a:t>
            </a:r>
            <a:endParaRPr lang="en-US" sz="1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1EA"/>
        </a:solidFill>
      </p:bgPr>
    </p:bg>
    <p:spTree>
      <p:nvGrpSpPr>
        <p:cNvPr id="1" name=""/>
        <p:cNvGrpSpPr/>
        <p:nvPr/>
      </p:nvGrpSpPr>
      <p:grpSpPr>
        <a:xfrm>
          <a:off x="0" y="0"/>
          <a:ext cx="0" cy="0"/>
          <a:chOff x="0" y="0"/>
          <a:chExt cx="0" cy="0"/>
        </a:xfrm>
      </p:grpSpPr>
      <p:sp>
        <p:nvSpPr>
          <p:cNvPr id="2" name="Text 0"/>
          <p:cNvSpPr/>
          <p:nvPr/>
        </p:nvSpPr>
        <p:spPr>
          <a:xfrm>
            <a:off x="1143000" y="876300"/>
            <a:ext cx="16482060" cy="285750"/>
          </a:xfrm>
          <a:prstGeom prst="rect">
            <a:avLst/>
          </a:prstGeom>
          <a:noFill/>
          <a:ln/>
        </p:spPr>
        <p:txBody>
          <a:bodyPr wrap="square" lIns="25400" tIns="25400" rIns="25400" bIns="25400" rtlCol="0" anchor="t">
            <a:normAutofit/>
          </a:bodyPr>
          <a:lstStyle/>
          <a:p>
            <a:pPr algn="l" indent="0" marL="0">
              <a:buNone/>
            </a:pPr>
            <a:r>
              <a:rPr lang="en-US" sz="1800" b="1" spc="396" kern="0" dirty="0">
                <a:solidFill>
                  <a:srgbClr val="3C7C92"/>
                </a:solidFill>
                <a:latin typeface="Archivo" pitchFamily="34" charset="0"/>
                <a:ea typeface="Archivo" pitchFamily="34" charset="-122"/>
                <a:cs typeface="Archivo" pitchFamily="34" charset="-120"/>
              </a:rPr>
              <a:t>PROPOSED LOOK · PHASE 1</a:t>
            </a:r>
            <a:endParaRPr lang="en-US" sz="1800" dirty="0"/>
          </a:p>
        </p:txBody>
      </p:sp>
      <p:sp>
        <p:nvSpPr>
          <p:cNvPr id="3" name="Text 1"/>
          <p:cNvSpPr/>
          <p:nvPr/>
        </p:nvSpPr>
        <p:spPr>
          <a:xfrm>
            <a:off x="1143000" y="1314450"/>
            <a:ext cx="10727442" cy="1226641"/>
          </a:xfrm>
          <a:prstGeom prst="rect">
            <a:avLst/>
          </a:prstGeom>
          <a:noFill/>
          <a:ln/>
        </p:spPr>
        <p:txBody>
          <a:bodyPr wrap="square" lIns="25400" tIns="25400" rIns="25400" bIns="25400" rtlCol="0" anchor="t">
            <a:normAutofit/>
          </a:bodyPr>
          <a:lstStyle/>
          <a:p>
            <a:pPr algn="l" indent="0" marL="0">
              <a:lnSpc>
                <a:spcPct val="104000"/>
              </a:lnSpc>
              <a:buNone/>
            </a:pPr>
            <a:r>
              <a:rPr lang="en-US" sz="4500" b="1" spc="-45" kern="0" dirty="0">
                <a:solidFill>
                  <a:srgbClr val="2E3330"/>
                </a:solidFill>
                <a:latin typeface="Spectral" pitchFamily="34" charset="0"/>
                <a:ea typeface="Spectral" pitchFamily="34" charset="-122"/>
                <a:cs typeface="Spectral" pitchFamily="34" charset="-120"/>
              </a:rPr>
              <a:t>The whole archive — every result, richly labeled.</a:t>
            </a:r>
            <a:endParaRPr lang="en-US" sz="4500" dirty="0"/>
          </a:p>
        </p:txBody>
      </p:sp>
      <p:sp>
        <p:nvSpPr>
          <p:cNvPr id="4" name="Shape 2"/>
          <p:cNvSpPr/>
          <p:nvPr/>
        </p:nvSpPr>
        <p:spPr>
          <a:xfrm>
            <a:off x="1143000" y="3891409"/>
            <a:ext cx="16002000" cy="4473625"/>
          </a:xfrm>
          <a:prstGeom prst="roundRect">
            <a:avLst>
              <a:gd name="adj" fmla="val 4258"/>
            </a:avLst>
          </a:prstGeom>
          <a:solidFill>
            <a:srgbClr val="FCFAF5"/>
          </a:solidFill>
          <a:ln w="9525">
            <a:solidFill>
              <a:srgbClr val="DBD6CC"/>
            </a:solidFill>
            <a:prstDash val="solid"/>
          </a:ln>
          <a:effectLst>
            <a:outerShdw sx="100000" sy="100000" kx="0" ky="0" algn="bl" rotWithShape="0" blurRad="666750" dist="285750" dir="5400000">
              <a:srgbClr val="2E3330">
                <a:alpha val="40000"/>
              </a:srgbClr>
            </a:outerShdw>
          </a:effectLst>
        </p:spPr>
      </p:sp>
      <p:sp>
        <p:nvSpPr>
          <p:cNvPr id="5" name="Shape 3"/>
          <p:cNvSpPr/>
          <p:nvPr/>
        </p:nvSpPr>
        <p:spPr>
          <a:xfrm>
            <a:off x="1152525" y="4615309"/>
            <a:ext cx="15982950" cy="9525"/>
          </a:xfrm>
          <a:prstGeom prst="rect">
            <a:avLst/>
          </a:prstGeom>
          <a:solidFill>
            <a:srgbClr val="DBD6CC"/>
          </a:solidFill>
          <a:ln/>
        </p:spPr>
      </p:sp>
      <p:pic>
        <p:nvPicPr>
          <p:cNvPr id="6" name="Image 0" descr="preencoded.png">    </p:cNvPr>
          <p:cNvPicPr>
            <a:picLocks noChangeAspect="1"/>
          </p:cNvPicPr>
          <p:nvPr/>
        </p:nvPicPr>
        <p:blipFill>
          <a:blip r:embed="rId1"/>
          <a:stretch>
            <a:fillRect/>
          </a:stretch>
        </p:blipFill>
        <p:spPr>
          <a:xfrm>
            <a:off x="1438275" y="4124771"/>
            <a:ext cx="266700" cy="266700"/>
          </a:xfrm>
          <a:prstGeom prst="rect">
            <a:avLst/>
          </a:prstGeom>
        </p:spPr>
      </p:pic>
      <p:sp>
        <p:nvSpPr>
          <p:cNvPr id="7" name="Text 4"/>
          <p:cNvSpPr/>
          <p:nvPr/>
        </p:nvSpPr>
        <p:spPr>
          <a:xfrm>
            <a:off x="1857375" y="4110484"/>
            <a:ext cx="1522363" cy="333375"/>
          </a:xfrm>
          <a:prstGeom prst="rect">
            <a:avLst/>
          </a:prstGeom>
          <a:noFill/>
          <a:ln/>
        </p:spPr>
        <p:txBody>
          <a:bodyPr wrap="square" lIns="25400" tIns="25400" rIns="25400" bIns="25400" rtlCol="0" anchor="t">
            <a:normAutofit/>
          </a:bodyPr>
          <a:lstStyle/>
          <a:p>
            <a:pPr algn="l" indent="0" marL="0">
              <a:buNone/>
            </a:pPr>
            <a:r>
              <a:rPr lang="en-US" sz="2100" b="1" dirty="0">
                <a:solidFill>
                  <a:srgbClr val="2E3330"/>
                </a:solidFill>
                <a:latin typeface="Archivo" pitchFamily="34" charset="0"/>
                <a:ea typeface="Archivo" pitchFamily="34" charset="-122"/>
                <a:cs typeface="Archivo" pitchFamily="34" charset="-120"/>
              </a:rPr>
              <a:t>forgiveness</a:t>
            </a:r>
            <a:endParaRPr lang="en-US" sz="2100" dirty="0"/>
          </a:p>
        </p:txBody>
      </p:sp>
      <p:sp>
        <p:nvSpPr>
          <p:cNvPr id="8" name="Text 5"/>
          <p:cNvSpPr/>
          <p:nvPr/>
        </p:nvSpPr>
        <p:spPr>
          <a:xfrm>
            <a:off x="12620625" y="4143821"/>
            <a:ext cx="4355973" cy="266700"/>
          </a:xfrm>
          <a:prstGeom prst="rect">
            <a:avLst/>
          </a:prstGeom>
          <a:noFill/>
          <a:ln/>
        </p:spPr>
        <p:txBody>
          <a:bodyPr wrap="square" lIns="25400" tIns="25400" rIns="25400" bIns="25400" rtlCol="0" anchor="t">
            <a:normAutofit/>
          </a:bodyPr>
          <a:lstStyle/>
          <a:p>
            <a:pPr algn="l" indent="0" marL="0">
              <a:buNone/>
            </a:pPr>
            <a:r>
              <a:rPr lang="en-US" sz="1500" dirty="0">
                <a:solidFill>
                  <a:srgbClr val="6E7570"/>
                </a:solidFill>
                <a:latin typeface="Spline Sans Mono" pitchFamily="34" charset="0"/>
                <a:ea typeface="Spline Sans Mono" pitchFamily="34" charset="-122"/>
                <a:cs typeface="Spline Sans Mono" pitchFamily="34" charset="-120"/>
              </a:rPr>
              <a:t>Searching the full archive · 12 years</a:t>
            </a:r>
            <a:endParaRPr lang="en-US" sz="1500" dirty="0"/>
          </a:p>
        </p:txBody>
      </p:sp>
      <p:sp>
        <p:nvSpPr>
          <p:cNvPr id="9" name="Shape 6"/>
          <p:cNvSpPr/>
          <p:nvPr/>
        </p:nvSpPr>
        <p:spPr>
          <a:xfrm>
            <a:off x="1438275" y="4853434"/>
            <a:ext cx="495300" cy="495300"/>
          </a:xfrm>
          <a:prstGeom prst="ellipse">
            <a:avLst/>
          </a:prstGeom>
          <a:solidFill>
            <a:srgbClr val="3C7C92"/>
          </a:solidFill>
          <a:ln/>
        </p:spPr>
      </p:sp>
      <p:pic>
        <p:nvPicPr>
          <p:cNvPr id="10" name="Image 1" descr="preencoded.png">    </p:cNvPr>
          <p:cNvPicPr>
            <a:picLocks noChangeAspect="1"/>
          </p:cNvPicPr>
          <p:nvPr/>
        </p:nvPicPr>
        <p:blipFill>
          <a:blip r:embed="rId2"/>
          <a:stretch>
            <a:fillRect/>
          </a:stretch>
        </p:blipFill>
        <p:spPr>
          <a:xfrm>
            <a:off x="1590675" y="5005834"/>
            <a:ext cx="190500" cy="190500"/>
          </a:xfrm>
          <a:prstGeom prst="rect">
            <a:avLst/>
          </a:prstGeom>
        </p:spPr>
      </p:pic>
      <p:sp>
        <p:nvSpPr>
          <p:cNvPr id="11" name="Text 7"/>
          <p:cNvSpPr/>
          <p:nvPr/>
        </p:nvSpPr>
        <p:spPr>
          <a:xfrm>
            <a:off x="2143125" y="4853434"/>
            <a:ext cx="15147798" cy="371475"/>
          </a:xfrm>
          <a:prstGeom prst="rect">
            <a:avLst/>
          </a:prstGeom>
          <a:noFill/>
          <a:ln/>
        </p:spPr>
        <p:txBody>
          <a:bodyPr wrap="square" lIns="25400" tIns="25400" rIns="25400" bIns="25400" rtlCol="0" anchor="t">
            <a:normAutofit/>
          </a:bodyPr>
          <a:lstStyle/>
          <a:p>
            <a:pPr algn="l" indent="0" marL="0">
              <a:lnSpc>
                <a:spcPct val="140000"/>
              </a:lnSpc>
              <a:buNone/>
            </a:pPr>
            <a:r>
              <a:rPr lang="en-US" sz="1875" dirty="0">
                <a:solidFill>
                  <a:srgbClr val="2E3330"/>
                </a:solidFill>
                <a:latin typeface="Archivo" pitchFamily="34" charset="0"/>
                <a:ea typeface="Archivo" pitchFamily="34" charset="-122"/>
                <a:cs typeface="Archivo" pitchFamily="34" charset="-120"/>
              </a:rPr>
              <a:t>… be kind to one another, tenderhearted, </a:t>
            </a:r>
            <a:pPr algn="l" indent="0" marL="0">
              <a:lnSpc>
                <a:spcPct val="140000"/>
              </a:lnSpc>
              <a:buNone/>
            </a:pPr>
            <a:r>
              <a:rPr lang="en-US" sz="1875" b="1" dirty="0">
                <a:solidFill>
                  <a:srgbClr val="5A4517"/>
                </a:solidFill>
                <a:highlight>
                  <a:srgbClr val="F1D9A3"/>
                </a:highlight>
                <a:latin typeface="Archivo" pitchFamily="34" charset="0"/>
                <a:ea typeface="Archivo" pitchFamily="34" charset="-122"/>
                <a:cs typeface="Archivo" pitchFamily="34" charset="-120"/>
              </a:rPr>
              <a:t>forgiving </a:t>
            </a:r>
            <a:pPr algn="l" indent="0" marL="0">
              <a:lnSpc>
                <a:spcPct val="140000"/>
              </a:lnSpc>
              <a:buNone/>
            </a:pPr>
            <a:r>
              <a:rPr lang="en-US" sz="1875" dirty="0">
                <a:solidFill>
                  <a:srgbClr val="2E3330"/>
                </a:solidFill>
                <a:latin typeface="Archivo" pitchFamily="34" charset="0"/>
                <a:ea typeface="Archivo" pitchFamily="34" charset="-122"/>
                <a:cs typeface="Archivo" pitchFamily="34" charset="-120"/>
              </a:rPr>
              <a:t>one another, as God in Christ forgave you …</a:t>
            </a:r>
            <a:endParaRPr lang="en-US" sz="1875" dirty="0"/>
          </a:p>
        </p:txBody>
      </p:sp>
      <p:sp>
        <p:nvSpPr>
          <p:cNvPr id="12" name="Shape 8"/>
          <p:cNvSpPr/>
          <p:nvPr/>
        </p:nvSpPr>
        <p:spPr>
          <a:xfrm>
            <a:off x="2143125" y="5320159"/>
            <a:ext cx="1541264" cy="313283"/>
          </a:xfrm>
          <a:prstGeom prst="roundRect">
            <a:avLst>
              <a:gd name="adj" fmla="val 24323"/>
            </a:avLst>
          </a:prstGeom>
          <a:solidFill>
            <a:srgbClr val="3C7C92">
              <a:alpha val="12000"/>
            </a:srgbClr>
          </a:solidFill>
          <a:ln/>
        </p:spPr>
      </p:sp>
      <p:sp>
        <p:nvSpPr>
          <p:cNvPr id="13" name="Text 9"/>
          <p:cNvSpPr/>
          <p:nvPr/>
        </p:nvSpPr>
        <p:spPr>
          <a:xfrm>
            <a:off x="2266950" y="5377309"/>
            <a:ext cx="1369814" cy="237083"/>
          </a:xfrm>
          <a:prstGeom prst="rect">
            <a:avLst/>
          </a:prstGeom>
          <a:noFill/>
          <a:ln/>
        </p:spPr>
        <p:txBody>
          <a:bodyPr wrap="square" lIns="25400" tIns="25400" rIns="25400" bIns="25400" rtlCol="0" anchor="ctr">
            <a:normAutofit/>
          </a:bodyPr>
          <a:lstStyle/>
          <a:p>
            <a:pPr algn="l" indent="0" marL="0">
              <a:lnSpc>
                <a:spcPct val="110000"/>
              </a:lnSpc>
              <a:buNone/>
            </a:pPr>
            <a:r>
              <a:rPr lang="en-US" sz="1425" b="1" dirty="0">
                <a:solidFill>
                  <a:srgbClr val="2C5F73"/>
                </a:solidFill>
                <a:latin typeface="Archivo" pitchFamily="34" charset="0"/>
                <a:ea typeface="Archivo" pitchFamily="34" charset="-122"/>
                <a:cs typeface="Archivo" pitchFamily="34" charset="-120"/>
              </a:rPr>
              <a:t>Ephesians 4:32</a:t>
            </a:r>
            <a:endParaRPr lang="en-US" sz="1425" dirty="0"/>
          </a:p>
        </p:txBody>
      </p:sp>
      <p:sp>
        <p:nvSpPr>
          <p:cNvPr id="14" name="Shape 10"/>
          <p:cNvSpPr/>
          <p:nvPr/>
        </p:nvSpPr>
        <p:spPr>
          <a:xfrm>
            <a:off x="3779639" y="5320159"/>
            <a:ext cx="1719560" cy="313283"/>
          </a:xfrm>
          <a:prstGeom prst="roundRect">
            <a:avLst>
              <a:gd name="adj" fmla="val 24323"/>
            </a:avLst>
          </a:prstGeom>
          <a:solidFill>
            <a:srgbClr val="6E7570">
              <a:alpha val="12000"/>
            </a:srgbClr>
          </a:solidFill>
          <a:ln/>
        </p:spPr>
      </p:sp>
      <p:sp>
        <p:nvSpPr>
          <p:cNvPr id="15" name="Text 11"/>
          <p:cNvSpPr/>
          <p:nvPr/>
        </p:nvSpPr>
        <p:spPr>
          <a:xfrm>
            <a:off x="3903464" y="5377309"/>
            <a:ext cx="1548110" cy="237083"/>
          </a:xfrm>
          <a:prstGeom prst="rect">
            <a:avLst/>
          </a:prstGeom>
          <a:noFill/>
          <a:ln/>
        </p:spPr>
        <p:txBody>
          <a:bodyPr wrap="square" lIns="25400" tIns="25400" rIns="25400" bIns="25400" rtlCol="0" anchor="ctr">
            <a:normAutofit/>
          </a:bodyPr>
          <a:lstStyle/>
          <a:p>
            <a:pPr algn="l" indent="0" marL="0">
              <a:lnSpc>
                <a:spcPct val="110000"/>
              </a:lnSpc>
              <a:buNone/>
            </a:pPr>
            <a:r>
              <a:rPr lang="en-US" sz="1425" b="1" dirty="0">
                <a:solidFill>
                  <a:srgbClr val="6E7570"/>
                </a:solidFill>
                <a:latin typeface="Archivo" pitchFamily="34" charset="0"/>
                <a:ea typeface="Archivo" pitchFamily="34" charset="-122"/>
                <a:cs typeface="Archivo" pitchFamily="34" charset="-120"/>
              </a:rPr>
              <a:t>Through the Bible</a:t>
            </a:r>
            <a:endParaRPr lang="en-US" sz="1425" dirty="0"/>
          </a:p>
        </p:txBody>
      </p:sp>
      <p:sp>
        <p:nvSpPr>
          <p:cNvPr id="16" name="Text 12"/>
          <p:cNvSpPr/>
          <p:nvPr/>
        </p:nvSpPr>
        <p:spPr>
          <a:xfrm>
            <a:off x="5594449" y="5371951"/>
            <a:ext cx="3355277" cy="247650"/>
          </a:xfrm>
          <a:prstGeom prst="rect">
            <a:avLst/>
          </a:prstGeom>
          <a:noFill/>
          <a:ln/>
        </p:spPr>
        <p:txBody>
          <a:bodyPr wrap="square" lIns="25400" tIns="25400" rIns="25400" bIns="25400" rtlCol="0" anchor="t">
            <a:normAutofit/>
          </a:bodyPr>
          <a:lstStyle/>
          <a:p>
            <a:pPr algn="l" indent="0" marL="0">
              <a:buNone/>
            </a:pPr>
            <a:r>
              <a:rPr lang="en-US" sz="1425" dirty="0">
                <a:solidFill>
                  <a:srgbClr val="6E7570"/>
                </a:solidFill>
                <a:latin typeface="Spline Sans Mono" pitchFamily="34" charset="0"/>
                <a:ea typeface="Spline Sans Mono" pitchFamily="34" charset="-122"/>
                <a:cs typeface="Spline Sans Mono" pitchFamily="34" charset="-120"/>
              </a:rPr>
              <a:t>Pastor Brett Meador · 00:38:12</a:t>
            </a:r>
            <a:endParaRPr lang="en-US" sz="1425" dirty="0"/>
          </a:p>
        </p:txBody>
      </p:sp>
      <p:sp>
        <p:nvSpPr>
          <p:cNvPr id="17" name="Shape 13"/>
          <p:cNvSpPr/>
          <p:nvPr/>
        </p:nvSpPr>
        <p:spPr>
          <a:xfrm>
            <a:off x="1152525" y="5862042"/>
            <a:ext cx="15982950" cy="9525"/>
          </a:xfrm>
          <a:prstGeom prst="rect">
            <a:avLst/>
          </a:prstGeom>
          <a:solidFill>
            <a:srgbClr val="DBD6CC"/>
          </a:solidFill>
          <a:ln/>
        </p:spPr>
      </p:sp>
      <p:sp>
        <p:nvSpPr>
          <p:cNvPr id="18" name="Shape 14"/>
          <p:cNvSpPr/>
          <p:nvPr/>
        </p:nvSpPr>
        <p:spPr>
          <a:xfrm>
            <a:off x="1438275" y="6100167"/>
            <a:ext cx="495300" cy="495300"/>
          </a:xfrm>
          <a:prstGeom prst="ellipse">
            <a:avLst/>
          </a:prstGeom>
          <a:solidFill>
            <a:srgbClr val="3C7C92"/>
          </a:solidFill>
          <a:ln/>
        </p:spPr>
      </p:sp>
      <p:pic>
        <p:nvPicPr>
          <p:cNvPr id="19" name="Image 2" descr="preencoded.png">    </p:cNvPr>
          <p:cNvPicPr>
            <a:picLocks noChangeAspect="1"/>
          </p:cNvPicPr>
          <p:nvPr/>
        </p:nvPicPr>
        <p:blipFill>
          <a:blip r:embed="rId3"/>
          <a:stretch>
            <a:fillRect/>
          </a:stretch>
        </p:blipFill>
        <p:spPr>
          <a:xfrm>
            <a:off x="1590675" y="6252567"/>
            <a:ext cx="190500" cy="190500"/>
          </a:xfrm>
          <a:prstGeom prst="rect">
            <a:avLst/>
          </a:prstGeom>
        </p:spPr>
      </p:pic>
      <p:sp>
        <p:nvSpPr>
          <p:cNvPr id="20" name="Text 15"/>
          <p:cNvSpPr/>
          <p:nvPr/>
        </p:nvSpPr>
        <p:spPr>
          <a:xfrm>
            <a:off x="2143125" y="6100167"/>
            <a:ext cx="15147798" cy="371475"/>
          </a:xfrm>
          <a:prstGeom prst="rect">
            <a:avLst/>
          </a:prstGeom>
          <a:noFill/>
          <a:ln/>
        </p:spPr>
        <p:txBody>
          <a:bodyPr wrap="square" lIns="25400" tIns="25400" rIns="25400" bIns="25400" rtlCol="0" anchor="t">
            <a:normAutofit/>
          </a:bodyPr>
          <a:lstStyle/>
          <a:p>
            <a:pPr algn="l" indent="0" marL="0">
              <a:lnSpc>
                <a:spcPct val="140000"/>
              </a:lnSpc>
              <a:buNone/>
            </a:pPr>
            <a:r>
              <a:rPr lang="en-US" sz="1875" dirty="0">
                <a:solidFill>
                  <a:srgbClr val="2E3330"/>
                </a:solidFill>
                <a:latin typeface="Archivo" pitchFamily="34" charset="0"/>
                <a:ea typeface="Archivo" pitchFamily="34" charset="-122"/>
                <a:cs typeface="Archivo" pitchFamily="34" charset="-120"/>
              </a:rPr>
              <a:t>… the whole gospel turns on </a:t>
            </a:r>
            <a:pPr algn="l" indent="0" marL="0">
              <a:lnSpc>
                <a:spcPct val="140000"/>
              </a:lnSpc>
              <a:buNone/>
            </a:pPr>
            <a:r>
              <a:rPr lang="en-US" sz="1875" b="1" dirty="0">
                <a:solidFill>
                  <a:srgbClr val="5A4517"/>
                </a:solidFill>
                <a:highlight>
                  <a:srgbClr val="F1D9A3"/>
                </a:highlight>
                <a:latin typeface="Archivo" pitchFamily="34" charset="0"/>
                <a:ea typeface="Archivo" pitchFamily="34" charset="-122"/>
                <a:cs typeface="Archivo" pitchFamily="34" charset="-120"/>
              </a:rPr>
              <a:t>forgiveness </a:t>
            </a:r>
            <a:pPr algn="l" indent="0" marL="0">
              <a:lnSpc>
                <a:spcPct val="140000"/>
              </a:lnSpc>
              <a:buNone/>
            </a:pPr>
            <a:r>
              <a:rPr lang="en-US" sz="1875" dirty="0">
                <a:solidFill>
                  <a:srgbClr val="2E3330"/>
                </a:solidFill>
                <a:latin typeface="Archivo" pitchFamily="34" charset="0"/>
                <a:ea typeface="Archivo" pitchFamily="34" charset="-122"/>
                <a:cs typeface="Archivo" pitchFamily="34" charset="-120"/>
              </a:rPr>
              <a:t>— a debt we could never repay, paid in full …</a:t>
            </a:r>
            <a:endParaRPr lang="en-US" sz="1875" dirty="0"/>
          </a:p>
        </p:txBody>
      </p:sp>
      <p:sp>
        <p:nvSpPr>
          <p:cNvPr id="21" name="Shape 16"/>
          <p:cNvSpPr/>
          <p:nvPr/>
        </p:nvSpPr>
        <p:spPr>
          <a:xfrm>
            <a:off x="2143125" y="6566892"/>
            <a:ext cx="1595586" cy="313283"/>
          </a:xfrm>
          <a:prstGeom prst="roundRect">
            <a:avLst>
              <a:gd name="adj" fmla="val 24323"/>
            </a:avLst>
          </a:prstGeom>
          <a:solidFill>
            <a:srgbClr val="3C7C92">
              <a:alpha val="12000"/>
            </a:srgbClr>
          </a:solidFill>
          <a:ln/>
        </p:spPr>
      </p:sp>
      <p:sp>
        <p:nvSpPr>
          <p:cNvPr id="22" name="Text 17"/>
          <p:cNvSpPr/>
          <p:nvPr/>
        </p:nvSpPr>
        <p:spPr>
          <a:xfrm>
            <a:off x="2266950" y="6624042"/>
            <a:ext cx="1424136" cy="237083"/>
          </a:xfrm>
          <a:prstGeom prst="rect">
            <a:avLst/>
          </a:prstGeom>
          <a:noFill/>
          <a:ln/>
        </p:spPr>
        <p:txBody>
          <a:bodyPr wrap="square" lIns="25400" tIns="25400" rIns="25400" bIns="25400" rtlCol="0" anchor="ctr">
            <a:normAutofit/>
          </a:bodyPr>
          <a:lstStyle/>
          <a:p>
            <a:pPr algn="l" indent="0" marL="0">
              <a:lnSpc>
                <a:spcPct val="110000"/>
              </a:lnSpc>
              <a:buNone/>
            </a:pPr>
            <a:r>
              <a:rPr lang="en-US" sz="1425" b="1" dirty="0">
                <a:solidFill>
                  <a:srgbClr val="2C5F73"/>
                </a:solidFill>
                <a:latin typeface="Archivo" pitchFamily="34" charset="0"/>
                <a:ea typeface="Archivo" pitchFamily="34" charset="-122"/>
                <a:cs typeface="Archivo" pitchFamily="34" charset="-120"/>
              </a:rPr>
              <a:t>Colossians 3:13</a:t>
            </a:r>
            <a:endParaRPr lang="en-US" sz="1425" dirty="0"/>
          </a:p>
        </p:txBody>
      </p:sp>
      <p:sp>
        <p:nvSpPr>
          <p:cNvPr id="23" name="Shape 18"/>
          <p:cNvSpPr/>
          <p:nvPr/>
        </p:nvSpPr>
        <p:spPr>
          <a:xfrm>
            <a:off x="3833961" y="6566892"/>
            <a:ext cx="1681907" cy="313283"/>
          </a:xfrm>
          <a:prstGeom prst="roundRect">
            <a:avLst>
              <a:gd name="adj" fmla="val 24323"/>
            </a:avLst>
          </a:prstGeom>
          <a:solidFill>
            <a:srgbClr val="6E7570">
              <a:alpha val="12000"/>
            </a:srgbClr>
          </a:solidFill>
          <a:ln/>
        </p:spPr>
      </p:sp>
      <p:sp>
        <p:nvSpPr>
          <p:cNvPr id="24" name="Text 19"/>
          <p:cNvSpPr/>
          <p:nvPr/>
        </p:nvSpPr>
        <p:spPr>
          <a:xfrm>
            <a:off x="3957786" y="6624042"/>
            <a:ext cx="1510457" cy="237083"/>
          </a:xfrm>
          <a:prstGeom prst="rect">
            <a:avLst/>
          </a:prstGeom>
          <a:noFill/>
          <a:ln/>
        </p:spPr>
        <p:txBody>
          <a:bodyPr wrap="square" lIns="25400" tIns="25400" rIns="25400" bIns="25400" rtlCol="0" anchor="ctr">
            <a:normAutofit/>
          </a:bodyPr>
          <a:lstStyle/>
          <a:p>
            <a:pPr algn="l" indent="0" marL="0">
              <a:lnSpc>
                <a:spcPct val="110000"/>
              </a:lnSpc>
              <a:buNone/>
            </a:pPr>
            <a:r>
              <a:rPr lang="en-US" sz="1425" b="1" dirty="0">
                <a:solidFill>
                  <a:srgbClr val="6E7570"/>
                </a:solidFill>
                <a:latin typeface="Archivo" pitchFamily="34" charset="0"/>
                <a:ea typeface="Archivo" pitchFamily="34" charset="-122"/>
                <a:cs typeface="Archivo" pitchFamily="34" charset="-120"/>
              </a:rPr>
              <a:t>Sunday Teaching</a:t>
            </a:r>
            <a:endParaRPr lang="en-US" sz="1425" dirty="0"/>
          </a:p>
        </p:txBody>
      </p:sp>
      <p:sp>
        <p:nvSpPr>
          <p:cNvPr id="25" name="Text 20"/>
          <p:cNvSpPr/>
          <p:nvPr/>
        </p:nvSpPr>
        <p:spPr>
          <a:xfrm>
            <a:off x="5611118" y="6618684"/>
            <a:ext cx="3355277" cy="247650"/>
          </a:xfrm>
          <a:prstGeom prst="rect">
            <a:avLst/>
          </a:prstGeom>
          <a:noFill/>
          <a:ln/>
        </p:spPr>
        <p:txBody>
          <a:bodyPr wrap="square" lIns="25400" tIns="25400" rIns="25400" bIns="25400" rtlCol="0" anchor="t">
            <a:normAutofit/>
          </a:bodyPr>
          <a:lstStyle/>
          <a:p>
            <a:pPr algn="l" indent="0" marL="0">
              <a:buNone/>
            </a:pPr>
            <a:r>
              <a:rPr lang="en-US" sz="1425" dirty="0">
                <a:solidFill>
                  <a:srgbClr val="6E7570"/>
                </a:solidFill>
                <a:latin typeface="Spline Sans Mono" pitchFamily="34" charset="0"/>
                <a:ea typeface="Spline Sans Mono" pitchFamily="34" charset="-122"/>
                <a:cs typeface="Spline Sans Mono" pitchFamily="34" charset="-120"/>
              </a:rPr>
              <a:t>Pastor Brett Meador · 01:02:45</a:t>
            </a:r>
            <a:endParaRPr lang="en-US" sz="1425" dirty="0"/>
          </a:p>
        </p:txBody>
      </p:sp>
      <p:sp>
        <p:nvSpPr>
          <p:cNvPr id="26" name="Shape 21"/>
          <p:cNvSpPr/>
          <p:nvPr/>
        </p:nvSpPr>
        <p:spPr>
          <a:xfrm>
            <a:off x="1152525" y="7108775"/>
            <a:ext cx="15982950" cy="9525"/>
          </a:xfrm>
          <a:prstGeom prst="rect">
            <a:avLst/>
          </a:prstGeom>
          <a:solidFill>
            <a:srgbClr val="DBD6CC"/>
          </a:solidFill>
          <a:ln/>
        </p:spPr>
      </p:sp>
      <p:sp>
        <p:nvSpPr>
          <p:cNvPr id="27" name="Shape 22"/>
          <p:cNvSpPr/>
          <p:nvPr/>
        </p:nvSpPr>
        <p:spPr>
          <a:xfrm>
            <a:off x="1438275" y="7346900"/>
            <a:ext cx="495300" cy="495300"/>
          </a:xfrm>
          <a:prstGeom prst="ellipse">
            <a:avLst/>
          </a:prstGeom>
          <a:solidFill>
            <a:srgbClr val="3C7C92"/>
          </a:solidFill>
          <a:ln/>
        </p:spPr>
      </p:sp>
      <p:pic>
        <p:nvPicPr>
          <p:cNvPr id="28" name="Image 3" descr="preencoded.png">    </p:cNvPr>
          <p:cNvPicPr>
            <a:picLocks noChangeAspect="1"/>
          </p:cNvPicPr>
          <p:nvPr/>
        </p:nvPicPr>
        <p:blipFill>
          <a:blip r:embed="rId4"/>
          <a:stretch>
            <a:fillRect/>
          </a:stretch>
        </p:blipFill>
        <p:spPr>
          <a:xfrm>
            <a:off x="1590675" y="7499300"/>
            <a:ext cx="190500" cy="190500"/>
          </a:xfrm>
          <a:prstGeom prst="rect">
            <a:avLst/>
          </a:prstGeom>
        </p:spPr>
      </p:pic>
      <p:sp>
        <p:nvSpPr>
          <p:cNvPr id="29" name="Text 23"/>
          <p:cNvSpPr/>
          <p:nvPr/>
        </p:nvSpPr>
        <p:spPr>
          <a:xfrm>
            <a:off x="2143125" y="7346900"/>
            <a:ext cx="15147798" cy="371475"/>
          </a:xfrm>
          <a:prstGeom prst="rect">
            <a:avLst/>
          </a:prstGeom>
          <a:noFill/>
          <a:ln/>
        </p:spPr>
        <p:txBody>
          <a:bodyPr wrap="square" lIns="25400" tIns="25400" rIns="25400" bIns="25400" rtlCol="0" anchor="t">
            <a:normAutofit/>
          </a:bodyPr>
          <a:lstStyle/>
          <a:p>
            <a:pPr algn="l" indent="0" marL="0">
              <a:lnSpc>
                <a:spcPct val="140000"/>
              </a:lnSpc>
              <a:buNone/>
            </a:pPr>
            <a:r>
              <a:rPr lang="en-US" sz="1875" dirty="0">
                <a:solidFill>
                  <a:srgbClr val="2E3330"/>
                </a:solidFill>
                <a:latin typeface="Archivo" pitchFamily="34" charset="0"/>
                <a:ea typeface="Archivo" pitchFamily="34" charset="-122"/>
                <a:cs typeface="Archivo" pitchFamily="34" charset="-120"/>
              </a:rPr>
              <a:t>… if you </a:t>
            </a:r>
            <a:pPr algn="l" indent="0" marL="0">
              <a:lnSpc>
                <a:spcPct val="140000"/>
              </a:lnSpc>
              <a:buNone/>
            </a:pPr>
            <a:r>
              <a:rPr lang="en-US" sz="1875" b="1" dirty="0">
                <a:solidFill>
                  <a:srgbClr val="5A4517"/>
                </a:solidFill>
                <a:highlight>
                  <a:srgbClr val="F1D9A3"/>
                </a:highlight>
                <a:latin typeface="Archivo" pitchFamily="34" charset="0"/>
                <a:ea typeface="Archivo" pitchFamily="34" charset="-122"/>
                <a:cs typeface="Archivo" pitchFamily="34" charset="-120"/>
              </a:rPr>
              <a:t>forgive </a:t>
            </a:r>
            <a:pPr algn="l" indent="0" marL="0">
              <a:lnSpc>
                <a:spcPct val="140000"/>
              </a:lnSpc>
              <a:buNone/>
            </a:pPr>
            <a:r>
              <a:rPr lang="en-US" sz="1875" dirty="0">
                <a:solidFill>
                  <a:srgbClr val="2E3330"/>
                </a:solidFill>
                <a:latin typeface="Archivo" pitchFamily="34" charset="0"/>
                <a:ea typeface="Archivo" pitchFamily="34" charset="-122"/>
                <a:cs typeface="Archivo" pitchFamily="34" charset="-120"/>
              </a:rPr>
              <a:t>others their trespasses, your heavenly Father will also forgive you …</a:t>
            </a:r>
            <a:endParaRPr lang="en-US" sz="1875" dirty="0"/>
          </a:p>
        </p:txBody>
      </p:sp>
      <p:sp>
        <p:nvSpPr>
          <p:cNvPr id="30" name="Shape 24"/>
          <p:cNvSpPr/>
          <p:nvPr/>
        </p:nvSpPr>
        <p:spPr>
          <a:xfrm>
            <a:off x="2143125" y="7813625"/>
            <a:ext cx="1369070" cy="313283"/>
          </a:xfrm>
          <a:prstGeom prst="roundRect">
            <a:avLst>
              <a:gd name="adj" fmla="val 24323"/>
            </a:avLst>
          </a:prstGeom>
          <a:solidFill>
            <a:srgbClr val="3C7C92">
              <a:alpha val="12000"/>
            </a:srgbClr>
          </a:solidFill>
          <a:ln/>
        </p:spPr>
      </p:sp>
      <p:sp>
        <p:nvSpPr>
          <p:cNvPr id="31" name="Text 25"/>
          <p:cNvSpPr/>
          <p:nvPr/>
        </p:nvSpPr>
        <p:spPr>
          <a:xfrm>
            <a:off x="2266950" y="7870775"/>
            <a:ext cx="1197620" cy="237083"/>
          </a:xfrm>
          <a:prstGeom prst="rect">
            <a:avLst/>
          </a:prstGeom>
          <a:noFill/>
          <a:ln/>
        </p:spPr>
        <p:txBody>
          <a:bodyPr wrap="square" lIns="25400" tIns="25400" rIns="25400" bIns="25400" rtlCol="0" anchor="ctr">
            <a:normAutofit/>
          </a:bodyPr>
          <a:lstStyle/>
          <a:p>
            <a:pPr algn="l" indent="0" marL="0">
              <a:lnSpc>
                <a:spcPct val="110000"/>
              </a:lnSpc>
              <a:buNone/>
            </a:pPr>
            <a:r>
              <a:rPr lang="en-US" sz="1425" b="1" dirty="0">
                <a:solidFill>
                  <a:srgbClr val="2C5F73"/>
                </a:solidFill>
                <a:latin typeface="Archivo" pitchFamily="34" charset="0"/>
                <a:ea typeface="Archivo" pitchFamily="34" charset="-122"/>
                <a:cs typeface="Archivo" pitchFamily="34" charset="-120"/>
              </a:rPr>
              <a:t>Matthew 6:14</a:t>
            </a:r>
            <a:endParaRPr lang="en-US" sz="1425" dirty="0"/>
          </a:p>
        </p:txBody>
      </p:sp>
      <p:sp>
        <p:nvSpPr>
          <p:cNvPr id="32" name="Shape 26"/>
          <p:cNvSpPr/>
          <p:nvPr/>
        </p:nvSpPr>
        <p:spPr>
          <a:xfrm>
            <a:off x="3607445" y="7813625"/>
            <a:ext cx="1436936" cy="313283"/>
          </a:xfrm>
          <a:prstGeom prst="roundRect">
            <a:avLst>
              <a:gd name="adj" fmla="val 24323"/>
            </a:avLst>
          </a:prstGeom>
          <a:solidFill>
            <a:srgbClr val="6E7570">
              <a:alpha val="12000"/>
            </a:srgbClr>
          </a:solidFill>
          <a:ln/>
        </p:spPr>
      </p:sp>
      <p:sp>
        <p:nvSpPr>
          <p:cNvPr id="33" name="Text 27"/>
          <p:cNvSpPr/>
          <p:nvPr/>
        </p:nvSpPr>
        <p:spPr>
          <a:xfrm>
            <a:off x="3731270" y="7870775"/>
            <a:ext cx="1265486" cy="237083"/>
          </a:xfrm>
          <a:prstGeom prst="rect">
            <a:avLst/>
          </a:prstGeom>
          <a:noFill/>
          <a:ln/>
        </p:spPr>
        <p:txBody>
          <a:bodyPr wrap="square" lIns="25400" tIns="25400" rIns="25400" bIns="25400" rtlCol="0" anchor="ctr">
            <a:normAutofit/>
          </a:bodyPr>
          <a:lstStyle/>
          <a:p>
            <a:pPr algn="l" indent="0" marL="0">
              <a:lnSpc>
                <a:spcPct val="110000"/>
              </a:lnSpc>
              <a:buNone/>
            </a:pPr>
            <a:r>
              <a:rPr lang="en-US" sz="1425" b="1" dirty="0">
                <a:solidFill>
                  <a:srgbClr val="6E7570"/>
                </a:solidFill>
                <a:latin typeface="Archivo" pitchFamily="34" charset="0"/>
                <a:ea typeface="Archivo" pitchFamily="34" charset="-122"/>
                <a:cs typeface="Archivo" pitchFamily="34" charset="-120"/>
              </a:rPr>
              <a:t>Special Series</a:t>
            </a:r>
            <a:endParaRPr lang="en-US" sz="1425" dirty="0"/>
          </a:p>
        </p:txBody>
      </p:sp>
      <p:sp>
        <p:nvSpPr>
          <p:cNvPr id="34" name="Text 28"/>
          <p:cNvSpPr/>
          <p:nvPr/>
        </p:nvSpPr>
        <p:spPr>
          <a:xfrm>
            <a:off x="5139630" y="7865418"/>
            <a:ext cx="3355277" cy="247650"/>
          </a:xfrm>
          <a:prstGeom prst="rect">
            <a:avLst/>
          </a:prstGeom>
          <a:noFill/>
          <a:ln/>
        </p:spPr>
        <p:txBody>
          <a:bodyPr wrap="square" lIns="25400" tIns="25400" rIns="25400" bIns="25400" rtlCol="0" anchor="t">
            <a:normAutofit/>
          </a:bodyPr>
          <a:lstStyle/>
          <a:p>
            <a:pPr algn="l" indent="0" marL="0">
              <a:buNone/>
            </a:pPr>
            <a:r>
              <a:rPr lang="en-US" sz="1425" dirty="0">
                <a:solidFill>
                  <a:srgbClr val="6E7570"/>
                </a:solidFill>
                <a:latin typeface="Spline Sans Mono" pitchFamily="34" charset="0"/>
                <a:ea typeface="Spline Sans Mono" pitchFamily="34" charset="-122"/>
                <a:cs typeface="Spline Sans Mono" pitchFamily="34" charset="-120"/>
              </a:rPr>
              <a:t>Pastor Brett Meador · 00:21:30</a:t>
            </a:r>
            <a:endParaRPr lang="en-US" sz="1425" dirty="0"/>
          </a:p>
        </p:txBody>
      </p:sp>
      <p:sp>
        <p:nvSpPr>
          <p:cNvPr id="35" name="Text 29"/>
          <p:cNvSpPr/>
          <p:nvPr/>
        </p:nvSpPr>
        <p:spPr>
          <a:xfrm>
            <a:off x="16870561" y="9572625"/>
            <a:ext cx="350639" cy="314325"/>
          </a:xfrm>
          <a:prstGeom prst="rect">
            <a:avLst/>
          </a:prstGeom>
          <a:noFill/>
          <a:ln/>
        </p:spPr>
        <p:txBody>
          <a:bodyPr wrap="square" lIns="25400" tIns="25400" rIns="25400" bIns="25400" rtlCol="0" anchor="t">
            <a:normAutofit/>
          </a:bodyPr>
          <a:lstStyle/>
          <a:p>
            <a:pPr algn="l" indent="0" marL="0">
              <a:buNone/>
            </a:pPr>
            <a:r>
              <a:rPr lang="en-US" sz="1800" b="1" dirty="0">
                <a:solidFill>
                  <a:srgbClr val="A9ADA4"/>
                </a:solidFill>
                <a:latin typeface="Spline Sans Mono" pitchFamily="34" charset="0"/>
                <a:ea typeface="Spline Sans Mono" pitchFamily="34" charset="-122"/>
                <a:cs typeface="Spline Sans Mono" pitchFamily="34" charset="-120"/>
              </a:rPr>
              <a:t>09</a:t>
            </a:r>
            <a:endParaRPr lang="en-US" sz="1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1EA"/>
        </a:solidFill>
      </p:bgPr>
    </p:bg>
    <p:spTree>
      <p:nvGrpSpPr>
        <p:cNvPr id="1" name=""/>
        <p:cNvGrpSpPr/>
        <p:nvPr/>
      </p:nvGrpSpPr>
      <p:grpSpPr>
        <a:xfrm>
          <a:off x="0" y="0"/>
          <a:ext cx="0" cy="0"/>
          <a:chOff x="0" y="0"/>
          <a:chExt cx="0" cy="0"/>
        </a:xfrm>
      </p:grpSpPr>
      <p:sp>
        <p:nvSpPr>
          <p:cNvPr id="2" name="Text 0"/>
          <p:cNvSpPr/>
          <p:nvPr/>
        </p:nvSpPr>
        <p:spPr>
          <a:xfrm>
            <a:off x="1143000" y="876300"/>
            <a:ext cx="16482060" cy="285750"/>
          </a:xfrm>
          <a:prstGeom prst="rect">
            <a:avLst/>
          </a:prstGeom>
          <a:noFill/>
          <a:ln/>
        </p:spPr>
        <p:txBody>
          <a:bodyPr wrap="square" lIns="25400" tIns="25400" rIns="25400" bIns="25400" rtlCol="0" anchor="t">
            <a:normAutofit/>
          </a:bodyPr>
          <a:lstStyle/>
          <a:p>
            <a:pPr algn="l" indent="0" marL="0">
              <a:buNone/>
            </a:pPr>
            <a:r>
              <a:rPr lang="en-US" sz="1800" b="1" spc="396" kern="0" dirty="0">
                <a:solidFill>
                  <a:srgbClr val="3C7C92"/>
                </a:solidFill>
                <a:latin typeface="Archivo" pitchFamily="34" charset="0"/>
                <a:ea typeface="Archivo" pitchFamily="34" charset="-122"/>
                <a:cs typeface="Archivo" pitchFamily="34" charset="-120"/>
              </a:rPr>
              <a:t>PROPOSED LOOK · PHASE 2</a:t>
            </a:r>
            <a:endParaRPr lang="en-US" sz="1800" dirty="0"/>
          </a:p>
        </p:txBody>
      </p:sp>
      <p:sp>
        <p:nvSpPr>
          <p:cNvPr id="3" name="Text 1"/>
          <p:cNvSpPr/>
          <p:nvPr/>
        </p:nvSpPr>
        <p:spPr>
          <a:xfrm>
            <a:off x="1143000" y="1314450"/>
            <a:ext cx="10727442" cy="1226641"/>
          </a:xfrm>
          <a:prstGeom prst="rect">
            <a:avLst/>
          </a:prstGeom>
          <a:noFill/>
          <a:ln/>
        </p:spPr>
        <p:txBody>
          <a:bodyPr wrap="square" lIns="25400" tIns="25400" rIns="25400" bIns="25400" rtlCol="0" anchor="t">
            <a:normAutofit/>
          </a:bodyPr>
          <a:lstStyle/>
          <a:p>
            <a:pPr algn="l" indent="0" marL="0">
              <a:lnSpc>
                <a:spcPct val="104000"/>
              </a:lnSpc>
              <a:buNone/>
            </a:pPr>
            <a:r>
              <a:rPr lang="en-US" sz="4500" b="1" spc="-45" kern="0" dirty="0">
                <a:solidFill>
                  <a:srgbClr val="2E3330"/>
                </a:solidFill>
                <a:latin typeface="Spectral" pitchFamily="34" charset="0"/>
                <a:ea typeface="Spectral" pitchFamily="34" charset="-122"/>
                <a:cs typeface="Spectral" pitchFamily="34" charset="-120"/>
              </a:rPr>
              <a:t>Better search — ranking and powerful filters.</a:t>
            </a:r>
            <a:endParaRPr lang="en-US" sz="4500" dirty="0"/>
          </a:p>
        </p:txBody>
      </p:sp>
      <p:sp>
        <p:nvSpPr>
          <p:cNvPr id="4" name="Shape 2"/>
          <p:cNvSpPr/>
          <p:nvPr/>
        </p:nvSpPr>
        <p:spPr>
          <a:xfrm>
            <a:off x="1143000" y="3104108"/>
            <a:ext cx="16002000" cy="6048375"/>
          </a:xfrm>
          <a:prstGeom prst="roundRect">
            <a:avLst>
              <a:gd name="adj" fmla="val 3150"/>
            </a:avLst>
          </a:prstGeom>
          <a:solidFill>
            <a:srgbClr val="FCFAF5"/>
          </a:solidFill>
          <a:ln w="9525">
            <a:solidFill>
              <a:srgbClr val="DBD6CC"/>
            </a:solidFill>
            <a:prstDash val="solid"/>
          </a:ln>
          <a:effectLst>
            <a:outerShdw sx="100000" sy="100000" kx="0" ky="0" algn="bl" rotWithShape="0" blurRad="666750" dist="285750" dir="5400000">
              <a:srgbClr val="2E3330">
                <a:alpha val="40000"/>
              </a:srgbClr>
            </a:outerShdw>
          </a:effectLst>
        </p:spPr>
      </p:sp>
      <p:sp>
        <p:nvSpPr>
          <p:cNvPr id="5" name="Shape 3"/>
          <p:cNvSpPr/>
          <p:nvPr/>
        </p:nvSpPr>
        <p:spPr>
          <a:xfrm>
            <a:off x="1152525" y="3904208"/>
            <a:ext cx="15982950" cy="9525"/>
          </a:xfrm>
          <a:prstGeom prst="rect">
            <a:avLst/>
          </a:prstGeom>
          <a:solidFill>
            <a:srgbClr val="DBD6CC"/>
          </a:solidFill>
          <a:ln/>
        </p:spPr>
      </p:sp>
      <p:pic>
        <p:nvPicPr>
          <p:cNvPr id="6" name="Image 0" descr="preencoded.png">    </p:cNvPr>
          <p:cNvPicPr>
            <a:picLocks noChangeAspect="1"/>
          </p:cNvPicPr>
          <p:nvPr/>
        </p:nvPicPr>
        <p:blipFill>
          <a:blip r:embed="rId1"/>
          <a:stretch>
            <a:fillRect/>
          </a:stretch>
        </p:blipFill>
        <p:spPr>
          <a:xfrm>
            <a:off x="1438275" y="3375571"/>
            <a:ext cx="266700" cy="266700"/>
          </a:xfrm>
          <a:prstGeom prst="rect">
            <a:avLst/>
          </a:prstGeom>
        </p:spPr>
      </p:pic>
      <p:sp>
        <p:nvSpPr>
          <p:cNvPr id="7" name="Text 4"/>
          <p:cNvSpPr/>
          <p:nvPr/>
        </p:nvSpPr>
        <p:spPr>
          <a:xfrm>
            <a:off x="1857375" y="3361283"/>
            <a:ext cx="836414" cy="333375"/>
          </a:xfrm>
          <a:prstGeom prst="rect">
            <a:avLst/>
          </a:prstGeom>
          <a:noFill/>
          <a:ln/>
        </p:spPr>
        <p:txBody>
          <a:bodyPr wrap="square" lIns="25400" tIns="25400" rIns="25400" bIns="25400" rtlCol="0" anchor="t">
            <a:normAutofit/>
          </a:bodyPr>
          <a:lstStyle/>
          <a:p>
            <a:pPr algn="l" indent="0" marL="0">
              <a:buNone/>
            </a:pPr>
            <a:r>
              <a:rPr lang="en-US" sz="2100" b="1" dirty="0">
                <a:solidFill>
                  <a:srgbClr val="2E3330"/>
                </a:solidFill>
                <a:latin typeface="Archivo" pitchFamily="34" charset="0"/>
                <a:ea typeface="Archivo" pitchFamily="34" charset="-122"/>
                <a:cs typeface="Archivo" pitchFamily="34" charset="-120"/>
              </a:rPr>
              <a:t>mercy</a:t>
            </a:r>
            <a:endParaRPr lang="en-US" sz="2100" dirty="0"/>
          </a:p>
        </p:txBody>
      </p:sp>
      <p:sp>
        <p:nvSpPr>
          <p:cNvPr id="8" name="Shape 5"/>
          <p:cNvSpPr/>
          <p:nvPr/>
        </p:nvSpPr>
        <p:spPr>
          <a:xfrm>
            <a:off x="13708559" y="3399383"/>
            <a:ext cx="381000" cy="219075"/>
          </a:xfrm>
          <a:prstGeom prst="roundRect">
            <a:avLst>
              <a:gd name="adj" fmla="val 50000"/>
            </a:avLst>
          </a:prstGeom>
          <a:solidFill>
            <a:srgbClr val="3C7C92"/>
          </a:solidFill>
          <a:ln/>
        </p:spPr>
      </p:sp>
      <p:sp>
        <p:nvSpPr>
          <p:cNvPr id="9" name="Shape 6"/>
          <p:cNvSpPr/>
          <p:nvPr/>
        </p:nvSpPr>
        <p:spPr>
          <a:xfrm>
            <a:off x="13894296" y="3423196"/>
            <a:ext cx="171450" cy="171450"/>
          </a:xfrm>
          <a:prstGeom prst="ellipse">
            <a:avLst/>
          </a:prstGeom>
          <a:solidFill>
            <a:srgbClr val="FFFFFF"/>
          </a:solidFill>
          <a:ln/>
        </p:spPr>
      </p:sp>
      <p:sp>
        <p:nvSpPr>
          <p:cNvPr id="10" name="Text 7"/>
          <p:cNvSpPr/>
          <p:nvPr/>
        </p:nvSpPr>
        <p:spPr>
          <a:xfrm>
            <a:off x="14175284" y="3408908"/>
            <a:ext cx="1161455" cy="238125"/>
          </a:xfrm>
          <a:prstGeom prst="rect">
            <a:avLst/>
          </a:prstGeom>
          <a:noFill/>
          <a:ln/>
        </p:spPr>
        <p:txBody>
          <a:bodyPr wrap="square" lIns="0" tIns="0" rIns="0" bIns="0" rtlCol="0" anchor="t">
            <a:normAutofit/>
          </a:bodyPr>
          <a:lstStyle/>
          <a:p>
            <a:pPr algn="l" indent="0" marL="0">
              <a:buNone/>
            </a:pPr>
            <a:r>
              <a:rPr lang="en-US" sz="1425" b="1" dirty="0">
                <a:solidFill>
                  <a:srgbClr val="2C5F73"/>
                </a:solidFill>
                <a:latin typeface="Archivo" pitchFamily="34" charset="0"/>
                <a:ea typeface="Archivo" pitchFamily="34" charset="-122"/>
                <a:cs typeface="Archivo" pitchFamily="34" charset="-120"/>
              </a:rPr>
              <a:t>Exact phrase</a:t>
            </a:r>
            <a:endParaRPr lang="en-US" sz="1425" dirty="0"/>
          </a:p>
        </p:txBody>
      </p:sp>
      <p:sp>
        <p:nvSpPr>
          <p:cNvPr id="11" name="Shape 8"/>
          <p:cNvSpPr/>
          <p:nvPr/>
        </p:nvSpPr>
        <p:spPr>
          <a:xfrm>
            <a:off x="15431988" y="3323183"/>
            <a:ext cx="1417737" cy="371475"/>
          </a:xfrm>
          <a:prstGeom prst="roundRect">
            <a:avLst>
              <a:gd name="adj" fmla="val 20513"/>
            </a:avLst>
          </a:prstGeom>
          <a:ln w="9525">
            <a:solidFill>
              <a:srgbClr val="DBD6CC"/>
            </a:solidFill>
            <a:prstDash val="solid"/>
          </a:ln>
        </p:spPr>
      </p:sp>
      <p:sp>
        <p:nvSpPr>
          <p:cNvPr id="12" name="Text 9"/>
          <p:cNvSpPr/>
          <p:nvPr/>
        </p:nvSpPr>
        <p:spPr>
          <a:xfrm>
            <a:off x="15574863" y="3408908"/>
            <a:ext cx="989112" cy="238125"/>
          </a:xfrm>
          <a:prstGeom prst="rect">
            <a:avLst/>
          </a:prstGeom>
          <a:noFill/>
          <a:ln/>
        </p:spPr>
        <p:txBody>
          <a:bodyPr wrap="square" lIns="0" tIns="0" rIns="0" bIns="0" rtlCol="0" anchor="t">
            <a:normAutofit/>
          </a:bodyPr>
          <a:lstStyle/>
          <a:p>
            <a:pPr algn="l" indent="0" marL="0">
              <a:buNone/>
            </a:pPr>
            <a:r>
              <a:rPr lang="en-US" sz="1425" dirty="0">
                <a:solidFill>
                  <a:srgbClr val="6E7570"/>
                </a:solidFill>
                <a:latin typeface="Archivo" pitchFamily="34" charset="0"/>
                <a:ea typeface="Archivo" pitchFamily="34" charset="-122"/>
                <a:cs typeface="Archivo" pitchFamily="34" charset="-120"/>
              </a:rPr>
              <a:t>Best match</a:t>
            </a:r>
            <a:endParaRPr lang="en-US" sz="1425" dirty="0"/>
          </a:p>
        </p:txBody>
      </p:sp>
      <p:pic>
        <p:nvPicPr>
          <p:cNvPr id="13" name="Image 1" descr="preencoded.png">    </p:cNvPr>
          <p:cNvPicPr>
            <a:picLocks noChangeAspect="1"/>
          </p:cNvPicPr>
          <p:nvPr/>
        </p:nvPicPr>
        <p:blipFill>
          <a:blip r:embed="rId2"/>
          <a:stretch>
            <a:fillRect/>
          </a:stretch>
        </p:blipFill>
        <p:spPr>
          <a:xfrm>
            <a:off x="16563975" y="3437483"/>
            <a:ext cx="142875" cy="142875"/>
          </a:xfrm>
          <a:prstGeom prst="rect">
            <a:avLst/>
          </a:prstGeom>
        </p:spPr>
      </p:pic>
      <p:sp>
        <p:nvSpPr>
          <p:cNvPr id="14" name="Shape 10"/>
          <p:cNvSpPr/>
          <p:nvPr/>
        </p:nvSpPr>
        <p:spPr>
          <a:xfrm>
            <a:off x="4000500" y="3913733"/>
            <a:ext cx="9525" cy="5229225"/>
          </a:xfrm>
          <a:prstGeom prst="rect">
            <a:avLst/>
          </a:prstGeom>
          <a:solidFill>
            <a:srgbClr val="DBD6CC"/>
          </a:solidFill>
          <a:ln/>
        </p:spPr>
      </p:sp>
      <p:sp>
        <p:nvSpPr>
          <p:cNvPr id="15" name="Text 11"/>
          <p:cNvSpPr/>
          <p:nvPr/>
        </p:nvSpPr>
        <p:spPr>
          <a:xfrm>
            <a:off x="1419225" y="4180433"/>
            <a:ext cx="2390775" cy="228600"/>
          </a:xfrm>
          <a:prstGeom prst="rect">
            <a:avLst/>
          </a:prstGeom>
          <a:noFill/>
          <a:ln/>
        </p:spPr>
        <p:txBody>
          <a:bodyPr wrap="square" lIns="25400" tIns="25400" rIns="25400" bIns="25400" rtlCol="0" anchor="t">
            <a:normAutofit/>
          </a:bodyPr>
          <a:lstStyle/>
          <a:p>
            <a:pPr algn="l" indent="0" marL="0">
              <a:buNone/>
            </a:pPr>
            <a:r>
              <a:rPr lang="en-US" sz="1350" b="1" spc="162" kern="0" dirty="0">
                <a:solidFill>
                  <a:srgbClr val="6E7570"/>
                </a:solidFill>
                <a:latin typeface="Archivo" pitchFamily="34" charset="0"/>
                <a:ea typeface="Archivo" pitchFamily="34" charset="-122"/>
                <a:cs typeface="Archivo" pitchFamily="34" charset="-120"/>
              </a:rPr>
              <a:t>BIBLE BOOK</a:t>
            </a:r>
            <a:endParaRPr lang="en-US" sz="1350" dirty="0"/>
          </a:p>
        </p:txBody>
      </p:sp>
      <p:sp>
        <p:nvSpPr>
          <p:cNvPr id="16" name="Shape 12"/>
          <p:cNvSpPr/>
          <p:nvPr/>
        </p:nvSpPr>
        <p:spPr>
          <a:xfrm>
            <a:off x="1419225" y="4504283"/>
            <a:ext cx="974229" cy="371475"/>
          </a:xfrm>
          <a:prstGeom prst="roundRect">
            <a:avLst>
              <a:gd name="adj" fmla="val 50000"/>
            </a:avLst>
          </a:prstGeom>
          <a:solidFill>
            <a:srgbClr val="FFFFFF"/>
          </a:solidFill>
          <a:ln w="9525">
            <a:solidFill>
              <a:srgbClr val="DBD6CC"/>
            </a:solidFill>
            <a:prstDash val="solid"/>
          </a:ln>
        </p:spPr>
      </p:sp>
      <p:sp>
        <p:nvSpPr>
          <p:cNvPr id="17" name="Text 13"/>
          <p:cNvSpPr/>
          <p:nvPr/>
        </p:nvSpPr>
        <p:spPr>
          <a:xfrm>
            <a:off x="1571625" y="4590008"/>
            <a:ext cx="745629" cy="238125"/>
          </a:xfrm>
          <a:prstGeom prst="rect">
            <a:avLst/>
          </a:prstGeom>
          <a:noFill/>
          <a:ln/>
        </p:spPr>
        <p:txBody>
          <a:bodyPr wrap="square" lIns="25400" tIns="25400" rIns="25400" bIns="25400" rtlCol="0" anchor="ctr">
            <a:normAutofit/>
          </a:bodyPr>
          <a:lstStyle/>
          <a:p>
            <a:pPr algn="l" indent="0" marL="0">
              <a:buNone/>
            </a:pPr>
            <a:r>
              <a:rPr lang="en-US" sz="1425" dirty="0">
                <a:solidFill>
                  <a:srgbClr val="2E3330"/>
                </a:solidFill>
                <a:latin typeface="Archivo" pitchFamily="34" charset="0"/>
                <a:ea typeface="Archivo" pitchFamily="34" charset="-122"/>
                <a:cs typeface="Archivo" pitchFamily="34" charset="-120"/>
              </a:rPr>
              <a:t>Genesis</a:t>
            </a:r>
            <a:endParaRPr lang="en-US" sz="1425" dirty="0"/>
          </a:p>
        </p:txBody>
      </p:sp>
      <p:sp>
        <p:nvSpPr>
          <p:cNvPr id="18" name="Shape 14"/>
          <p:cNvSpPr/>
          <p:nvPr/>
        </p:nvSpPr>
        <p:spPr>
          <a:xfrm>
            <a:off x="2469654" y="4504283"/>
            <a:ext cx="904577" cy="371475"/>
          </a:xfrm>
          <a:prstGeom prst="roundRect">
            <a:avLst>
              <a:gd name="adj" fmla="val 50000"/>
            </a:avLst>
          </a:prstGeom>
          <a:solidFill>
            <a:srgbClr val="3C7C92"/>
          </a:solidFill>
          <a:ln w="9525">
            <a:solidFill>
              <a:srgbClr val="3C7C92"/>
            </a:solidFill>
            <a:prstDash val="solid"/>
          </a:ln>
        </p:spPr>
      </p:sp>
      <p:sp>
        <p:nvSpPr>
          <p:cNvPr id="19" name="Text 15"/>
          <p:cNvSpPr/>
          <p:nvPr/>
        </p:nvSpPr>
        <p:spPr>
          <a:xfrm>
            <a:off x="2622054" y="4590008"/>
            <a:ext cx="675977" cy="238125"/>
          </a:xfrm>
          <a:prstGeom prst="rect">
            <a:avLst/>
          </a:prstGeom>
          <a:noFill/>
          <a:ln/>
        </p:spPr>
        <p:txBody>
          <a:bodyPr wrap="square" lIns="25400" tIns="25400" rIns="25400" bIns="25400" rtlCol="0" anchor="ctr">
            <a:normAutofit/>
          </a:bodyPr>
          <a:lstStyle/>
          <a:p>
            <a:pPr algn="l" indent="0" marL="0">
              <a:buNone/>
            </a:pPr>
            <a:r>
              <a:rPr lang="en-US" sz="1425" dirty="0">
                <a:solidFill>
                  <a:srgbClr val="FFFFFF"/>
                </a:solidFill>
                <a:latin typeface="Archivo" pitchFamily="34" charset="0"/>
                <a:ea typeface="Archivo" pitchFamily="34" charset="-122"/>
                <a:cs typeface="Archivo" pitchFamily="34" charset="-120"/>
              </a:rPr>
              <a:t>Psalms</a:t>
            </a:r>
            <a:endParaRPr lang="en-US" sz="1425" dirty="0"/>
          </a:p>
        </p:txBody>
      </p:sp>
      <p:sp>
        <p:nvSpPr>
          <p:cNvPr id="20" name="Shape 16"/>
          <p:cNvSpPr/>
          <p:nvPr/>
        </p:nvSpPr>
        <p:spPr>
          <a:xfrm>
            <a:off x="1419225" y="4951958"/>
            <a:ext cx="996107" cy="371475"/>
          </a:xfrm>
          <a:prstGeom prst="roundRect">
            <a:avLst>
              <a:gd name="adj" fmla="val 50000"/>
            </a:avLst>
          </a:prstGeom>
          <a:solidFill>
            <a:srgbClr val="FFFFFF"/>
          </a:solidFill>
          <a:ln w="9525">
            <a:solidFill>
              <a:srgbClr val="DBD6CC"/>
            </a:solidFill>
            <a:prstDash val="solid"/>
          </a:ln>
        </p:spPr>
      </p:sp>
      <p:sp>
        <p:nvSpPr>
          <p:cNvPr id="21" name="Text 17"/>
          <p:cNvSpPr/>
          <p:nvPr/>
        </p:nvSpPr>
        <p:spPr>
          <a:xfrm>
            <a:off x="1571625" y="5037683"/>
            <a:ext cx="767507" cy="238125"/>
          </a:xfrm>
          <a:prstGeom prst="rect">
            <a:avLst/>
          </a:prstGeom>
          <a:noFill/>
          <a:ln/>
        </p:spPr>
        <p:txBody>
          <a:bodyPr wrap="square" lIns="25400" tIns="25400" rIns="25400" bIns="25400" rtlCol="0" anchor="ctr">
            <a:normAutofit/>
          </a:bodyPr>
          <a:lstStyle/>
          <a:p>
            <a:pPr algn="l" indent="0" marL="0">
              <a:buNone/>
            </a:pPr>
            <a:r>
              <a:rPr lang="en-US" sz="1425" dirty="0">
                <a:solidFill>
                  <a:srgbClr val="2E3330"/>
                </a:solidFill>
                <a:latin typeface="Archivo" pitchFamily="34" charset="0"/>
                <a:ea typeface="Archivo" pitchFamily="34" charset="-122"/>
                <a:cs typeface="Archivo" pitchFamily="34" charset="-120"/>
              </a:rPr>
              <a:t>Matthew</a:t>
            </a:r>
            <a:endParaRPr lang="en-US" sz="1425" dirty="0"/>
          </a:p>
        </p:txBody>
      </p:sp>
      <p:sp>
        <p:nvSpPr>
          <p:cNvPr id="22" name="Shape 18"/>
          <p:cNvSpPr/>
          <p:nvPr/>
        </p:nvSpPr>
        <p:spPr>
          <a:xfrm>
            <a:off x="2491532" y="4951958"/>
            <a:ext cx="985986" cy="371475"/>
          </a:xfrm>
          <a:prstGeom prst="roundRect">
            <a:avLst>
              <a:gd name="adj" fmla="val 50000"/>
            </a:avLst>
          </a:prstGeom>
          <a:solidFill>
            <a:srgbClr val="FFFFFF"/>
          </a:solidFill>
          <a:ln w="9525">
            <a:solidFill>
              <a:srgbClr val="DBD6CC"/>
            </a:solidFill>
            <a:prstDash val="solid"/>
          </a:ln>
        </p:spPr>
      </p:sp>
      <p:sp>
        <p:nvSpPr>
          <p:cNvPr id="23" name="Text 19"/>
          <p:cNvSpPr/>
          <p:nvPr/>
        </p:nvSpPr>
        <p:spPr>
          <a:xfrm>
            <a:off x="2643932" y="5037683"/>
            <a:ext cx="757386" cy="238125"/>
          </a:xfrm>
          <a:prstGeom prst="rect">
            <a:avLst/>
          </a:prstGeom>
          <a:noFill/>
          <a:ln/>
        </p:spPr>
        <p:txBody>
          <a:bodyPr wrap="square" lIns="25400" tIns="25400" rIns="25400" bIns="25400" rtlCol="0" anchor="ctr">
            <a:normAutofit/>
          </a:bodyPr>
          <a:lstStyle/>
          <a:p>
            <a:pPr algn="l" indent="0" marL="0">
              <a:buNone/>
            </a:pPr>
            <a:r>
              <a:rPr lang="en-US" sz="1425" dirty="0">
                <a:solidFill>
                  <a:srgbClr val="2E3330"/>
                </a:solidFill>
                <a:latin typeface="Archivo" pitchFamily="34" charset="0"/>
                <a:ea typeface="Archivo" pitchFamily="34" charset="-122"/>
                <a:cs typeface="Archivo" pitchFamily="34" charset="-120"/>
              </a:rPr>
              <a:t>Romans</a:t>
            </a:r>
            <a:endParaRPr lang="en-US" sz="1425" dirty="0"/>
          </a:p>
        </p:txBody>
      </p:sp>
      <p:sp>
        <p:nvSpPr>
          <p:cNvPr id="24" name="Text 20"/>
          <p:cNvSpPr/>
          <p:nvPr/>
        </p:nvSpPr>
        <p:spPr>
          <a:xfrm>
            <a:off x="1419225" y="5571083"/>
            <a:ext cx="2390775" cy="228600"/>
          </a:xfrm>
          <a:prstGeom prst="rect">
            <a:avLst/>
          </a:prstGeom>
          <a:noFill/>
          <a:ln/>
        </p:spPr>
        <p:txBody>
          <a:bodyPr wrap="square" lIns="25400" tIns="25400" rIns="25400" bIns="25400" rtlCol="0" anchor="t">
            <a:normAutofit/>
          </a:bodyPr>
          <a:lstStyle/>
          <a:p>
            <a:pPr algn="l" indent="0" marL="0">
              <a:buNone/>
            </a:pPr>
            <a:r>
              <a:rPr lang="en-US" sz="1350" b="1" spc="162" kern="0" dirty="0">
                <a:solidFill>
                  <a:srgbClr val="6E7570"/>
                </a:solidFill>
                <a:latin typeface="Archivo" pitchFamily="34" charset="0"/>
                <a:ea typeface="Archivo" pitchFamily="34" charset="-122"/>
                <a:cs typeface="Archivo" pitchFamily="34" charset="-120"/>
              </a:rPr>
              <a:t>SERIES</a:t>
            </a:r>
            <a:endParaRPr lang="en-US" sz="1350" dirty="0"/>
          </a:p>
        </p:txBody>
      </p:sp>
      <p:sp>
        <p:nvSpPr>
          <p:cNvPr id="25" name="Shape 21"/>
          <p:cNvSpPr/>
          <p:nvPr/>
        </p:nvSpPr>
        <p:spPr>
          <a:xfrm>
            <a:off x="1419225" y="5894933"/>
            <a:ext cx="1721941" cy="371475"/>
          </a:xfrm>
          <a:prstGeom prst="roundRect">
            <a:avLst>
              <a:gd name="adj" fmla="val 50000"/>
            </a:avLst>
          </a:prstGeom>
          <a:solidFill>
            <a:srgbClr val="3C7C92"/>
          </a:solidFill>
          <a:ln w="9525">
            <a:solidFill>
              <a:srgbClr val="3C7C92"/>
            </a:solidFill>
            <a:prstDash val="solid"/>
          </a:ln>
        </p:spPr>
      </p:sp>
      <p:sp>
        <p:nvSpPr>
          <p:cNvPr id="26" name="Text 22"/>
          <p:cNvSpPr/>
          <p:nvPr/>
        </p:nvSpPr>
        <p:spPr>
          <a:xfrm>
            <a:off x="1571625" y="5980658"/>
            <a:ext cx="1493341" cy="238125"/>
          </a:xfrm>
          <a:prstGeom prst="rect">
            <a:avLst/>
          </a:prstGeom>
          <a:noFill/>
          <a:ln/>
        </p:spPr>
        <p:txBody>
          <a:bodyPr wrap="square" lIns="25400" tIns="25400" rIns="25400" bIns="25400" rtlCol="0" anchor="ctr">
            <a:normAutofit/>
          </a:bodyPr>
          <a:lstStyle/>
          <a:p>
            <a:pPr algn="l" indent="0" marL="0">
              <a:buNone/>
            </a:pPr>
            <a:r>
              <a:rPr lang="en-US" sz="1425" dirty="0">
                <a:solidFill>
                  <a:srgbClr val="FFFFFF"/>
                </a:solidFill>
                <a:latin typeface="Archivo" pitchFamily="34" charset="0"/>
                <a:ea typeface="Archivo" pitchFamily="34" charset="-122"/>
                <a:cs typeface="Archivo" pitchFamily="34" charset="-120"/>
              </a:rPr>
              <a:t>Through the Bible</a:t>
            </a:r>
            <a:endParaRPr lang="en-US" sz="1425" dirty="0"/>
          </a:p>
        </p:txBody>
      </p:sp>
      <p:sp>
        <p:nvSpPr>
          <p:cNvPr id="27" name="Shape 23"/>
          <p:cNvSpPr/>
          <p:nvPr/>
        </p:nvSpPr>
        <p:spPr>
          <a:xfrm>
            <a:off x="1419225" y="6342608"/>
            <a:ext cx="1453009" cy="371475"/>
          </a:xfrm>
          <a:prstGeom prst="roundRect">
            <a:avLst>
              <a:gd name="adj" fmla="val 50000"/>
            </a:avLst>
          </a:prstGeom>
          <a:solidFill>
            <a:srgbClr val="FFFFFF"/>
          </a:solidFill>
          <a:ln w="9525">
            <a:solidFill>
              <a:srgbClr val="DBD6CC"/>
            </a:solidFill>
            <a:prstDash val="solid"/>
          </a:ln>
        </p:spPr>
      </p:sp>
      <p:sp>
        <p:nvSpPr>
          <p:cNvPr id="28" name="Text 24"/>
          <p:cNvSpPr/>
          <p:nvPr/>
        </p:nvSpPr>
        <p:spPr>
          <a:xfrm>
            <a:off x="1571625" y="6428333"/>
            <a:ext cx="1224409" cy="238125"/>
          </a:xfrm>
          <a:prstGeom prst="rect">
            <a:avLst/>
          </a:prstGeom>
          <a:noFill/>
          <a:ln/>
        </p:spPr>
        <p:txBody>
          <a:bodyPr wrap="square" lIns="25400" tIns="25400" rIns="25400" bIns="25400" rtlCol="0" anchor="ctr">
            <a:normAutofit/>
          </a:bodyPr>
          <a:lstStyle/>
          <a:p>
            <a:pPr algn="l" indent="0" marL="0">
              <a:buNone/>
            </a:pPr>
            <a:r>
              <a:rPr lang="en-US" sz="1425" dirty="0">
                <a:solidFill>
                  <a:srgbClr val="2E3330"/>
                </a:solidFill>
                <a:latin typeface="Archivo" pitchFamily="34" charset="0"/>
                <a:ea typeface="Archivo" pitchFamily="34" charset="-122"/>
                <a:cs typeface="Archivo" pitchFamily="34" charset="-120"/>
              </a:rPr>
              <a:t>Special Series</a:t>
            </a:r>
            <a:endParaRPr lang="en-US" sz="1425" dirty="0"/>
          </a:p>
        </p:txBody>
      </p:sp>
      <p:sp>
        <p:nvSpPr>
          <p:cNvPr id="29" name="Text 25"/>
          <p:cNvSpPr/>
          <p:nvPr/>
        </p:nvSpPr>
        <p:spPr>
          <a:xfrm>
            <a:off x="1419225" y="6961733"/>
            <a:ext cx="2390775" cy="228600"/>
          </a:xfrm>
          <a:prstGeom prst="rect">
            <a:avLst/>
          </a:prstGeom>
          <a:noFill/>
          <a:ln/>
        </p:spPr>
        <p:txBody>
          <a:bodyPr wrap="square" lIns="25400" tIns="25400" rIns="25400" bIns="25400" rtlCol="0" anchor="t">
            <a:normAutofit/>
          </a:bodyPr>
          <a:lstStyle/>
          <a:p>
            <a:pPr algn="l" indent="0" marL="0">
              <a:buNone/>
            </a:pPr>
            <a:r>
              <a:rPr lang="en-US" sz="1350" b="1" spc="162" kern="0" dirty="0">
                <a:solidFill>
                  <a:srgbClr val="6E7570"/>
                </a:solidFill>
                <a:latin typeface="Archivo" pitchFamily="34" charset="0"/>
                <a:ea typeface="Archivo" pitchFamily="34" charset="-122"/>
                <a:cs typeface="Archivo" pitchFamily="34" charset="-120"/>
              </a:rPr>
              <a:t>SPEAKER</a:t>
            </a:r>
            <a:endParaRPr lang="en-US" sz="1350" dirty="0"/>
          </a:p>
        </p:txBody>
      </p:sp>
      <p:sp>
        <p:nvSpPr>
          <p:cNvPr id="30" name="Shape 26"/>
          <p:cNvSpPr/>
          <p:nvPr/>
        </p:nvSpPr>
        <p:spPr>
          <a:xfrm>
            <a:off x="1419225" y="7285583"/>
            <a:ext cx="1350615" cy="371475"/>
          </a:xfrm>
          <a:prstGeom prst="roundRect">
            <a:avLst>
              <a:gd name="adj" fmla="val 50000"/>
            </a:avLst>
          </a:prstGeom>
          <a:solidFill>
            <a:srgbClr val="FFFFFF"/>
          </a:solidFill>
          <a:ln w="9525">
            <a:solidFill>
              <a:srgbClr val="DBD6CC"/>
            </a:solidFill>
            <a:prstDash val="solid"/>
          </a:ln>
        </p:spPr>
      </p:sp>
      <p:sp>
        <p:nvSpPr>
          <p:cNvPr id="31" name="Text 27"/>
          <p:cNvSpPr/>
          <p:nvPr/>
        </p:nvSpPr>
        <p:spPr>
          <a:xfrm>
            <a:off x="1571625" y="7371308"/>
            <a:ext cx="1122015" cy="238125"/>
          </a:xfrm>
          <a:prstGeom prst="rect">
            <a:avLst/>
          </a:prstGeom>
          <a:noFill/>
          <a:ln/>
        </p:spPr>
        <p:txBody>
          <a:bodyPr wrap="square" lIns="25400" tIns="25400" rIns="25400" bIns="25400" rtlCol="0" anchor="ctr">
            <a:normAutofit/>
          </a:bodyPr>
          <a:lstStyle/>
          <a:p>
            <a:pPr algn="l" indent="0" marL="0">
              <a:buNone/>
            </a:pPr>
            <a:r>
              <a:rPr lang="en-US" sz="1425" dirty="0">
                <a:solidFill>
                  <a:srgbClr val="2E3330"/>
                </a:solidFill>
                <a:latin typeface="Archivo" pitchFamily="34" charset="0"/>
                <a:ea typeface="Archivo" pitchFamily="34" charset="-122"/>
                <a:cs typeface="Archivo" pitchFamily="34" charset="-120"/>
              </a:rPr>
              <a:t>Brett Meador</a:t>
            </a:r>
            <a:endParaRPr lang="en-US" sz="1425" dirty="0"/>
          </a:p>
        </p:txBody>
      </p:sp>
      <p:sp>
        <p:nvSpPr>
          <p:cNvPr id="32" name="Shape 28"/>
          <p:cNvSpPr/>
          <p:nvPr/>
        </p:nvSpPr>
        <p:spPr>
          <a:xfrm>
            <a:off x="1419225" y="7733258"/>
            <a:ext cx="888057" cy="371475"/>
          </a:xfrm>
          <a:prstGeom prst="roundRect">
            <a:avLst>
              <a:gd name="adj" fmla="val 50000"/>
            </a:avLst>
          </a:prstGeom>
          <a:solidFill>
            <a:srgbClr val="FFFFFF"/>
          </a:solidFill>
          <a:ln w="9525">
            <a:solidFill>
              <a:srgbClr val="DBD6CC"/>
            </a:solidFill>
            <a:prstDash val="solid"/>
          </a:ln>
        </p:spPr>
      </p:sp>
      <p:sp>
        <p:nvSpPr>
          <p:cNvPr id="33" name="Text 29"/>
          <p:cNvSpPr/>
          <p:nvPr/>
        </p:nvSpPr>
        <p:spPr>
          <a:xfrm>
            <a:off x="1571625" y="7818983"/>
            <a:ext cx="659457" cy="238125"/>
          </a:xfrm>
          <a:prstGeom prst="rect">
            <a:avLst/>
          </a:prstGeom>
          <a:noFill/>
          <a:ln/>
        </p:spPr>
        <p:txBody>
          <a:bodyPr wrap="square" lIns="25400" tIns="25400" rIns="25400" bIns="25400" rtlCol="0" anchor="ctr">
            <a:normAutofit/>
          </a:bodyPr>
          <a:lstStyle/>
          <a:p>
            <a:pPr algn="l" indent="0" marL="0">
              <a:buNone/>
            </a:pPr>
            <a:r>
              <a:rPr lang="en-US" sz="1425" dirty="0">
                <a:solidFill>
                  <a:srgbClr val="2E3330"/>
                </a:solidFill>
                <a:latin typeface="Archivo" pitchFamily="34" charset="0"/>
                <a:ea typeface="Archivo" pitchFamily="34" charset="-122"/>
                <a:cs typeface="Archivo" pitchFamily="34" charset="-120"/>
              </a:rPr>
              <a:t>Guests</a:t>
            </a:r>
            <a:endParaRPr lang="en-US" sz="1425" dirty="0"/>
          </a:p>
        </p:txBody>
      </p:sp>
      <p:sp>
        <p:nvSpPr>
          <p:cNvPr id="34" name="Text 30"/>
          <p:cNvSpPr/>
          <p:nvPr/>
        </p:nvSpPr>
        <p:spPr>
          <a:xfrm>
            <a:off x="1419225" y="8352383"/>
            <a:ext cx="2390775" cy="228600"/>
          </a:xfrm>
          <a:prstGeom prst="rect">
            <a:avLst/>
          </a:prstGeom>
          <a:noFill/>
          <a:ln/>
        </p:spPr>
        <p:txBody>
          <a:bodyPr wrap="square" lIns="25400" tIns="25400" rIns="25400" bIns="25400" rtlCol="0" anchor="t">
            <a:normAutofit/>
          </a:bodyPr>
          <a:lstStyle/>
          <a:p>
            <a:pPr algn="l" indent="0" marL="0">
              <a:buNone/>
            </a:pPr>
            <a:r>
              <a:rPr lang="en-US" sz="1350" b="1" spc="162" kern="0" dirty="0">
                <a:solidFill>
                  <a:srgbClr val="6E7570"/>
                </a:solidFill>
                <a:latin typeface="Archivo" pitchFamily="34" charset="0"/>
                <a:ea typeface="Archivo" pitchFamily="34" charset="-122"/>
                <a:cs typeface="Archivo" pitchFamily="34" charset="-120"/>
              </a:rPr>
              <a:t>DATE RANGE</a:t>
            </a:r>
            <a:endParaRPr lang="en-US" sz="1350" dirty="0"/>
          </a:p>
        </p:txBody>
      </p:sp>
      <p:sp>
        <p:nvSpPr>
          <p:cNvPr id="35" name="Text 31"/>
          <p:cNvSpPr/>
          <p:nvPr/>
        </p:nvSpPr>
        <p:spPr>
          <a:xfrm>
            <a:off x="1419225" y="8676233"/>
            <a:ext cx="487710" cy="238125"/>
          </a:xfrm>
          <a:prstGeom prst="rect">
            <a:avLst/>
          </a:prstGeom>
          <a:noFill/>
          <a:ln/>
        </p:spPr>
        <p:txBody>
          <a:bodyPr wrap="square" lIns="25400" tIns="25400" rIns="25400" bIns="25400" rtlCol="0" anchor="t">
            <a:normAutofit/>
          </a:bodyPr>
          <a:lstStyle/>
          <a:p>
            <a:pPr algn="l" indent="0" marL="0">
              <a:buNone/>
            </a:pPr>
            <a:r>
              <a:rPr lang="en-US" sz="1350" dirty="0">
                <a:solidFill>
                  <a:srgbClr val="6E7570"/>
                </a:solidFill>
                <a:latin typeface="Spline Sans Mono" pitchFamily="34" charset="0"/>
                <a:ea typeface="Spline Sans Mono" pitchFamily="34" charset="-122"/>
                <a:cs typeface="Spline Sans Mono" pitchFamily="34" charset="-120"/>
              </a:rPr>
              <a:t>2013</a:t>
            </a:r>
            <a:endParaRPr lang="en-US" sz="1350" dirty="0"/>
          </a:p>
        </p:txBody>
      </p:sp>
      <p:sp>
        <p:nvSpPr>
          <p:cNvPr id="36" name="Shape 32"/>
          <p:cNvSpPr/>
          <p:nvPr/>
        </p:nvSpPr>
        <p:spPr>
          <a:xfrm>
            <a:off x="1945035" y="8747671"/>
            <a:ext cx="1262955" cy="57150"/>
          </a:xfrm>
          <a:prstGeom prst="roundRect">
            <a:avLst>
              <a:gd name="adj" fmla="val 50000"/>
            </a:avLst>
          </a:prstGeom>
          <a:solidFill>
            <a:srgbClr val="DBD6CC"/>
          </a:solidFill>
          <a:ln/>
        </p:spPr>
      </p:sp>
      <p:sp>
        <p:nvSpPr>
          <p:cNvPr id="37" name="Shape 33"/>
          <p:cNvSpPr/>
          <p:nvPr/>
        </p:nvSpPr>
        <p:spPr>
          <a:xfrm>
            <a:off x="2121843" y="8747671"/>
            <a:ext cx="1086148" cy="57150"/>
          </a:xfrm>
          <a:prstGeom prst="roundRect">
            <a:avLst>
              <a:gd name="adj" fmla="val 50000"/>
            </a:avLst>
          </a:prstGeom>
          <a:solidFill>
            <a:srgbClr val="3C7C92"/>
          </a:solidFill>
          <a:ln/>
        </p:spPr>
      </p:sp>
      <p:sp>
        <p:nvSpPr>
          <p:cNvPr id="38" name="Text 34"/>
          <p:cNvSpPr/>
          <p:nvPr/>
        </p:nvSpPr>
        <p:spPr>
          <a:xfrm>
            <a:off x="3322290" y="8676233"/>
            <a:ext cx="487710" cy="238125"/>
          </a:xfrm>
          <a:prstGeom prst="rect">
            <a:avLst/>
          </a:prstGeom>
          <a:noFill/>
          <a:ln/>
        </p:spPr>
        <p:txBody>
          <a:bodyPr wrap="square" lIns="25400" tIns="25400" rIns="25400" bIns="25400" rtlCol="0" anchor="t">
            <a:normAutofit/>
          </a:bodyPr>
          <a:lstStyle/>
          <a:p>
            <a:pPr algn="l" indent="0" marL="0">
              <a:buNone/>
            </a:pPr>
            <a:r>
              <a:rPr lang="en-US" sz="1350" dirty="0">
                <a:solidFill>
                  <a:srgbClr val="6E7570"/>
                </a:solidFill>
                <a:latin typeface="Spline Sans Mono" pitchFamily="34" charset="0"/>
                <a:ea typeface="Spline Sans Mono" pitchFamily="34" charset="-122"/>
                <a:cs typeface="Spline Sans Mono" pitchFamily="34" charset="-120"/>
              </a:rPr>
              <a:t>2026</a:t>
            </a:r>
            <a:endParaRPr lang="en-US" sz="1350" dirty="0"/>
          </a:p>
        </p:txBody>
      </p:sp>
      <p:sp>
        <p:nvSpPr>
          <p:cNvPr id="39" name="Shape 35"/>
          <p:cNvSpPr/>
          <p:nvPr/>
        </p:nvSpPr>
        <p:spPr>
          <a:xfrm>
            <a:off x="4295775" y="4199483"/>
            <a:ext cx="495300" cy="495300"/>
          </a:xfrm>
          <a:prstGeom prst="ellipse">
            <a:avLst/>
          </a:prstGeom>
          <a:solidFill>
            <a:srgbClr val="3C7C92"/>
          </a:solidFill>
          <a:ln/>
        </p:spPr>
      </p:sp>
      <p:pic>
        <p:nvPicPr>
          <p:cNvPr id="40" name="Image 2" descr="preencoded.png">    </p:cNvPr>
          <p:cNvPicPr>
            <a:picLocks noChangeAspect="1"/>
          </p:cNvPicPr>
          <p:nvPr/>
        </p:nvPicPr>
        <p:blipFill>
          <a:blip r:embed="rId3"/>
          <a:stretch>
            <a:fillRect/>
          </a:stretch>
        </p:blipFill>
        <p:spPr>
          <a:xfrm>
            <a:off x="4448175" y="4351883"/>
            <a:ext cx="190500" cy="190500"/>
          </a:xfrm>
          <a:prstGeom prst="rect">
            <a:avLst/>
          </a:prstGeom>
        </p:spPr>
      </p:pic>
      <p:sp>
        <p:nvSpPr>
          <p:cNvPr id="41" name="Text 36"/>
          <p:cNvSpPr/>
          <p:nvPr/>
        </p:nvSpPr>
        <p:spPr>
          <a:xfrm>
            <a:off x="5000625" y="4199483"/>
            <a:ext cx="1145084" cy="200025"/>
          </a:xfrm>
          <a:prstGeom prst="rect">
            <a:avLst/>
          </a:prstGeom>
          <a:noFill/>
          <a:ln/>
        </p:spPr>
        <p:txBody>
          <a:bodyPr wrap="square" lIns="25400" tIns="25400" rIns="25400" bIns="25400" rtlCol="0" anchor="t">
            <a:normAutofit/>
          </a:bodyPr>
          <a:lstStyle/>
          <a:p>
            <a:pPr algn="l" indent="0" marL="0">
              <a:buNone/>
            </a:pPr>
            <a:r>
              <a:rPr lang="en-US" sz="1200" b="1" spc="96" kern="0" dirty="0">
                <a:solidFill>
                  <a:srgbClr val="3C7C92"/>
                </a:solidFill>
                <a:latin typeface="Archivo" pitchFamily="34" charset="0"/>
                <a:ea typeface="Archivo" pitchFamily="34" charset="-122"/>
                <a:cs typeface="Archivo" pitchFamily="34" charset="-120"/>
              </a:rPr>
              <a:t>TOP RESULT</a:t>
            </a:r>
            <a:endParaRPr lang="en-US" sz="1200" dirty="0"/>
          </a:p>
        </p:txBody>
      </p:sp>
      <p:sp>
        <p:nvSpPr>
          <p:cNvPr id="42" name="Text 37"/>
          <p:cNvSpPr/>
          <p:nvPr/>
        </p:nvSpPr>
        <p:spPr>
          <a:xfrm>
            <a:off x="5000625" y="4437608"/>
            <a:ext cx="12204573" cy="371475"/>
          </a:xfrm>
          <a:prstGeom prst="rect">
            <a:avLst/>
          </a:prstGeom>
          <a:noFill/>
          <a:ln/>
        </p:spPr>
        <p:txBody>
          <a:bodyPr wrap="square" lIns="25400" tIns="25400" rIns="25400" bIns="25400" rtlCol="0" anchor="t">
            <a:normAutofit/>
          </a:bodyPr>
          <a:lstStyle/>
          <a:p>
            <a:pPr algn="l" indent="0" marL="0">
              <a:lnSpc>
                <a:spcPct val="140000"/>
              </a:lnSpc>
              <a:buNone/>
            </a:pPr>
            <a:r>
              <a:rPr lang="en-US" sz="1875" dirty="0">
                <a:solidFill>
                  <a:srgbClr val="2E3330"/>
                </a:solidFill>
                <a:latin typeface="Archivo" pitchFamily="34" charset="0"/>
                <a:ea typeface="Archivo" pitchFamily="34" charset="-122"/>
                <a:cs typeface="Archivo" pitchFamily="34" charset="-120"/>
              </a:rPr>
              <a:t>… the Lord is gracious and full of compassion, slow to anger and abounding in </a:t>
            </a:r>
            <a:pPr algn="l" indent="0" marL="0">
              <a:lnSpc>
                <a:spcPct val="140000"/>
              </a:lnSpc>
              <a:buNone/>
            </a:pPr>
            <a:r>
              <a:rPr lang="en-US" sz="1875" b="1" dirty="0">
                <a:solidFill>
                  <a:srgbClr val="5A4517"/>
                </a:solidFill>
                <a:highlight>
                  <a:srgbClr val="F1D9A3"/>
                </a:highlight>
                <a:latin typeface="Archivo" pitchFamily="34" charset="0"/>
                <a:ea typeface="Archivo" pitchFamily="34" charset="-122"/>
                <a:cs typeface="Archivo" pitchFamily="34" charset="-120"/>
              </a:rPr>
              <a:t>mercy </a:t>
            </a:r>
            <a:pPr algn="l" indent="0" marL="0">
              <a:lnSpc>
                <a:spcPct val="140000"/>
              </a:lnSpc>
              <a:buNone/>
            </a:pPr>
            <a:r>
              <a:rPr lang="en-US" sz="1875" dirty="0">
                <a:solidFill>
                  <a:srgbClr val="2E3330"/>
                </a:solidFill>
                <a:latin typeface="Archivo" pitchFamily="34" charset="0"/>
                <a:ea typeface="Archivo" pitchFamily="34" charset="-122"/>
                <a:cs typeface="Archivo" pitchFamily="34" charset="-120"/>
              </a:rPr>
              <a:t>…</a:t>
            </a:r>
            <a:endParaRPr lang="en-US" sz="1875" dirty="0"/>
          </a:p>
        </p:txBody>
      </p:sp>
      <p:sp>
        <p:nvSpPr>
          <p:cNvPr id="43" name="Shape 38"/>
          <p:cNvSpPr/>
          <p:nvPr/>
        </p:nvSpPr>
        <p:spPr>
          <a:xfrm>
            <a:off x="5000625" y="4904333"/>
            <a:ext cx="1282750" cy="313283"/>
          </a:xfrm>
          <a:prstGeom prst="roundRect">
            <a:avLst>
              <a:gd name="adj" fmla="val 24323"/>
            </a:avLst>
          </a:prstGeom>
          <a:solidFill>
            <a:srgbClr val="3C7C92">
              <a:alpha val="12000"/>
            </a:srgbClr>
          </a:solidFill>
          <a:ln/>
        </p:spPr>
      </p:sp>
      <p:sp>
        <p:nvSpPr>
          <p:cNvPr id="44" name="Text 39"/>
          <p:cNvSpPr/>
          <p:nvPr/>
        </p:nvSpPr>
        <p:spPr>
          <a:xfrm>
            <a:off x="5124450" y="4961483"/>
            <a:ext cx="1111300" cy="237083"/>
          </a:xfrm>
          <a:prstGeom prst="rect">
            <a:avLst/>
          </a:prstGeom>
          <a:noFill/>
          <a:ln/>
        </p:spPr>
        <p:txBody>
          <a:bodyPr wrap="square" lIns="25400" tIns="25400" rIns="25400" bIns="25400" rtlCol="0" anchor="ctr">
            <a:normAutofit/>
          </a:bodyPr>
          <a:lstStyle/>
          <a:p>
            <a:pPr algn="l" indent="0" marL="0">
              <a:lnSpc>
                <a:spcPct val="110000"/>
              </a:lnSpc>
              <a:buNone/>
            </a:pPr>
            <a:r>
              <a:rPr lang="en-US" sz="1425" b="1" dirty="0">
                <a:solidFill>
                  <a:srgbClr val="2C5F73"/>
                </a:solidFill>
                <a:latin typeface="Archivo" pitchFamily="34" charset="0"/>
                <a:ea typeface="Archivo" pitchFamily="34" charset="-122"/>
                <a:cs typeface="Archivo" pitchFamily="34" charset="-120"/>
              </a:rPr>
              <a:t>Psalm 103:8</a:t>
            </a:r>
            <a:endParaRPr lang="en-US" sz="1425" dirty="0"/>
          </a:p>
        </p:txBody>
      </p:sp>
      <p:sp>
        <p:nvSpPr>
          <p:cNvPr id="45" name="Shape 40"/>
          <p:cNvSpPr/>
          <p:nvPr/>
        </p:nvSpPr>
        <p:spPr>
          <a:xfrm>
            <a:off x="6378625" y="4904333"/>
            <a:ext cx="1719560" cy="313283"/>
          </a:xfrm>
          <a:prstGeom prst="roundRect">
            <a:avLst>
              <a:gd name="adj" fmla="val 24323"/>
            </a:avLst>
          </a:prstGeom>
          <a:solidFill>
            <a:srgbClr val="6E7570">
              <a:alpha val="12000"/>
            </a:srgbClr>
          </a:solidFill>
          <a:ln/>
        </p:spPr>
      </p:sp>
      <p:sp>
        <p:nvSpPr>
          <p:cNvPr id="46" name="Text 41"/>
          <p:cNvSpPr/>
          <p:nvPr/>
        </p:nvSpPr>
        <p:spPr>
          <a:xfrm>
            <a:off x="6502450" y="4961483"/>
            <a:ext cx="1548110" cy="237083"/>
          </a:xfrm>
          <a:prstGeom prst="rect">
            <a:avLst/>
          </a:prstGeom>
          <a:noFill/>
          <a:ln/>
        </p:spPr>
        <p:txBody>
          <a:bodyPr wrap="square" lIns="25400" tIns="25400" rIns="25400" bIns="25400" rtlCol="0" anchor="ctr">
            <a:normAutofit/>
          </a:bodyPr>
          <a:lstStyle/>
          <a:p>
            <a:pPr algn="l" indent="0" marL="0">
              <a:lnSpc>
                <a:spcPct val="110000"/>
              </a:lnSpc>
              <a:buNone/>
            </a:pPr>
            <a:r>
              <a:rPr lang="en-US" sz="1425" b="1" dirty="0">
                <a:solidFill>
                  <a:srgbClr val="6E7570"/>
                </a:solidFill>
                <a:latin typeface="Archivo" pitchFamily="34" charset="0"/>
                <a:ea typeface="Archivo" pitchFamily="34" charset="-122"/>
                <a:cs typeface="Archivo" pitchFamily="34" charset="-120"/>
              </a:rPr>
              <a:t>Through the Bible</a:t>
            </a:r>
            <a:endParaRPr lang="en-US" sz="1425" dirty="0"/>
          </a:p>
        </p:txBody>
      </p:sp>
      <p:sp>
        <p:nvSpPr>
          <p:cNvPr id="47" name="Text 42"/>
          <p:cNvSpPr/>
          <p:nvPr/>
        </p:nvSpPr>
        <p:spPr>
          <a:xfrm>
            <a:off x="8193435" y="4956125"/>
            <a:ext cx="944910" cy="247650"/>
          </a:xfrm>
          <a:prstGeom prst="rect">
            <a:avLst/>
          </a:prstGeom>
          <a:noFill/>
          <a:ln/>
        </p:spPr>
        <p:txBody>
          <a:bodyPr wrap="square" lIns="25400" tIns="25400" rIns="25400" bIns="25400" rtlCol="0" anchor="t">
            <a:normAutofit/>
          </a:bodyPr>
          <a:lstStyle/>
          <a:p>
            <a:pPr algn="l" indent="0" marL="0">
              <a:buNone/>
            </a:pPr>
            <a:r>
              <a:rPr lang="en-US" sz="1425" dirty="0">
                <a:solidFill>
                  <a:srgbClr val="6E7570"/>
                </a:solidFill>
                <a:latin typeface="Spline Sans Mono" pitchFamily="34" charset="0"/>
                <a:ea typeface="Spline Sans Mono" pitchFamily="34" charset="-122"/>
                <a:cs typeface="Spline Sans Mono" pitchFamily="34" charset="-120"/>
              </a:rPr>
              <a:t>00:14:09</a:t>
            </a:r>
            <a:endParaRPr lang="en-US" sz="1425" dirty="0"/>
          </a:p>
        </p:txBody>
      </p:sp>
      <p:sp>
        <p:nvSpPr>
          <p:cNvPr id="48" name="Shape 43"/>
          <p:cNvSpPr/>
          <p:nvPr/>
        </p:nvSpPr>
        <p:spPr>
          <a:xfrm>
            <a:off x="4010025" y="5446216"/>
            <a:ext cx="13125450" cy="9525"/>
          </a:xfrm>
          <a:prstGeom prst="rect">
            <a:avLst/>
          </a:prstGeom>
          <a:solidFill>
            <a:srgbClr val="DBD6CC"/>
          </a:solidFill>
          <a:ln/>
        </p:spPr>
      </p:sp>
      <p:sp>
        <p:nvSpPr>
          <p:cNvPr id="49" name="Shape 44"/>
          <p:cNvSpPr/>
          <p:nvPr/>
        </p:nvSpPr>
        <p:spPr>
          <a:xfrm>
            <a:off x="4295775" y="5684341"/>
            <a:ext cx="495300" cy="495300"/>
          </a:xfrm>
          <a:prstGeom prst="ellipse">
            <a:avLst/>
          </a:prstGeom>
          <a:solidFill>
            <a:srgbClr val="3C7C92"/>
          </a:solidFill>
          <a:ln/>
        </p:spPr>
      </p:sp>
      <p:pic>
        <p:nvPicPr>
          <p:cNvPr id="50" name="Image 3" descr="preencoded.png">    </p:cNvPr>
          <p:cNvPicPr>
            <a:picLocks noChangeAspect="1"/>
          </p:cNvPicPr>
          <p:nvPr/>
        </p:nvPicPr>
        <p:blipFill>
          <a:blip r:embed="rId4"/>
          <a:stretch>
            <a:fillRect/>
          </a:stretch>
        </p:blipFill>
        <p:spPr>
          <a:xfrm>
            <a:off x="4448175" y="5836741"/>
            <a:ext cx="190500" cy="190500"/>
          </a:xfrm>
          <a:prstGeom prst="rect">
            <a:avLst/>
          </a:prstGeom>
        </p:spPr>
      </p:pic>
      <p:sp>
        <p:nvSpPr>
          <p:cNvPr id="51" name="Text 45"/>
          <p:cNvSpPr/>
          <p:nvPr/>
        </p:nvSpPr>
        <p:spPr>
          <a:xfrm>
            <a:off x="5000625" y="5684341"/>
            <a:ext cx="12204573" cy="371475"/>
          </a:xfrm>
          <a:prstGeom prst="rect">
            <a:avLst/>
          </a:prstGeom>
          <a:noFill/>
          <a:ln/>
        </p:spPr>
        <p:txBody>
          <a:bodyPr wrap="square" lIns="25400" tIns="25400" rIns="25400" bIns="25400" rtlCol="0" anchor="t">
            <a:normAutofit/>
          </a:bodyPr>
          <a:lstStyle/>
          <a:p>
            <a:pPr algn="l" indent="0" marL="0">
              <a:lnSpc>
                <a:spcPct val="140000"/>
              </a:lnSpc>
              <a:buNone/>
            </a:pPr>
            <a:r>
              <a:rPr lang="en-US" sz="1875" dirty="0">
                <a:solidFill>
                  <a:srgbClr val="2E3330"/>
                </a:solidFill>
                <a:latin typeface="Archivo" pitchFamily="34" charset="0"/>
                <a:ea typeface="Archivo" pitchFamily="34" charset="-122"/>
                <a:cs typeface="Archivo" pitchFamily="34" charset="-120"/>
              </a:rPr>
              <a:t>… blessed are the merciful, for they shall obtain </a:t>
            </a:r>
            <a:pPr algn="l" indent="0" marL="0">
              <a:lnSpc>
                <a:spcPct val="140000"/>
              </a:lnSpc>
              <a:buNone/>
            </a:pPr>
            <a:r>
              <a:rPr lang="en-US" sz="1875" b="1" dirty="0">
                <a:solidFill>
                  <a:srgbClr val="5A4517"/>
                </a:solidFill>
                <a:highlight>
                  <a:srgbClr val="F1D9A3"/>
                </a:highlight>
                <a:latin typeface="Archivo" pitchFamily="34" charset="0"/>
                <a:ea typeface="Archivo" pitchFamily="34" charset="-122"/>
                <a:cs typeface="Archivo" pitchFamily="34" charset="-120"/>
              </a:rPr>
              <a:t>mercy </a:t>
            </a:r>
            <a:pPr algn="l" indent="0" marL="0">
              <a:lnSpc>
                <a:spcPct val="140000"/>
              </a:lnSpc>
              <a:buNone/>
            </a:pPr>
            <a:r>
              <a:rPr lang="en-US" sz="1875" dirty="0">
                <a:solidFill>
                  <a:srgbClr val="2E3330"/>
                </a:solidFill>
                <a:latin typeface="Archivo" pitchFamily="34" charset="0"/>
                <a:ea typeface="Archivo" pitchFamily="34" charset="-122"/>
                <a:cs typeface="Archivo" pitchFamily="34" charset="-120"/>
              </a:rPr>
              <a:t>…</a:t>
            </a:r>
            <a:endParaRPr lang="en-US" sz="1875" dirty="0"/>
          </a:p>
        </p:txBody>
      </p:sp>
      <p:sp>
        <p:nvSpPr>
          <p:cNvPr id="52" name="Shape 46"/>
          <p:cNvSpPr/>
          <p:nvPr/>
        </p:nvSpPr>
        <p:spPr>
          <a:xfrm>
            <a:off x="5000625" y="6151066"/>
            <a:ext cx="1264444" cy="313283"/>
          </a:xfrm>
          <a:prstGeom prst="roundRect">
            <a:avLst>
              <a:gd name="adj" fmla="val 24323"/>
            </a:avLst>
          </a:prstGeom>
          <a:solidFill>
            <a:srgbClr val="3C7C92">
              <a:alpha val="12000"/>
            </a:srgbClr>
          </a:solidFill>
          <a:ln/>
        </p:spPr>
      </p:sp>
      <p:sp>
        <p:nvSpPr>
          <p:cNvPr id="53" name="Text 47"/>
          <p:cNvSpPr/>
          <p:nvPr/>
        </p:nvSpPr>
        <p:spPr>
          <a:xfrm>
            <a:off x="5124450" y="6208216"/>
            <a:ext cx="1092994" cy="237083"/>
          </a:xfrm>
          <a:prstGeom prst="rect">
            <a:avLst/>
          </a:prstGeom>
          <a:noFill/>
          <a:ln/>
        </p:spPr>
        <p:txBody>
          <a:bodyPr wrap="square" lIns="25400" tIns="25400" rIns="25400" bIns="25400" rtlCol="0" anchor="ctr">
            <a:normAutofit/>
          </a:bodyPr>
          <a:lstStyle/>
          <a:p>
            <a:pPr algn="l" indent="0" marL="0">
              <a:lnSpc>
                <a:spcPct val="110000"/>
              </a:lnSpc>
              <a:buNone/>
            </a:pPr>
            <a:r>
              <a:rPr lang="en-US" sz="1425" b="1" dirty="0">
                <a:solidFill>
                  <a:srgbClr val="2C5F73"/>
                </a:solidFill>
                <a:latin typeface="Archivo" pitchFamily="34" charset="0"/>
                <a:ea typeface="Archivo" pitchFamily="34" charset="-122"/>
                <a:cs typeface="Archivo" pitchFamily="34" charset="-120"/>
              </a:rPr>
              <a:t>Matthew 5:7</a:t>
            </a:r>
            <a:endParaRPr lang="en-US" sz="1425" dirty="0"/>
          </a:p>
        </p:txBody>
      </p:sp>
      <p:sp>
        <p:nvSpPr>
          <p:cNvPr id="54" name="Shape 48"/>
          <p:cNvSpPr/>
          <p:nvPr/>
        </p:nvSpPr>
        <p:spPr>
          <a:xfrm>
            <a:off x="6360319" y="6151066"/>
            <a:ext cx="1436936" cy="313283"/>
          </a:xfrm>
          <a:prstGeom prst="roundRect">
            <a:avLst>
              <a:gd name="adj" fmla="val 24323"/>
            </a:avLst>
          </a:prstGeom>
          <a:solidFill>
            <a:srgbClr val="6E7570">
              <a:alpha val="12000"/>
            </a:srgbClr>
          </a:solidFill>
          <a:ln/>
        </p:spPr>
      </p:sp>
      <p:sp>
        <p:nvSpPr>
          <p:cNvPr id="55" name="Text 49"/>
          <p:cNvSpPr/>
          <p:nvPr/>
        </p:nvSpPr>
        <p:spPr>
          <a:xfrm>
            <a:off x="6484144" y="6208216"/>
            <a:ext cx="1265486" cy="237083"/>
          </a:xfrm>
          <a:prstGeom prst="rect">
            <a:avLst/>
          </a:prstGeom>
          <a:noFill/>
          <a:ln/>
        </p:spPr>
        <p:txBody>
          <a:bodyPr wrap="square" lIns="25400" tIns="25400" rIns="25400" bIns="25400" rtlCol="0" anchor="ctr">
            <a:normAutofit/>
          </a:bodyPr>
          <a:lstStyle/>
          <a:p>
            <a:pPr algn="l" indent="0" marL="0">
              <a:lnSpc>
                <a:spcPct val="110000"/>
              </a:lnSpc>
              <a:buNone/>
            </a:pPr>
            <a:r>
              <a:rPr lang="en-US" sz="1425" b="1" dirty="0">
                <a:solidFill>
                  <a:srgbClr val="6E7570"/>
                </a:solidFill>
                <a:latin typeface="Archivo" pitchFamily="34" charset="0"/>
                <a:ea typeface="Archivo" pitchFamily="34" charset="-122"/>
                <a:cs typeface="Archivo" pitchFamily="34" charset="-120"/>
              </a:rPr>
              <a:t>Special Series</a:t>
            </a:r>
            <a:endParaRPr lang="en-US" sz="1425" dirty="0"/>
          </a:p>
        </p:txBody>
      </p:sp>
      <p:sp>
        <p:nvSpPr>
          <p:cNvPr id="56" name="Text 50"/>
          <p:cNvSpPr/>
          <p:nvPr/>
        </p:nvSpPr>
        <p:spPr>
          <a:xfrm>
            <a:off x="7892504" y="6202859"/>
            <a:ext cx="944910" cy="247650"/>
          </a:xfrm>
          <a:prstGeom prst="rect">
            <a:avLst/>
          </a:prstGeom>
          <a:noFill/>
          <a:ln/>
        </p:spPr>
        <p:txBody>
          <a:bodyPr wrap="square" lIns="25400" tIns="25400" rIns="25400" bIns="25400" rtlCol="0" anchor="t">
            <a:normAutofit/>
          </a:bodyPr>
          <a:lstStyle/>
          <a:p>
            <a:pPr algn="l" indent="0" marL="0">
              <a:buNone/>
            </a:pPr>
            <a:r>
              <a:rPr lang="en-US" sz="1425" dirty="0">
                <a:solidFill>
                  <a:srgbClr val="6E7570"/>
                </a:solidFill>
                <a:latin typeface="Spline Sans Mono" pitchFamily="34" charset="0"/>
                <a:ea typeface="Spline Sans Mono" pitchFamily="34" charset="-122"/>
                <a:cs typeface="Spline Sans Mono" pitchFamily="34" charset="-120"/>
              </a:rPr>
              <a:t>00:47:51</a:t>
            </a:r>
            <a:endParaRPr lang="en-US" sz="1425" dirty="0"/>
          </a:p>
        </p:txBody>
      </p:sp>
      <p:sp>
        <p:nvSpPr>
          <p:cNvPr id="57" name="Text 51"/>
          <p:cNvSpPr/>
          <p:nvPr/>
        </p:nvSpPr>
        <p:spPr>
          <a:xfrm>
            <a:off x="16870561" y="9572625"/>
            <a:ext cx="350639" cy="314325"/>
          </a:xfrm>
          <a:prstGeom prst="rect">
            <a:avLst/>
          </a:prstGeom>
          <a:noFill/>
          <a:ln/>
        </p:spPr>
        <p:txBody>
          <a:bodyPr wrap="square" lIns="25400" tIns="25400" rIns="25400" bIns="25400" rtlCol="0" anchor="t">
            <a:normAutofit/>
          </a:bodyPr>
          <a:lstStyle/>
          <a:p>
            <a:pPr algn="l" indent="0" marL="0">
              <a:buNone/>
            </a:pPr>
            <a:r>
              <a:rPr lang="en-US" sz="1800" b="1" dirty="0">
                <a:solidFill>
                  <a:srgbClr val="A9ADA4"/>
                </a:solidFill>
                <a:latin typeface="Spline Sans Mono" pitchFamily="34" charset="0"/>
                <a:ea typeface="Spline Sans Mono" pitchFamily="34" charset="-122"/>
                <a:cs typeface="Spline Sans Mono" pitchFamily="34" charset="-120"/>
              </a:rPr>
              <a:t>10</a:t>
            </a:r>
            <a:endParaRPr lang="en-US" sz="1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1EA"/>
        </a:solidFill>
      </p:bgPr>
    </p:bg>
    <p:spTree>
      <p:nvGrpSpPr>
        <p:cNvPr id="1" name=""/>
        <p:cNvGrpSpPr/>
        <p:nvPr/>
      </p:nvGrpSpPr>
      <p:grpSpPr>
        <a:xfrm>
          <a:off x="0" y="0"/>
          <a:ext cx="0" cy="0"/>
          <a:chOff x="0" y="0"/>
          <a:chExt cx="0" cy="0"/>
        </a:xfrm>
      </p:grpSpPr>
      <p:sp>
        <p:nvSpPr>
          <p:cNvPr id="2" name="Text 0"/>
          <p:cNvSpPr/>
          <p:nvPr/>
        </p:nvSpPr>
        <p:spPr>
          <a:xfrm>
            <a:off x="1143000" y="876300"/>
            <a:ext cx="16482060" cy="285750"/>
          </a:xfrm>
          <a:prstGeom prst="rect">
            <a:avLst/>
          </a:prstGeom>
          <a:noFill/>
          <a:ln/>
        </p:spPr>
        <p:txBody>
          <a:bodyPr wrap="square" lIns="25400" tIns="25400" rIns="25400" bIns="25400" rtlCol="0" anchor="t">
            <a:normAutofit/>
          </a:bodyPr>
          <a:lstStyle/>
          <a:p>
            <a:pPr algn="l" indent="0" marL="0">
              <a:buNone/>
            </a:pPr>
            <a:r>
              <a:rPr lang="en-US" sz="1800" b="1" spc="396" kern="0" dirty="0">
                <a:solidFill>
                  <a:srgbClr val="3C7C92"/>
                </a:solidFill>
                <a:latin typeface="Archivo" pitchFamily="34" charset="0"/>
                <a:ea typeface="Archivo" pitchFamily="34" charset="-122"/>
                <a:cs typeface="Archivo" pitchFamily="34" charset="-120"/>
              </a:rPr>
              <a:t>PROPOSED LOOK · PHASE 3</a:t>
            </a:r>
            <a:endParaRPr lang="en-US" sz="1800" dirty="0"/>
          </a:p>
        </p:txBody>
      </p:sp>
      <p:sp>
        <p:nvSpPr>
          <p:cNvPr id="3" name="Text 1"/>
          <p:cNvSpPr/>
          <p:nvPr/>
        </p:nvSpPr>
        <p:spPr>
          <a:xfrm>
            <a:off x="1143000" y="1314450"/>
            <a:ext cx="10727442" cy="1226641"/>
          </a:xfrm>
          <a:prstGeom prst="rect">
            <a:avLst/>
          </a:prstGeom>
          <a:noFill/>
          <a:ln/>
        </p:spPr>
        <p:txBody>
          <a:bodyPr wrap="square" lIns="25400" tIns="25400" rIns="25400" bIns="25400" rtlCol="0" anchor="t">
            <a:normAutofit/>
          </a:bodyPr>
          <a:lstStyle/>
          <a:p>
            <a:pPr algn="l" indent="0" marL="0">
              <a:lnSpc>
                <a:spcPct val="104000"/>
              </a:lnSpc>
              <a:buNone/>
            </a:pPr>
            <a:r>
              <a:rPr lang="en-US" sz="4500" b="1" spc="-45" kern="0" dirty="0">
                <a:solidFill>
                  <a:srgbClr val="2E3330"/>
                </a:solidFill>
                <a:latin typeface="Spectral" pitchFamily="34" charset="0"/>
                <a:ea typeface="Spectral" pitchFamily="34" charset="-122"/>
                <a:cs typeface="Spectral" pitchFamily="34" charset="-120"/>
              </a:rPr>
              <a:t>Watch, not just listen — and share the moment.</a:t>
            </a:r>
            <a:endParaRPr lang="en-US" sz="4500" dirty="0"/>
          </a:p>
        </p:txBody>
      </p:sp>
      <p:sp>
        <p:nvSpPr>
          <p:cNvPr id="4" name="Shape 2"/>
          <p:cNvSpPr/>
          <p:nvPr/>
        </p:nvSpPr>
        <p:spPr>
          <a:xfrm>
            <a:off x="1143000" y="3053358"/>
            <a:ext cx="16002000" cy="6149727"/>
          </a:xfrm>
          <a:prstGeom prst="roundRect">
            <a:avLst>
              <a:gd name="adj" fmla="val 3098"/>
            </a:avLst>
          </a:prstGeom>
          <a:solidFill>
            <a:srgbClr val="FCFAF5"/>
          </a:solidFill>
          <a:ln w="9525">
            <a:solidFill>
              <a:srgbClr val="DBD6CC"/>
            </a:solidFill>
            <a:prstDash val="solid"/>
          </a:ln>
          <a:effectLst>
            <a:outerShdw sx="100000" sy="100000" kx="0" ky="0" algn="bl" rotWithShape="0" blurRad="666750" dist="285750" dir="5400000">
              <a:srgbClr val="2E3330">
                <a:alpha val="40000"/>
              </a:srgbClr>
            </a:outerShdw>
          </a:effectLst>
        </p:spPr>
      </p:sp>
      <p:sp>
        <p:nvSpPr>
          <p:cNvPr id="5" name="Shape 3"/>
          <p:cNvSpPr/>
          <p:nvPr/>
        </p:nvSpPr>
        <p:spPr>
          <a:xfrm>
            <a:off x="9926389" y="3062883"/>
            <a:ext cx="9525" cy="6130677"/>
          </a:xfrm>
          <a:prstGeom prst="rect">
            <a:avLst/>
          </a:prstGeom>
          <a:solidFill>
            <a:srgbClr val="DBD6CC"/>
          </a:solidFill>
          <a:ln/>
        </p:spPr>
      </p:sp>
      <p:sp>
        <p:nvSpPr>
          <p:cNvPr id="6" name="Shape 4"/>
          <p:cNvSpPr/>
          <p:nvPr/>
        </p:nvSpPr>
        <p:spPr>
          <a:xfrm>
            <a:off x="1419225" y="3329583"/>
            <a:ext cx="8240464" cy="4635252"/>
          </a:xfrm>
          <a:prstGeom prst="roundRect">
            <a:avLst>
              <a:gd name="adj" fmla="val 2466"/>
            </a:avLst>
          </a:prstGeom>
          <a:solidFill>
            <a:srgbClr val="323A35"/>
          </a:solidFill>
          <a:ln/>
        </p:spPr>
      </p:sp>
      <p:sp>
        <p:nvSpPr>
          <p:cNvPr id="7" name="Shape 5"/>
          <p:cNvSpPr/>
          <p:nvPr/>
        </p:nvSpPr>
        <p:spPr>
          <a:xfrm>
            <a:off x="5139333" y="5247084"/>
            <a:ext cx="800100" cy="800100"/>
          </a:xfrm>
          <a:prstGeom prst="ellipse">
            <a:avLst/>
          </a:prstGeom>
          <a:solidFill>
            <a:srgbClr val="FCFAF5">
              <a:alpha val="94000"/>
            </a:srgbClr>
          </a:solidFill>
          <a:ln/>
        </p:spPr>
      </p:sp>
      <p:pic>
        <p:nvPicPr>
          <p:cNvPr id="8" name="Image 0" descr="preencoded.png">    </p:cNvPr>
          <p:cNvPicPr>
            <a:picLocks noChangeAspect="1"/>
          </p:cNvPicPr>
          <p:nvPr/>
        </p:nvPicPr>
        <p:blipFill>
          <a:blip r:embed="rId1"/>
          <a:stretch>
            <a:fillRect/>
          </a:stretch>
        </p:blipFill>
        <p:spPr>
          <a:xfrm>
            <a:off x="5386983" y="5494734"/>
            <a:ext cx="304800" cy="304800"/>
          </a:xfrm>
          <a:prstGeom prst="rect">
            <a:avLst/>
          </a:prstGeom>
        </p:spPr>
      </p:pic>
      <p:sp>
        <p:nvSpPr>
          <p:cNvPr id="9" name="Shape 6"/>
          <p:cNvSpPr/>
          <p:nvPr/>
        </p:nvSpPr>
        <p:spPr>
          <a:xfrm>
            <a:off x="1590675" y="7698135"/>
            <a:ext cx="6411664" cy="47625"/>
          </a:xfrm>
          <a:prstGeom prst="roundRect">
            <a:avLst>
              <a:gd name="adj" fmla="val 50000"/>
            </a:avLst>
          </a:prstGeom>
          <a:solidFill>
            <a:srgbClr val="FFFFFF">
              <a:alpha val="25000"/>
            </a:srgbClr>
          </a:solidFill>
          <a:ln/>
        </p:spPr>
      </p:sp>
      <p:sp>
        <p:nvSpPr>
          <p:cNvPr id="10" name="Shape 7"/>
          <p:cNvSpPr/>
          <p:nvPr/>
        </p:nvSpPr>
        <p:spPr>
          <a:xfrm>
            <a:off x="1590675" y="7698135"/>
            <a:ext cx="2692896" cy="47625"/>
          </a:xfrm>
          <a:prstGeom prst="roundRect">
            <a:avLst>
              <a:gd name="adj" fmla="val 50000"/>
            </a:avLst>
          </a:prstGeom>
          <a:solidFill>
            <a:srgbClr val="3C7C92"/>
          </a:solidFill>
          <a:ln/>
        </p:spPr>
      </p:sp>
      <p:sp>
        <p:nvSpPr>
          <p:cNvPr id="11" name="Text 8"/>
          <p:cNvSpPr/>
          <p:nvPr/>
        </p:nvSpPr>
        <p:spPr>
          <a:xfrm>
            <a:off x="8116639" y="7631460"/>
            <a:ext cx="1447800" cy="219075"/>
          </a:xfrm>
          <a:prstGeom prst="rect">
            <a:avLst/>
          </a:prstGeom>
          <a:noFill/>
          <a:ln/>
        </p:spPr>
        <p:txBody>
          <a:bodyPr wrap="square" lIns="25400" tIns="25400" rIns="25400" bIns="25400" rtlCol="0" anchor="t">
            <a:normAutofit/>
          </a:bodyPr>
          <a:lstStyle/>
          <a:p>
            <a:pPr algn="l" indent="0" marL="0">
              <a:buNone/>
            </a:pPr>
            <a:r>
              <a:rPr lang="en-US" sz="1200" dirty="0">
                <a:solidFill>
                  <a:srgbClr val="FFFFFF">
                    <a:alpha val="85000"/>
                  </a:srgbClr>
                </a:solidFill>
                <a:latin typeface="Spline Sans Mono" pitchFamily="34" charset="0"/>
                <a:ea typeface="Spline Sans Mono" pitchFamily="34" charset="-122"/>
                <a:cs typeface="Spline Sans Mono" pitchFamily="34" charset="-120"/>
              </a:rPr>
              <a:t>42:17 / 1:18:40</a:t>
            </a:r>
            <a:endParaRPr lang="en-US" sz="1200" dirty="0"/>
          </a:p>
        </p:txBody>
      </p:sp>
      <p:sp>
        <p:nvSpPr>
          <p:cNvPr id="12" name="Text 9"/>
          <p:cNvSpPr/>
          <p:nvPr/>
        </p:nvSpPr>
        <p:spPr>
          <a:xfrm>
            <a:off x="1419225" y="8155335"/>
            <a:ext cx="8487678" cy="228600"/>
          </a:xfrm>
          <a:prstGeom prst="rect">
            <a:avLst/>
          </a:prstGeom>
          <a:noFill/>
          <a:ln/>
        </p:spPr>
        <p:txBody>
          <a:bodyPr wrap="square" lIns="25400" tIns="25400" rIns="25400" bIns="25400" rtlCol="0" anchor="t">
            <a:normAutofit/>
          </a:bodyPr>
          <a:lstStyle/>
          <a:p>
            <a:pPr algn="l" indent="0" marL="0">
              <a:buNone/>
            </a:pPr>
            <a:r>
              <a:rPr lang="en-US" sz="1350" b="1" spc="135" kern="0" dirty="0">
                <a:solidFill>
                  <a:srgbClr val="6E7570"/>
                </a:solidFill>
                <a:latin typeface="Archivo" pitchFamily="34" charset="0"/>
                <a:ea typeface="Archivo" pitchFamily="34" charset="-122"/>
                <a:cs typeface="Archivo" pitchFamily="34" charset="-120"/>
              </a:rPr>
              <a:t>WATCH FROM THIS MOMENT</a:t>
            </a:r>
            <a:endParaRPr lang="en-US" sz="1350" dirty="0"/>
          </a:p>
        </p:txBody>
      </p:sp>
      <p:sp>
        <p:nvSpPr>
          <p:cNvPr id="13" name="Shape 10"/>
          <p:cNvSpPr/>
          <p:nvPr/>
        </p:nvSpPr>
        <p:spPr>
          <a:xfrm>
            <a:off x="1419225" y="8441085"/>
            <a:ext cx="8240464" cy="485775"/>
          </a:xfrm>
          <a:prstGeom prst="roundRect">
            <a:avLst>
              <a:gd name="adj" fmla="val 19608"/>
            </a:avLst>
          </a:prstGeom>
          <a:ln w="9525">
            <a:solidFill>
              <a:srgbClr val="DBD6CC"/>
            </a:solidFill>
            <a:prstDash val="solid"/>
          </a:ln>
        </p:spPr>
      </p:sp>
      <p:sp>
        <p:nvSpPr>
          <p:cNvPr id="14" name="Text 11"/>
          <p:cNvSpPr/>
          <p:nvPr/>
        </p:nvSpPr>
        <p:spPr>
          <a:xfrm>
            <a:off x="1581150" y="8583960"/>
            <a:ext cx="6977229" cy="238125"/>
          </a:xfrm>
          <a:prstGeom prst="rect">
            <a:avLst/>
          </a:prstGeom>
          <a:noFill/>
          <a:ln/>
        </p:spPr>
        <p:txBody>
          <a:bodyPr wrap="square" lIns="25400" tIns="25400" rIns="25400" bIns="25400" rtlCol="0" anchor="t">
            <a:normAutofit/>
          </a:bodyPr>
          <a:lstStyle/>
          <a:p>
            <a:pPr algn="l" indent="0" marL="0">
              <a:buNone/>
            </a:pPr>
            <a:r>
              <a:rPr lang="en-US" sz="1350" dirty="0">
                <a:solidFill>
                  <a:srgbClr val="6E7570"/>
                </a:solidFill>
                <a:latin typeface="Spline Sans Mono" pitchFamily="34" charset="0"/>
                <a:ea typeface="Spline Sans Mono" pitchFamily="34" charset="-122"/>
                <a:cs typeface="Spline Sans Mono" pitchFamily="34" charset="-120"/>
              </a:rPr>
              <a:t>atheycreek.com/teachings/s2-574?t=42m17s</a:t>
            </a:r>
            <a:endParaRPr lang="en-US" sz="1350" dirty="0"/>
          </a:p>
        </p:txBody>
      </p:sp>
      <p:sp>
        <p:nvSpPr>
          <p:cNvPr id="15" name="Shape 12"/>
          <p:cNvSpPr/>
          <p:nvPr/>
        </p:nvSpPr>
        <p:spPr>
          <a:xfrm>
            <a:off x="8498681" y="8450610"/>
            <a:ext cx="1151483" cy="466725"/>
          </a:xfrm>
          <a:prstGeom prst="rect">
            <a:avLst/>
          </a:prstGeom>
          <a:solidFill>
            <a:srgbClr val="3C7C92"/>
          </a:solidFill>
          <a:ln/>
        </p:spPr>
      </p:sp>
      <p:sp>
        <p:nvSpPr>
          <p:cNvPr id="16" name="Text 13"/>
          <p:cNvSpPr/>
          <p:nvPr/>
        </p:nvSpPr>
        <p:spPr>
          <a:xfrm>
            <a:off x="8708231" y="8450610"/>
            <a:ext cx="808583" cy="504825"/>
          </a:xfrm>
          <a:prstGeom prst="rect">
            <a:avLst/>
          </a:prstGeom>
          <a:noFill/>
          <a:ln/>
        </p:spPr>
        <p:txBody>
          <a:bodyPr wrap="square" lIns="25400" tIns="25400" rIns="25400" bIns="25400" rtlCol="0" anchor="ctr">
            <a:normAutofit/>
          </a:bodyPr>
          <a:lstStyle/>
          <a:p>
            <a:pPr algn="l" indent="0" marL="0">
              <a:buNone/>
            </a:pPr>
            <a:r>
              <a:rPr lang="en-US" sz="1350" b="1" dirty="0">
                <a:solidFill>
                  <a:srgbClr val="FFFFFF"/>
                </a:solidFill>
                <a:latin typeface="Archivo" pitchFamily="34" charset="0"/>
                <a:ea typeface="Archivo" pitchFamily="34" charset="-122"/>
                <a:cs typeface="Archivo" pitchFamily="34" charset="-120"/>
              </a:rPr>
              <a:t>Copy link</a:t>
            </a:r>
            <a:endParaRPr lang="en-US" sz="1350" dirty="0"/>
          </a:p>
        </p:txBody>
      </p:sp>
      <p:sp>
        <p:nvSpPr>
          <p:cNvPr id="17" name="Text 14"/>
          <p:cNvSpPr/>
          <p:nvPr/>
        </p:nvSpPr>
        <p:spPr>
          <a:xfrm>
            <a:off x="10202614" y="3291483"/>
            <a:ext cx="1378893" cy="228600"/>
          </a:xfrm>
          <a:prstGeom prst="rect">
            <a:avLst/>
          </a:prstGeom>
          <a:noFill/>
          <a:ln/>
        </p:spPr>
        <p:txBody>
          <a:bodyPr wrap="square" lIns="25400" tIns="25400" rIns="25400" bIns="25400" rtlCol="0" anchor="t">
            <a:normAutofit/>
          </a:bodyPr>
          <a:lstStyle/>
          <a:p>
            <a:pPr algn="l" indent="0" marL="0">
              <a:buNone/>
            </a:pPr>
            <a:r>
              <a:rPr lang="en-US" sz="1350" b="1" spc="135" kern="0" dirty="0">
                <a:solidFill>
                  <a:srgbClr val="6E7570"/>
                </a:solidFill>
                <a:latin typeface="Archivo" pitchFamily="34" charset="0"/>
                <a:ea typeface="Archivo" pitchFamily="34" charset="-122"/>
                <a:cs typeface="Archivo" pitchFamily="34" charset="-120"/>
              </a:rPr>
              <a:t>TRANSCRIPT</a:t>
            </a:r>
            <a:endParaRPr lang="en-US" sz="1350" dirty="0"/>
          </a:p>
        </p:txBody>
      </p:sp>
      <p:sp>
        <p:nvSpPr>
          <p:cNvPr id="18" name="Text 15"/>
          <p:cNvSpPr/>
          <p:nvPr/>
        </p:nvSpPr>
        <p:spPr>
          <a:xfrm>
            <a:off x="15816858" y="3296245"/>
            <a:ext cx="1128117" cy="219075"/>
          </a:xfrm>
          <a:prstGeom prst="rect">
            <a:avLst/>
          </a:prstGeom>
          <a:noFill/>
          <a:ln/>
        </p:spPr>
        <p:txBody>
          <a:bodyPr wrap="square" lIns="25400" tIns="25400" rIns="25400" bIns="25400" rtlCol="0" anchor="t">
            <a:normAutofit/>
          </a:bodyPr>
          <a:lstStyle/>
          <a:p>
            <a:pPr algn="l" indent="0" marL="0">
              <a:buNone/>
            </a:pPr>
            <a:r>
              <a:rPr lang="en-US" sz="1275" b="1" dirty="0">
                <a:solidFill>
                  <a:srgbClr val="3C7C92"/>
                </a:solidFill>
                <a:latin typeface="Archivo" pitchFamily="34" charset="0"/>
                <a:ea typeface="Archivo" pitchFamily="34" charset="-122"/>
                <a:cs typeface="Archivo" pitchFamily="34" charset="-120"/>
              </a:rPr>
              <a:t>Auto-scrolling</a:t>
            </a:r>
            <a:endParaRPr lang="en-US" sz="1275" dirty="0"/>
          </a:p>
        </p:txBody>
      </p:sp>
      <p:sp>
        <p:nvSpPr>
          <p:cNvPr id="19" name="Text 16"/>
          <p:cNvSpPr/>
          <p:nvPr/>
        </p:nvSpPr>
        <p:spPr>
          <a:xfrm>
            <a:off x="10202614" y="3701058"/>
            <a:ext cx="647700" cy="318046"/>
          </a:xfrm>
          <a:prstGeom prst="rect">
            <a:avLst/>
          </a:prstGeom>
          <a:noFill/>
          <a:ln/>
        </p:spPr>
        <p:txBody>
          <a:bodyPr wrap="square" lIns="25400" tIns="25400" rIns="25400" bIns="25400" rtlCol="0" anchor="t">
            <a:normAutofit/>
          </a:bodyPr>
          <a:lstStyle/>
          <a:p>
            <a:pPr algn="l" indent="0" marL="0">
              <a:buNone/>
            </a:pPr>
            <a:r>
              <a:rPr lang="en-US" sz="1275" dirty="0">
                <a:solidFill>
                  <a:srgbClr val="A9ADA4"/>
                </a:solidFill>
                <a:latin typeface="Spline Sans Mono" pitchFamily="34" charset="0"/>
                <a:ea typeface="Spline Sans Mono" pitchFamily="34" charset="-122"/>
                <a:cs typeface="Spline Sans Mono" pitchFamily="34" charset="-120"/>
              </a:rPr>
              <a:t>41:58</a:t>
            </a:r>
            <a:endParaRPr lang="en-US" sz="1275" dirty="0"/>
          </a:p>
        </p:txBody>
      </p:sp>
      <p:sp>
        <p:nvSpPr>
          <p:cNvPr id="20" name="Text 17"/>
          <p:cNvSpPr/>
          <p:nvPr/>
        </p:nvSpPr>
        <p:spPr>
          <a:xfrm>
            <a:off x="10926514" y="3701058"/>
            <a:ext cx="5029849" cy="318046"/>
          </a:xfrm>
          <a:prstGeom prst="rect">
            <a:avLst/>
          </a:prstGeom>
          <a:noFill/>
          <a:ln/>
        </p:spPr>
        <p:txBody>
          <a:bodyPr wrap="square" lIns="25400" tIns="25400" rIns="25400" bIns="25400" rtlCol="0" anchor="t">
            <a:normAutofit/>
          </a:bodyPr>
          <a:lstStyle/>
          <a:p>
            <a:pPr algn="l" indent="0" marL="0">
              <a:lnSpc>
                <a:spcPct val="140000"/>
              </a:lnSpc>
              <a:buNone/>
            </a:pPr>
            <a:r>
              <a:rPr lang="en-US" sz="1575" dirty="0">
                <a:solidFill>
                  <a:srgbClr val="6E7570"/>
                </a:solidFill>
                <a:latin typeface="Archivo" pitchFamily="34" charset="0"/>
                <a:ea typeface="Archivo" pitchFamily="34" charset="-122"/>
                <a:cs typeface="Archivo" pitchFamily="34" charset="-120"/>
              </a:rPr>
              <a:t>… and so the apostle turns to the home and the family …</a:t>
            </a:r>
            <a:endParaRPr lang="en-US" sz="1575" dirty="0"/>
          </a:p>
        </p:txBody>
      </p:sp>
      <p:sp>
        <p:nvSpPr>
          <p:cNvPr id="21" name="Shape 18"/>
          <p:cNvSpPr/>
          <p:nvPr/>
        </p:nvSpPr>
        <p:spPr>
          <a:xfrm>
            <a:off x="10031164" y="4161979"/>
            <a:ext cx="7009061" cy="584746"/>
          </a:xfrm>
          <a:prstGeom prst="rect">
            <a:avLst/>
          </a:prstGeom>
          <a:solidFill>
            <a:srgbClr val="3C7C92">
              <a:alpha val="10000"/>
            </a:srgbClr>
          </a:solidFill>
          <a:ln/>
        </p:spPr>
      </p:sp>
      <p:sp>
        <p:nvSpPr>
          <p:cNvPr id="22" name="Shape 19"/>
          <p:cNvSpPr/>
          <p:nvPr/>
        </p:nvSpPr>
        <p:spPr>
          <a:xfrm>
            <a:off x="10031164" y="4161979"/>
            <a:ext cx="28575" cy="584746"/>
          </a:xfrm>
          <a:prstGeom prst="rect">
            <a:avLst/>
          </a:prstGeom>
          <a:solidFill>
            <a:srgbClr val="3C7C92"/>
          </a:solidFill>
          <a:ln/>
        </p:spPr>
      </p:sp>
      <p:sp>
        <p:nvSpPr>
          <p:cNvPr id="23" name="Text 20"/>
          <p:cNvSpPr/>
          <p:nvPr/>
        </p:nvSpPr>
        <p:spPr>
          <a:xfrm>
            <a:off x="10231189" y="4314379"/>
            <a:ext cx="647700" cy="318046"/>
          </a:xfrm>
          <a:prstGeom prst="rect">
            <a:avLst/>
          </a:prstGeom>
          <a:noFill/>
          <a:ln/>
        </p:spPr>
        <p:txBody>
          <a:bodyPr wrap="square" lIns="25400" tIns="25400" rIns="25400" bIns="25400" rtlCol="0" anchor="t">
            <a:normAutofit/>
          </a:bodyPr>
          <a:lstStyle/>
          <a:p>
            <a:pPr algn="l" indent="0" marL="0">
              <a:buNone/>
            </a:pPr>
            <a:r>
              <a:rPr lang="en-US" sz="1275" b="1" dirty="0">
                <a:solidFill>
                  <a:srgbClr val="3C7C92"/>
                </a:solidFill>
                <a:latin typeface="Spline Sans Mono" pitchFamily="34" charset="0"/>
                <a:ea typeface="Spline Sans Mono" pitchFamily="34" charset="-122"/>
                <a:cs typeface="Spline Sans Mono" pitchFamily="34" charset="-120"/>
              </a:rPr>
              <a:t>42:17</a:t>
            </a:r>
            <a:endParaRPr lang="en-US" sz="1275" dirty="0"/>
          </a:p>
        </p:txBody>
      </p:sp>
      <p:sp>
        <p:nvSpPr>
          <p:cNvPr id="24" name="Text 21"/>
          <p:cNvSpPr/>
          <p:nvPr/>
        </p:nvSpPr>
        <p:spPr>
          <a:xfrm>
            <a:off x="10955089" y="4314379"/>
            <a:ext cx="5766881" cy="318046"/>
          </a:xfrm>
          <a:prstGeom prst="rect">
            <a:avLst/>
          </a:prstGeom>
          <a:noFill/>
          <a:ln/>
        </p:spPr>
        <p:txBody>
          <a:bodyPr wrap="square" lIns="25400" tIns="25400" rIns="25400" bIns="25400" rtlCol="0" anchor="t">
            <a:normAutofit/>
          </a:bodyPr>
          <a:lstStyle/>
          <a:p>
            <a:pPr algn="l" indent="0" marL="0">
              <a:lnSpc>
                <a:spcPct val="140000"/>
              </a:lnSpc>
              <a:buNone/>
            </a:pPr>
            <a:r>
              <a:rPr lang="en-US" sz="1575" dirty="0">
                <a:solidFill>
                  <a:srgbClr val="2E3330"/>
                </a:solidFill>
                <a:latin typeface="Archivo" pitchFamily="34" charset="0"/>
                <a:ea typeface="Archivo" pitchFamily="34" charset="-122"/>
                <a:cs typeface="Archivo" pitchFamily="34" charset="-120"/>
              </a:rPr>
              <a:t>… husbands, love your wives, just as Christ loved the church …</a:t>
            </a:r>
            <a:endParaRPr lang="en-US" sz="1575" dirty="0"/>
          </a:p>
        </p:txBody>
      </p:sp>
      <p:sp>
        <p:nvSpPr>
          <p:cNvPr id="25" name="Text 22"/>
          <p:cNvSpPr/>
          <p:nvPr/>
        </p:nvSpPr>
        <p:spPr>
          <a:xfrm>
            <a:off x="10202614" y="4927699"/>
            <a:ext cx="647700" cy="318046"/>
          </a:xfrm>
          <a:prstGeom prst="rect">
            <a:avLst/>
          </a:prstGeom>
          <a:noFill/>
          <a:ln/>
        </p:spPr>
        <p:txBody>
          <a:bodyPr wrap="square" lIns="25400" tIns="25400" rIns="25400" bIns="25400" rtlCol="0" anchor="t">
            <a:normAutofit/>
          </a:bodyPr>
          <a:lstStyle/>
          <a:p>
            <a:pPr algn="l" indent="0" marL="0">
              <a:buNone/>
            </a:pPr>
            <a:r>
              <a:rPr lang="en-US" sz="1275" dirty="0">
                <a:solidFill>
                  <a:srgbClr val="A9ADA4"/>
                </a:solidFill>
                <a:latin typeface="Spline Sans Mono" pitchFamily="34" charset="0"/>
                <a:ea typeface="Spline Sans Mono" pitchFamily="34" charset="-122"/>
                <a:cs typeface="Spline Sans Mono" pitchFamily="34" charset="-120"/>
              </a:rPr>
              <a:t>42:39</a:t>
            </a:r>
            <a:endParaRPr lang="en-US" sz="1275" dirty="0"/>
          </a:p>
        </p:txBody>
      </p:sp>
      <p:sp>
        <p:nvSpPr>
          <p:cNvPr id="26" name="Text 23"/>
          <p:cNvSpPr/>
          <p:nvPr/>
        </p:nvSpPr>
        <p:spPr>
          <a:xfrm>
            <a:off x="10926514" y="4927699"/>
            <a:ext cx="4430780" cy="318046"/>
          </a:xfrm>
          <a:prstGeom prst="rect">
            <a:avLst/>
          </a:prstGeom>
          <a:noFill/>
          <a:ln/>
        </p:spPr>
        <p:txBody>
          <a:bodyPr wrap="square" lIns="25400" tIns="25400" rIns="25400" bIns="25400" rtlCol="0" anchor="t">
            <a:normAutofit/>
          </a:bodyPr>
          <a:lstStyle/>
          <a:p>
            <a:pPr algn="l" indent="0" marL="0">
              <a:lnSpc>
                <a:spcPct val="140000"/>
              </a:lnSpc>
              <a:buNone/>
            </a:pPr>
            <a:r>
              <a:rPr lang="en-US" sz="1575" dirty="0">
                <a:solidFill>
                  <a:srgbClr val="6E7570"/>
                </a:solidFill>
                <a:latin typeface="Archivo" pitchFamily="34" charset="0"/>
                <a:ea typeface="Archivo" pitchFamily="34" charset="-122"/>
                <a:cs typeface="Archivo" pitchFamily="34" charset="-120"/>
              </a:rPr>
              <a:t>… and gave himself up for her, to make her holy …</a:t>
            </a:r>
            <a:endParaRPr lang="en-US" sz="1575" dirty="0"/>
          </a:p>
        </p:txBody>
      </p:sp>
      <p:sp>
        <p:nvSpPr>
          <p:cNvPr id="27" name="Text 24"/>
          <p:cNvSpPr/>
          <p:nvPr/>
        </p:nvSpPr>
        <p:spPr>
          <a:xfrm>
            <a:off x="10202614" y="5455295"/>
            <a:ext cx="647700" cy="597991"/>
          </a:xfrm>
          <a:prstGeom prst="rect">
            <a:avLst/>
          </a:prstGeom>
          <a:noFill/>
          <a:ln/>
        </p:spPr>
        <p:txBody>
          <a:bodyPr wrap="square" lIns="25400" tIns="25400" rIns="25400" bIns="25400" rtlCol="0" anchor="t">
            <a:normAutofit/>
          </a:bodyPr>
          <a:lstStyle/>
          <a:p>
            <a:pPr algn="l" indent="0" marL="0">
              <a:buNone/>
            </a:pPr>
            <a:r>
              <a:rPr lang="en-US" sz="1275" dirty="0">
                <a:solidFill>
                  <a:srgbClr val="A9ADA4"/>
                </a:solidFill>
                <a:latin typeface="Spline Sans Mono" pitchFamily="34" charset="0"/>
                <a:ea typeface="Spline Sans Mono" pitchFamily="34" charset="-122"/>
                <a:cs typeface="Spline Sans Mono" pitchFamily="34" charset="-120"/>
              </a:rPr>
              <a:t>43:05</a:t>
            </a:r>
            <a:endParaRPr lang="en-US" sz="1275" dirty="0"/>
          </a:p>
        </p:txBody>
      </p:sp>
      <p:sp>
        <p:nvSpPr>
          <p:cNvPr id="28" name="Text 25"/>
          <p:cNvSpPr/>
          <p:nvPr/>
        </p:nvSpPr>
        <p:spPr>
          <a:xfrm>
            <a:off x="10926514" y="5455295"/>
            <a:ext cx="6120528" cy="597991"/>
          </a:xfrm>
          <a:prstGeom prst="rect">
            <a:avLst/>
          </a:prstGeom>
          <a:noFill/>
          <a:ln/>
        </p:spPr>
        <p:txBody>
          <a:bodyPr wrap="square" lIns="25400" tIns="25400" rIns="25400" bIns="25400" rtlCol="0" anchor="t">
            <a:normAutofit/>
          </a:bodyPr>
          <a:lstStyle/>
          <a:p>
            <a:pPr algn="l" indent="0" marL="0">
              <a:lnSpc>
                <a:spcPct val="140000"/>
              </a:lnSpc>
              <a:buNone/>
            </a:pPr>
            <a:r>
              <a:rPr lang="en-US" sz="1575" dirty="0">
                <a:solidFill>
                  <a:srgbClr val="6E7570"/>
                </a:solidFill>
                <a:latin typeface="Archivo" pitchFamily="34" charset="0"/>
                <a:ea typeface="Archivo" pitchFamily="34" charset="-122"/>
                <a:cs typeface="Archivo" pitchFamily="34" charset="-120"/>
              </a:rPr>
              <a:t>… this is a profound mystery, and it speaks of Christ and the church …</a:t>
            </a:r>
            <a:endParaRPr lang="en-US" sz="1575" dirty="0"/>
          </a:p>
        </p:txBody>
      </p:sp>
      <p:sp>
        <p:nvSpPr>
          <p:cNvPr id="29" name="Text 26"/>
          <p:cNvSpPr/>
          <p:nvPr/>
        </p:nvSpPr>
        <p:spPr>
          <a:xfrm>
            <a:off x="16870561" y="9572625"/>
            <a:ext cx="350639" cy="314325"/>
          </a:xfrm>
          <a:prstGeom prst="rect">
            <a:avLst/>
          </a:prstGeom>
          <a:noFill/>
          <a:ln/>
        </p:spPr>
        <p:txBody>
          <a:bodyPr wrap="square" lIns="25400" tIns="25400" rIns="25400" bIns="25400" rtlCol="0" anchor="t">
            <a:normAutofit/>
          </a:bodyPr>
          <a:lstStyle/>
          <a:p>
            <a:pPr algn="l" indent="0" marL="0">
              <a:buNone/>
            </a:pPr>
            <a:r>
              <a:rPr lang="en-US" sz="1800" b="1" dirty="0">
                <a:solidFill>
                  <a:srgbClr val="A9ADA4"/>
                </a:solidFill>
                <a:latin typeface="Spline Sans Mono" pitchFamily="34" charset="0"/>
                <a:ea typeface="Spline Sans Mono" pitchFamily="34" charset="-122"/>
                <a:cs typeface="Spline Sans Mono" pitchFamily="34" charset="-120"/>
              </a:rPr>
              <a:t>11</a:t>
            </a:r>
            <a:endParaRPr lang="en-US" sz="1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4F1EA"/>
        </a:solidFill>
      </p:bgPr>
    </p:bg>
    <p:spTree>
      <p:nvGrpSpPr>
        <p:cNvPr id="1" name=""/>
        <p:cNvGrpSpPr/>
        <p:nvPr/>
      </p:nvGrpSpPr>
      <p:grpSpPr>
        <a:xfrm>
          <a:off x="0" y="0"/>
          <a:ext cx="0" cy="0"/>
          <a:chOff x="0" y="0"/>
          <a:chExt cx="0" cy="0"/>
        </a:xfrm>
      </p:grpSpPr>
      <p:sp>
        <p:nvSpPr>
          <p:cNvPr id="2" name="Text 0"/>
          <p:cNvSpPr/>
          <p:nvPr/>
        </p:nvSpPr>
        <p:spPr>
          <a:xfrm>
            <a:off x="1143000" y="876300"/>
            <a:ext cx="16482060" cy="285750"/>
          </a:xfrm>
          <a:prstGeom prst="rect">
            <a:avLst/>
          </a:prstGeom>
          <a:noFill/>
          <a:ln/>
        </p:spPr>
        <p:txBody>
          <a:bodyPr wrap="square" lIns="25400" tIns="25400" rIns="25400" bIns="25400" rtlCol="0" anchor="t">
            <a:normAutofit/>
          </a:bodyPr>
          <a:lstStyle/>
          <a:p>
            <a:pPr algn="l" indent="0" marL="0">
              <a:buNone/>
            </a:pPr>
            <a:r>
              <a:rPr lang="en-US" sz="1800" b="1" spc="396" kern="0" dirty="0">
                <a:solidFill>
                  <a:srgbClr val="3C7C92"/>
                </a:solidFill>
                <a:latin typeface="Archivo" pitchFamily="34" charset="0"/>
                <a:ea typeface="Archivo" pitchFamily="34" charset="-122"/>
                <a:cs typeface="Archivo" pitchFamily="34" charset="-120"/>
              </a:rPr>
              <a:t>PROPOSED LOOK · PHASE 4</a:t>
            </a:r>
            <a:endParaRPr lang="en-US" sz="1800" dirty="0"/>
          </a:p>
        </p:txBody>
      </p:sp>
      <p:sp>
        <p:nvSpPr>
          <p:cNvPr id="3" name="Text 1"/>
          <p:cNvSpPr/>
          <p:nvPr/>
        </p:nvSpPr>
        <p:spPr>
          <a:xfrm>
            <a:off x="1143000" y="1314450"/>
            <a:ext cx="10727442" cy="1226641"/>
          </a:xfrm>
          <a:prstGeom prst="rect">
            <a:avLst/>
          </a:prstGeom>
          <a:noFill/>
          <a:ln/>
        </p:spPr>
        <p:txBody>
          <a:bodyPr wrap="square" lIns="25400" tIns="25400" rIns="25400" bIns="25400" rtlCol="0" anchor="t">
            <a:normAutofit/>
          </a:bodyPr>
          <a:lstStyle/>
          <a:p>
            <a:pPr algn="l" indent="0" marL="0">
              <a:lnSpc>
                <a:spcPct val="104000"/>
              </a:lnSpc>
              <a:buNone/>
            </a:pPr>
            <a:r>
              <a:rPr lang="en-US" sz="4500" b="1" spc="-45" kern="0" dirty="0">
                <a:solidFill>
                  <a:srgbClr val="2E3330"/>
                </a:solidFill>
                <a:latin typeface="Spectral" pitchFamily="34" charset="0"/>
                <a:ea typeface="Spectral" pitchFamily="34" charset="-122"/>
                <a:cs typeface="Spectral" pitchFamily="34" charset="-120"/>
              </a:rPr>
              <a:t>Polish — detail cards, scripture jumps, and speed.</a:t>
            </a:r>
            <a:endParaRPr lang="en-US" sz="4500" dirty="0"/>
          </a:p>
        </p:txBody>
      </p:sp>
      <p:sp>
        <p:nvSpPr>
          <p:cNvPr id="4" name="Shape 2"/>
          <p:cNvSpPr/>
          <p:nvPr/>
        </p:nvSpPr>
        <p:spPr>
          <a:xfrm>
            <a:off x="2952750" y="3714155"/>
            <a:ext cx="12382500" cy="4828133"/>
          </a:xfrm>
          <a:prstGeom prst="roundRect">
            <a:avLst>
              <a:gd name="adj" fmla="val 3946"/>
            </a:avLst>
          </a:prstGeom>
          <a:solidFill>
            <a:srgbClr val="FCFAF5"/>
          </a:solidFill>
          <a:ln w="9525">
            <a:solidFill>
              <a:srgbClr val="DBD6CC"/>
            </a:solidFill>
            <a:prstDash val="solid"/>
          </a:ln>
          <a:effectLst>
            <a:outerShdw sx="100000" sy="100000" kx="0" ky="0" algn="bl" rotWithShape="0" blurRad="666750" dist="285750" dir="5400000">
              <a:srgbClr val="2E3330">
                <a:alpha val="40000"/>
              </a:srgbClr>
            </a:outerShdw>
          </a:effectLst>
        </p:spPr>
      </p:sp>
      <p:sp>
        <p:nvSpPr>
          <p:cNvPr id="5" name="Shape 3"/>
          <p:cNvSpPr/>
          <p:nvPr/>
        </p:nvSpPr>
        <p:spPr>
          <a:xfrm>
            <a:off x="2962275" y="6656338"/>
            <a:ext cx="12363450" cy="9525"/>
          </a:xfrm>
          <a:prstGeom prst="rect">
            <a:avLst/>
          </a:prstGeom>
          <a:solidFill>
            <a:srgbClr val="DBD6CC"/>
          </a:solidFill>
          <a:ln/>
        </p:spPr>
      </p:sp>
      <p:sp>
        <p:nvSpPr>
          <p:cNvPr id="6" name="Shape 4"/>
          <p:cNvSpPr/>
          <p:nvPr/>
        </p:nvSpPr>
        <p:spPr>
          <a:xfrm>
            <a:off x="3343275" y="4047530"/>
            <a:ext cx="1719560" cy="313283"/>
          </a:xfrm>
          <a:prstGeom prst="roundRect">
            <a:avLst>
              <a:gd name="adj" fmla="val 24323"/>
            </a:avLst>
          </a:prstGeom>
          <a:solidFill>
            <a:srgbClr val="6E7570">
              <a:alpha val="12000"/>
            </a:srgbClr>
          </a:solidFill>
          <a:ln/>
        </p:spPr>
      </p:sp>
      <p:sp>
        <p:nvSpPr>
          <p:cNvPr id="7" name="Text 5"/>
          <p:cNvSpPr/>
          <p:nvPr/>
        </p:nvSpPr>
        <p:spPr>
          <a:xfrm>
            <a:off x="3467100" y="4104680"/>
            <a:ext cx="1548110" cy="237083"/>
          </a:xfrm>
          <a:prstGeom prst="rect">
            <a:avLst/>
          </a:prstGeom>
          <a:noFill/>
          <a:ln/>
        </p:spPr>
        <p:txBody>
          <a:bodyPr wrap="square" lIns="25400" tIns="25400" rIns="25400" bIns="25400" rtlCol="0" anchor="ctr">
            <a:normAutofit/>
          </a:bodyPr>
          <a:lstStyle/>
          <a:p>
            <a:pPr algn="l" indent="0" marL="0">
              <a:lnSpc>
                <a:spcPct val="110000"/>
              </a:lnSpc>
              <a:buNone/>
            </a:pPr>
            <a:r>
              <a:rPr lang="en-US" sz="1425" b="1" dirty="0">
                <a:solidFill>
                  <a:srgbClr val="6E7570"/>
                </a:solidFill>
                <a:latin typeface="Archivo" pitchFamily="34" charset="0"/>
                <a:ea typeface="Archivo" pitchFamily="34" charset="-122"/>
                <a:cs typeface="Archivo" pitchFamily="34" charset="-120"/>
              </a:rPr>
              <a:t>Through the Bible</a:t>
            </a:r>
            <a:endParaRPr lang="en-US" sz="1425" dirty="0"/>
          </a:p>
        </p:txBody>
      </p:sp>
      <p:sp>
        <p:nvSpPr>
          <p:cNvPr id="8" name="Shape 6"/>
          <p:cNvSpPr/>
          <p:nvPr/>
        </p:nvSpPr>
        <p:spPr>
          <a:xfrm>
            <a:off x="5158085" y="4047530"/>
            <a:ext cx="1849041" cy="313283"/>
          </a:xfrm>
          <a:prstGeom prst="roundRect">
            <a:avLst>
              <a:gd name="adj" fmla="val 24323"/>
            </a:avLst>
          </a:prstGeom>
          <a:solidFill>
            <a:srgbClr val="3C7C92">
              <a:alpha val="12000"/>
            </a:srgbClr>
          </a:solidFill>
          <a:ln/>
        </p:spPr>
      </p:sp>
      <p:sp>
        <p:nvSpPr>
          <p:cNvPr id="9" name="Text 7"/>
          <p:cNvSpPr/>
          <p:nvPr/>
        </p:nvSpPr>
        <p:spPr>
          <a:xfrm>
            <a:off x="5281910" y="4104680"/>
            <a:ext cx="1677591" cy="237083"/>
          </a:xfrm>
          <a:prstGeom prst="rect">
            <a:avLst/>
          </a:prstGeom>
          <a:noFill/>
          <a:ln/>
        </p:spPr>
        <p:txBody>
          <a:bodyPr wrap="square" lIns="25400" tIns="25400" rIns="25400" bIns="25400" rtlCol="0" anchor="ctr">
            <a:normAutofit/>
          </a:bodyPr>
          <a:lstStyle/>
          <a:p>
            <a:pPr algn="l" indent="0" marL="0">
              <a:lnSpc>
                <a:spcPct val="110000"/>
              </a:lnSpc>
              <a:buNone/>
            </a:pPr>
            <a:r>
              <a:rPr lang="en-US" sz="1425" b="1" dirty="0">
                <a:solidFill>
                  <a:srgbClr val="2C5F73"/>
                </a:solidFill>
                <a:latin typeface="Archivo" pitchFamily="34" charset="0"/>
                <a:ea typeface="Archivo" pitchFamily="34" charset="-122"/>
                <a:cs typeface="Archivo" pitchFamily="34" charset="-120"/>
              </a:rPr>
              <a:t>Ephesians 5:22–33</a:t>
            </a:r>
            <a:endParaRPr lang="en-US" sz="1425" dirty="0"/>
          </a:p>
        </p:txBody>
      </p:sp>
      <p:sp>
        <p:nvSpPr>
          <p:cNvPr id="10" name="Text 8"/>
          <p:cNvSpPr/>
          <p:nvPr/>
        </p:nvSpPr>
        <p:spPr>
          <a:xfrm>
            <a:off x="3343275" y="4532263"/>
            <a:ext cx="11949494" cy="676275"/>
          </a:xfrm>
          <a:prstGeom prst="rect">
            <a:avLst/>
          </a:prstGeom>
          <a:noFill/>
          <a:ln/>
        </p:spPr>
        <p:txBody>
          <a:bodyPr wrap="square" lIns="25400" tIns="25400" rIns="25400" bIns="25400" rtlCol="0" anchor="t">
            <a:normAutofit/>
          </a:bodyPr>
          <a:lstStyle/>
          <a:p>
            <a:pPr algn="l" indent="0" marL="0">
              <a:buNone/>
            </a:pPr>
            <a:r>
              <a:rPr lang="en-US" sz="3300" b="1" dirty="0">
                <a:solidFill>
                  <a:srgbClr val="2E3330"/>
                </a:solidFill>
                <a:latin typeface="Spectral" pitchFamily="34" charset="0"/>
                <a:ea typeface="Spectral" pitchFamily="34" charset="-122"/>
                <a:cs typeface="Spectral" pitchFamily="34" charset="-120"/>
              </a:rPr>
              <a:t>Marriage 101</a:t>
            </a:r>
            <a:endParaRPr lang="en-US" sz="3300" dirty="0"/>
          </a:p>
        </p:txBody>
      </p:sp>
      <p:sp>
        <p:nvSpPr>
          <p:cNvPr id="11" name="Text 9"/>
          <p:cNvSpPr/>
          <p:nvPr/>
        </p:nvSpPr>
        <p:spPr>
          <a:xfrm>
            <a:off x="3343275" y="5265688"/>
            <a:ext cx="11949494" cy="247650"/>
          </a:xfrm>
          <a:prstGeom prst="rect">
            <a:avLst/>
          </a:prstGeom>
          <a:noFill/>
          <a:ln/>
        </p:spPr>
        <p:txBody>
          <a:bodyPr wrap="square" lIns="25400" tIns="25400" rIns="25400" bIns="25400" rtlCol="0" anchor="t">
            <a:normAutofit/>
          </a:bodyPr>
          <a:lstStyle/>
          <a:p>
            <a:pPr algn="l" indent="0" marL="0">
              <a:buNone/>
            </a:pPr>
            <a:r>
              <a:rPr lang="en-US" sz="1425" dirty="0">
                <a:solidFill>
                  <a:srgbClr val="6E7570"/>
                </a:solidFill>
                <a:latin typeface="Spline Sans Mono" pitchFamily="34" charset="0"/>
                <a:ea typeface="Spline Sans Mono" pitchFamily="34" charset="-122"/>
                <a:cs typeface="Spline Sans Mono" pitchFamily="34" charset="-120"/>
              </a:rPr>
              <a:t>May 31, 2026 · Pastor Brett Meador</a:t>
            </a:r>
            <a:endParaRPr lang="en-US" sz="1425" dirty="0"/>
          </a:p>
        </p:txBody>
      </p:sp>
      <p:sp>
        <p:nvSpPr>
          <p:cNvPr id="12" name="Text 10"/>
          <p:cNvSpPr/>
          <p:nvPr/>
        </p:nvSpPr>
        <p:spPr>
          <a:xfrm>
            <a:off x="3343275" y="5646688"/>
            <a:ext cx="9978606" cy="723900"/>
          </a:xfrm>
          <a:prstGeom prst="rect">
            <a:avLst/>
          </a:prstGeom>
          <a:noFill/>
          <a:ln/>
        </p:spPr>
        <p:txBody>
          <a:bodyPr wrap="square" lIns="25400" tIns="25400" rIns="25400" bIns="25400" rtlCol="0" anchor="t">
            <a:normAutofit/>
          </a:bodyPr>
          <a:lstStyle/>
          <a:p>
            <a:pPr algn="l" indent="0" marL="0">
              <a:lnSpc>
                <a:spcPct val="150000"/>
              </a:lnSpc>
              <a:buNone/>
            </a:pPr>
            <a:r>
              <a:rPr lang="en-US" sz="1800" dirty="0">
                <a:solidFill>
                  <a:srgbClr val="6E7570"/>
                </a:solidFill>
                <a:latin typeface="Archivo" pitchFamily="34" charset="0"/>
                <a:ea typeface="Archivo" pitchFamily="34" charset="-122"/>
                <a:cs typeface="Archivo" pitchFamily="34" charset="-120"/>
              </a:rPr>
              <a:t>A verse-by-verse look at what Scripture teaches about marriage — God’s design, and the picture it paints of Christ and the church.</a:t>
            </a:r>
            <a:endParaRPr lang="en-US" sz="1800" dirty="0"/>
          </a:p>
        </p:txBody>
      </p:sp>
      <p:sp>
        <p:nvSpPr>
          <p:cNvPr id="13" name="Shape 11"/>
          <p:cNvSpPr/>
          <p:nvPr/>
        </p:nvSpPr>
        <p:spPr>
          <a:xfrm>
            <a:off x="2962275" y="7656463"/>
            <a:ext cx="12363450" cy="9525"/>
          </a:xfrm>
          <a:prstGeom prst="rect">
            <a:avLst/>
          </a:prstGeom>
          <a:solidFill>
            <a:srgbClr val="DBD6CC"/>
          </a:solidFill>
          <a:ln/>
        </p:spPr>
      </p:sp>
      <p:sp>
        <p:nvSpPr>
          <p:cNvPr id="14" name="Shape 12"/>
          <p:cNvSpPr/>
          <p:nvPr/>
        </p:nvSpPr>
        <p:spPr>
          <a:xfrm>
            <a:off x="3343275" y="6913513"/>
            <a:ext cx="495300" cy="495300"/>
          </a:xfrm>
          <a:prstGeom prst="ellipse">
            <a:avLst/>
          </a:prstGeom>
          <a:solidFill>
            <a:srgbClr val="3C7C92"/>
          </a:solidFill>
          <a:ln/>
        </p:spPr>
      </p:sp>
      <p:pic>
        <p:nvPicPr>
          <p:cNvPr id="15" name="Image 0" descr="preencoded.png">    </p:cNvPr>
          <p:cNvPicPr>
            <a:picLocks noChangeAspect="1"/>
          </p:cNvPicPr>
          <p:nvPr/>
        </p:nvPicPr>
        <p:blipFill>
          <a:blip r:embed="rId1"/>
          <a:stretch>
            <a:fillRect/>
          </a:stretch>
        </p:blipFill>
        <p:spPr>
          <a:xfrm>
            <a:off x="3495675" y="7065913"/>
            <a:ext cx="190500" cy="190500"/>
          </a:xfrm>
          <a:prstGeom prst="rect">
            <a:avLst/>
          </a:prstGeom>
        </p:spPr>
      </p:pic>
      <p:sp>
        <p:nvSpPr>
          <p:cNvPr id="16" name="Shape 13"/>
          <p:cNvSpPr/>
          <p:nvPr/>
        </p:nvSpPr>
        <p:spPr>
          <a:xfrm>
            <a:off x="4048125" y="7132588"/>
            <a:ext cx="8279011" cy="57150"/>
          </a:xfrm>
          <a:prstGeom prst="roundRect">
            <a:avLst>
              <a:gd name="adj" fmla="val 50000"/>
            </a:avLst>
          </a:prstGeom>
          <a:solidFill>
            <a:srgbClr val="DBD6CC"/>
          </a:solidFill>
          <a:ln/>
        </p:spPr>
      </p:sp>
      <p:sp>
        <p:nvSpPr>
          <p:cNvPr id="17" name="Shape 14"/>
          <p:cNvSpPr/>
          <p:nvPr/>
        </p:nvSpPr>
        <p:spPr>
          <a:xfrm>
            <a:off x="4048125" y="7132588"/>
            <a:ext cx="2649141" cy="57150"/>
          </a:xfrm>
          <a:prstGeom prst="roundRect">
            <a:avLst>
              <a:gd name="adj" fmla="val 50000"/>
            </a:avLst>
          </a:prstGeom>
          <a:solidFill>
            <a:srgbClr val="3C7C92"/>
          </a:solidFill>
          <a:ln/>
        </p:spPr>
      </p:sp>
      <p:sp>
        <p:nvSpPr>
          <p:cNvPr id="18" name="Text 15"/>
          <p:cNvSpPr/>
          <p:nvPr/>
        </p:nvSpPr>
        <p:spPr>
          <a:xfrm>
            <a:off x="12536686" y="7056388"/>
            <a:ext cx="1487835" cy="247650"/>
          </a:xfrm>
          <a:prstGeom prst="rect">
            <a:avLst/>
          </a:prstGeom>
          <a:noFill/>
          <a:ln/>
        </p:spPr>
        <p:txBody>
          <a:bodyPr wrap="square" lIns="25400" tIns="25400" rIns="25400" bIns="25400" rtlCol="0" anchor="t">
            <a:normAutofit/>
          </a:bodyPr>
          <a:lstStyle/>
          <a:p>
            <a:pPr algn="l" indent="0" marL="0">
              <a:buNone/>
            </a:pPr>
            <a:r>
              <a:rPr lang="en-US" sz="1425" dirty="0">
                <a:solidFill>
                  <a:srgbClr val="6E7570"/>
                </a:solidFill>
                <a:latin typeface="Spline Sans Mono" pitchFamily="34" charset="0"/>
                <a:ea typeface="Spline Sans Mono" pitchFamily="34" charset="-122"/>
                <a:cs typeface="Spline Sans Mono" pitchFamily="34" charset="-120"/>
              </a:rPr>
              <a:t>18:42 / 58:24</a:t>
            </a:r>
            <a:endParaRPr lang="en-US" sz="1425" dirty="0"/>
          </a:p>
        </p:txBody>
      </p:sp>
      <p:sp>
        <p:nvSpPr>
          <p:cNvPr id="19" name="Shape 16"/>
          <p:cNvSpPr/>
          <p:nvPr/>
        </p:nvSpPr>
        <p:spPr>
          <a:xfrm>
            <a:off x="14157871" y="6965900"/>
            <a:ext cx="786854" cy="390525"/>
          </a:xfrm>
          <a:prstGeom prst="roundRect">
            <a:avLst>
              <a:gd name="adj" fmla="val 19512"/>
            </a:avLst>
          </a:prstGeom>
          <a:ln w="9525">
            <a:solidFill>
              <a:srgbClr val="DBD6CC"/>
            </a:solidFill>
            <a:prstDash val="solid"/>
          </a:ln>
        </p:spPr>
      </p:sp>
      <p:sp>
        <p:nvSpPr>
          <p:cNvPr id="20" name="Text 17"/>
          <p:cNvSpPr/>
          <p:nvPr/>
        </p:nvSpPr>
        <p:spPr>
          <a:xfrm>
            <a:off x="14310271" y="7061150"/>
            <a:ext cx="558254" cy="238125"/>
          </a:xfrm>
          <a:prstGeom prst="rect">
            <a:avLst/>
          </a:prstGeom>
          <a:noFill/>
          <a:ln/>
        </p:spPr>
        <p:txBody>
          <a:bodyPr wrap="square" lIns="25400" tIns="25400" rIns="25400" bIns="25400" rtlCol="0" anchor="ctr">
            <a:normAutofit/>
          </a:bodyPr>
          <a:lstStyle/>
          <a:p>
            <a:pPr algn="l" indent="0" marL="0">
              <a:buNone/>
            </a:pPr>
            <a:r>
              <a:rPr lang="en-US" sz="1425" b="1" dirty="0">
                <a:solidFill>
                  <a:srgbClr val="2C5F73"/>
                </a:solidFill>
                <a:latin typeface="Archivo" pitchFamily="34" charset="0"/>
                <a:ea typeface="Archivo" pitchFamily="34" charset="-122"/>
                <a:cs typeface="Archivo" pitchFamily="34" charset="-120"/>
              </a:rPr>
              <a:t>1.25×</a:t>
            </a:r>
            <a:endParaRPr lang="en-US" sz="1425" dirty="0"/>
          </a:p>
        </p:txBody>
      </p:sp>
      <p:sp>
        <p:nvSpPr>
          <p:cNvPr id="21" name="Text 18"/>
          <p:cNvSpPr/>
          <p:nvPr/>
        </p:nvSpPr>
        <p:spPr>
          <a:xfrm>
            <a:off x="3343275" y="8004125"/>
            <a:ext cx="2178695" cy="228600"/>
          </a:xfrm>
          <a:prstGeom prst="rect">
            <a:avLst/>
          </a:prstGeom>
          <a:noFill/>
          <a:ln/>
        </p:spPr>
        <p:txBody>
          <a:bodyPr wrap="square" lIns="25400" tIns="25400" rIns="25400" bIns="25400" rtlCol="0" anchor="t">
            <a:normAutofit/>
          </a:bodyPr>
          <a:lstStyle/>
          <a:p>
            <a:pPr algn="l" indent="0" marL="0">
              <a:buNone/>
            </a:pPr>
            <a:r>
              <a:rPr lang="en-US" sz="1350" b="1" spc="135" kern="0" dirty="0">
                <a:solidFill>
                  <a:srgbClr val="6E7570"/>
                </a:solidFill>
                <a:latin typeface="Archivo" pitchFamily="34" charset="0"/>
                <a:ea typeface="Archivo" pitchFamily="34" charset="-122"/>
                <a:cs typeface="Archivo" pitchFamily="34" charset="-120"/>
              </a:rPr>
              <a:t>JUMP TO SCRIPTURE</a:t>
            </a:r>
            <a:endParaRPr lang="en-US" sz="1350" dirty="0"/>
          </a:p>
        </p:txBody>
      </p:sp>
      <p:sp>
        <p:nvSpPr>
          <p:cNvPr id="22" name="Shape 19"/>
          <p:cNvSpPr/>
          <p:nvPr/>
        </p:nvSpPr>
        <p:spPr>
          <a:xfrm>
            <a:off x="5598170" y="7913638"/>
            <a:ext cx="1556593" cy="371475"/>
          </a:xfrm>
          <a:prstGeom prst="roundRect">
            <a:avLst>
              <a:gd name="adj" fmla="val 50000"/>
            </a:avLst>
          </a:prstGeom>
          <a:solidFill>
            <a:srgbClr val="3C7C92"/>
          </a:solidFill>
          <a:ln w="9525">
            <a:solidFill>
              <a:srgbClr val="3C7C92"/>
            </a:solidFill>
            <a:prstDash val="solid"/>
          </a:ln>
        </p:spPr>
      </p:sp>
      <p:sp>
        <p:nvSpPr>
          <p:cNvPr id="23" name="Text 20"/>
          <p:cNvSpPr/>
          <p:nvPr/>
        </p:nvSpPr>
        <p:spPr>
          <a:xfrm>
            <a:off x="5750570" y="7999363"/>
            <a:ext cx="1327993" cy="238125"/>
          </a:xfrm>
          <a:prstGeom prst="rect">
            <a:avLst/>
          </a:prstGeom>
          <a:noFill/>
          <a:ln/>
        </p:spPr>
        <p:txBody>
          <a:bodyPr wrap="square" lIns="25400" tIns="25400" rIns="25400" bIns="25400" rtlCol="0" anchor="ctr">
            <a:normAutofit/>
          </a:bodyPr>
          <a:lstStyle/>
          <a:p>
            <a:pPr algn="l" indent="0" marL="0">
              <a:buNone/>
            </a:pPr>
            <a:r>
              <a:rPr lang="en-US" sz="1425" dirty="0">
                <a:solidFill>
                  <a:srgbClr val="FFFFFF"/>
                </a:solidFill>
                <a:latin typeface="Archivo" pitchFamily="34" charset="0"/>
                <a:ea typeface="Archivo" pitchFamily="34" charset="-122"/>
                <a:cs typeface="Archivo" pitchFamily="34" charset="-120"/>
              </a:rPr>
              <a:t>Ephesians 5:22</a:t>
            </a:r>
            <a:endParaRPr lang="en-US" sz="1425" dirty="0"/>
          </a:p>
        </p:txBody>
      </p:sp>
      <p:sp>
        <p:nvSpPr>
          <p:cNvPr id="24" name="Shape 21"/>
          <p:cNvSpPr/>
          <p:nvPr/>
        </p:nvSpPr>
        <p:spPr>
          <a:xfrm>
            <a:off x="7307163" y="7913638"/>
            <a:ext cx="1557338" cy="371475"/>
          </a:xfrm>
          <a:prstGeom prst="roundRect">
            <a:avLst>
              <a:gd name="adj" fmla="val 50000"/>
            </a:avLst>
          </a:prstGeom>
          <a:solidFill>
            <a:srgbClr val="FFFFFF"/>
          </a:solidFill>
          <a:ln w="9525">
            <a:solidFill>
              <a:srgbClr val="DBD6CC"/>
            </a:solidFill>
            <a:prstDash val="solid"/>
          </a:ln>
        </p:spPr>
      </p:sp>
      <p:sp>
        <p:nvSpPr>
          <p:cNvPr id="25" name="Text 22"/>
          <p:cNvSpPr/>
          <p:nvPr/>
        </p:nvSpPr>
        <p:spPr>
          <a:xfrm>
            <a:off x="7459563" y="7999363"/>
            <a:ext cx="1328738" cy="238125"/>
          </a:xfrm>
          <a:prstGeom prst="rect">
            <a:avLst/>
          </a:prstGeom>
          <a:noFill/>
          <a:ln/>
        </p:spPr>
        <p:txBody>
          <a:bodyPr wrap="square" lIns="25400" tIns="25400" rIns="25400" bIns="25400" rtlCol="0" anchor="ctr">
            <a:normAutofit/>
          </a:bodyPr>
          <a:lstStyle/>
          <a:p>
            <a:pPr algn="l" indent="0" marL="0">
              <a:buNone/>
            </a:pPr>
            <a:r>
              <a:rPr lang="en-US" sz="1425" dirty="0">
                <a:solidFill>
                  <a:srgbClr val="2E3330"/>
                </a:solidFill>
                <a:latin typeface="Archivo" pitchFamily="34" charset="0"/>
                <a:ea typeface="Archivo" pitchFamily="34" charset="-122"/>
                <a:cs typeface="Archivo" pitchFamily="34" charset="-120"/>
              </a:rPr>
              <a:t>Ephesians 5:25</a:t>
            </a:r>
            <a:endParaRPr lang="en-US" sz="1425" dirty="0"/>
          </a:p>
        </p:txBody>
      </p:sp>
      <p:sp>
        <p:nvSpPr>
          <p:cNvPr id="26" name="Shape 23"/>
          <p:cNvSpPr/>
          <p:nvPr/>
        </p:nvSpPr>
        <p:spPr>
          <a:xfrm>
            <a:off x="9016901" y="7913638"/>
            <a:ext cx="1558826" cy="371475"/>
          </a:xfrm>
          <a:prstGeom prst="roundRect">
            <a:avLst>
              <a:gd name="adj" fmla="val 50000"/>
            </a:avLst>
          </a:prstGeom>
          <a:solidFill>
            <a:srgbClr val="FFFFFF"/>
          </a:solidFill>
          <a:ln w="9525">
            <a:solidFill>
              <a:srgbClr val="DBD6CC"/>
            </a:solidFill>
            <a:prstDash val="solid"/>
          </a:ln>
        </p:spPr>
      </p:sp>
      <p:sp>
        <p:nvSpPr>
          <p:cNvPr id="27" name="Text 24"/>
          <p:cNvSpPr/>
          <p:nvPr/>
        </p:nvSpPr>
        <p:spPr>
          <a:xfrm>
            <a:off x="9169301" y="7999363"/>
            <a:ext cx="1330226" cy="238125"/>
          </a:xfrm>
          <a:prstGeom prst="rect">
            <a:avLst/>
          </a:prstGeom>
          <a:noFill/>
          <a:ln/>
        </p:spPr>
        <p:txBody>
          <a:bodyPr wrap="square" lIns="25400" tIns="25400" rIns="25400" bIns="25400" rtlCol="0" anchor="ctr">
            <a:normAutofit/>
          </a:bodyPr>
          <a:lstStyle/>
          <a:p>
            <a:pPr algn="l" indent="0" marL="0">
              <a:buNone/>
            </a:pPr>
            <a:r>
              <a:rPr lang="en-US" sz="1425" dirty="0">
                <a:solidFill>
                  <a:srgbClr val="2E3330"/>
                </a:solidFill>
                <a:latin typeface="Archivo" pitchFamily="34" charset="0"/>
                <a:ea typeface="Archivo" pitchFamily="34" charset="-122"/>
                <a:cs typeface="Archivo" pitchFamily="34" charset="-120"/>
              </a:rPr>
              <a:t>Ephesians 5:33</a:t>
            </a:r>
            <a:endParaRPr lang="en-US" sz="1425" dirty="0"/>
          </a:p>
        </p:txBody>
      </p:sp>
      <p:sp>
        <p:nvSpPr>
          <p:cNvPr id="28" name="Text 25"/>
          <p:cNvSpPr/>
          <p:nvPr/>
        </p:nvSpPr>
        <p:spPr>
          <a:xfrm>
            <a:off x="16870561" y="9572625"/>
            <a:ext cx="350639" cy="314325"/>
          </a:xfrm>
          <a:prstGeom prst="rect">
            <a:avLst/>
          </a:prstGeom>
          <a:noFill/>
          <a:ln/>
        </p:spPr>
        <p:txBody>
          <a:bodyPr wrap="square" lIns="25400" tIns="25400" rIns="25400" bIns="25400" rtlCol="0" anchor="t">
            <a:normAutofit/>
          </a:bodyPr>
          <a:lstStyle/>
          <a:p>
            <a:pPr algn="l" indent="0" marL="0">
              <a:buNone/>
            </a:pPr>
            <a:r>
              <a:rPr lang="en-US" sz="1800" b="1" dirty="0">
                <a:solidFill>
                  <a:srgbClr val="A9ADA4"/>
                </a:solidFill>
                <a:latin typeface="Spline Sans Mono" pitchFamily="34" charset="0"/>
                <a:ea typeface="Spline Sans Mono" pitchFamily="34" charset="-122"/>
                <a:cs typeface="Spline Sans Mono" pitchFamily="34" charset="-120"/>
              </a:rPr>
              <a:t>12</a:t>
            </a:r>
            <a:endParaRPr lang="en-US" sz="1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4F1EA"/>
        </a:solidFill>
      </p:bgPr>
    </p:bg>
    <p:spTree>
      <p:nvGrpSpPr>
        <p:cNvPr id="1" name=""/>
        <p:cNvGrpSpPr/>
        <p:nvPr/>
      </p:nvGrpSpPr>
      <p:grpSpPr>
        <a:xfrm>
          <a:off x="0" y="0"/>
          <a:ext cx="0" cy="0"/>
          <a:chOff x="0" y="0"/>
          <a:chExt cx="0" cy="0"/>
        </a:xfrm>
      </p:grpSpPr>
      <p:sp>
        <p:nvSpPr>
          <p:cNvPr id="2" name="Text 0"/>
          <p:cNvSpPr/>
          <p:nvPr/>
        </p:nvSpPr>
        <p:spPr>
          <a:xfrm>
            <a:off x="1143000" y="876300"/>
            <a:ext cx="16482060" cy="285750"/>
          </a:xfrm>
          <a:prstGeom prst="rect">
            <a:avLst/>
          </a:prstGeom>
          <a:noFill/>
          <a:ln/>
        </p:spPr>
        <p:txBody>
          <a:bodyPr wrap="square" lIns="25400" tIns="25400" rIns="25400" bIns="25400" rtlCol="0" anchor="t">
            <a:normAutofit/>
          </a:bodyPr>
          <a:lstStyle/>
          <a:p>
            <a:pPr algn="l" indent="0" marL="0">
              <a:buNone/>
            </a:pPr>
            <a:r>
              <a:rPr lang="en-US" sz="1800" b="1" spc="396" kern="0" dirty="0">
                <a:solidFill>
                  <a:srgbClr val="9BA29A"/>
                </a:solidFill>
                <a:latin typeface="Archivo" pitchFamily="34" charset="0"/>
                <a:ea typeface="Archivo" pitchFamily="34" charset="-122"/>
                <a:cs typeface="Archivo" pitchFamily="34" charset="-120"/>
              </a:rPr>
              <a:t>BIGGER POSSIBILITIES · LATER</a:t>
            </a:r>
            <a:endParaRPr lang="en-US" sz="1800" dirty="0"/>
          </a:p>
        </p:txBody>
      </p:sp>
      <p:sp>
        <p:nvSpPr>
          <p:cNvPr id="3" name="Text 1"/>
          <p:cNvSpPr/>
          <p:nvPr/>
        </p:nvSpPr>
        <p:spPr>
          <a:xfrm>
            <a:off x="1143000" y="1314450"/>
            <a:ext cx="8203320" cy="1226641"/>
          </a:xfrm>
          <a:prstGeom prst="rect">
            <a:avLst/>
          </a:prstGeom>
          <a:noFill/>
          <a:ln/>
        </p:spPr>
        <p:txBody>
          <a:bodyPr wrap="square" lIns="25400" tIns="25400" rIns="25400" bIns="25400" rtlCol="0" anchor="t">
            <a:normAutofit/>
          </a:bodyPr>
          <a:lstStyle/>
          <a:p>
            <a:pPr algn="l" indent="0" marL="0">
              <a:lnSpc>
                <a:spcPct val="104000"/>
              </a:lnSpc>
              <a:buNone/>
            </a:pPr>
            <a:r>
              <a:rPr lang="en-US" sz="4500" b="1" spc="-45" kern="0" dirty="0">
                <a:solidFill>
                  <a:srgbClr val="6E7570"/>
                </a:solidFill>
                <a:latin typeface="Spectral" pitchFamily="34" charset="0"/>
                <a:ea typeface="Spectral" pitchFamily="34" charset="-122"/>
                <a:cs typeface="Spectral" pitchFamily="34" charset="-120"/>
              </a:rPr>
              <a:t>On the horizon — possibilities, not promises.</a:t>
            </a:r>
            <a:endParaRPr lang="en-US" sz="4500" dirty="0"/>
          </a:p>
        </p:txBody>
      </p:sp>
      <p:sp>
        <p:nvSpPr>
          <p:cNvPr id="4" name="Shape 2"/>
          <p:cNvSpPr/>
          <p:nvPr/>
        </p:nvSpPr>
        <p:spPr>
          <a:xfrm>
            <a:off x="1143000" y="4977705"/>
            <a:ext cx="685800" cy="685800"/>
          </a:xfrm>
          <a:prstGeom prst="roundRect">
            <a:avLst>
              <a:gd name="adj" fmla="val 22222"/>
            </a:avLst>
          </a:prstGeom>
          <a:solidFill>
            <a:srgbClr val="6E7570">
              <a:alpha val="12000"/>
            </a:srgbClr>
          </a:solidFill>
          <a:ln/>
        </p:spPr>
      </p:sp>
      <p:pic>
        <p:nvPicPr>
          <p:cNvPr id="5" name="Image 0" descr="preencoded.png">    </p:cNvPr>
          <p:cNvPicPr>
            <a:picLocks noChangeAspect="1"/>
          </p:cNvPicPr>
          <p:nvPr/>
        </p:nvPicPr>
        <p:blipFill>
          <a:blip r:embed="rId1"/>
          <a:stretch>
            <a:fillRect/>
          </a:stretch>
        </p:blipFill>
        <p:spPr>
          <a:xfrm>
            <a:off x="1304925" y="5139630"/>
            <a:ext cx="361950" cy="361950"/>
          </a:xfrm>
          <a:prstGeom prst="rect">
            <a:avLst/>
          </a:prstGeom>
        </p:spPr>
      </p:pic>
      <p:sp>
        <p:nvSpPr>
          <p:cNvPr id="6" name="Text 3"/>
          <p:cNvSpPr/>
          <p:nvPr/>
        </p:nvSpPr>
        <p:spPr>
          <a:xfrm>
            <a:off x="1143000" y="5911155"/>
            <a:ext cx="5232349" cy="342900"/>
          </a:xfrm>
          <a:prstGeom prst="rect">
            <a:avLst/>
          </a:prstGeom>
          <a:noFill/>
          <a:ln/>
        </p:spPr>
        <p:txBody>
          <a:bodyPr wrap="square" lIns="25400" tIns="25400" rIns="25400" bIns="25400" rtlCol="0" anchor="t">
            <a:normAutofit/>
          </a:bodyPr>
          <a:lstStyle/>
          <a:p>
            <a:pPr algn="l" indent="0" marL="0">
              <a:buNone/>
            </a:pPr>
            <a:r>
              <a:rPr lang="en-US" sz="2250" b="1" dirty="0">
                <a:solidFill>
                  <a:srgbClr val="6E7570"/>
                </a:solidFill>
                <a:latin typeface="Archivo" pitchFamily="34" charset="0"/>
                <a:ea typeface="Archivo" pitchFamily="34" charset="-122"/>
                <a:cs typeface="Archivo" pitchFamily="34" charset="-120"/>
              </a:rPr>
              <a:t>“Ask a question” search</a:t>
            </a:r>
            <a:endParaRPr lang="en-US" sz="2250" dirty="0"/>
          </a:p>
        </p:txBody>
      </p:sp>
      <p:sp>
        <p:nvSpPr>
          <p:cNvPr id="7" name="Text 4"/>
          <p:cNvSpPr/>
          <p:nvPr/>
        </p:nvSpPr>
        <p:spPr>
          <a:xfrm>
            <a:off x="1143000" y="6349305"/>
            <a:ext cx="5232349" cy="700980"/>
          </a:xfrm>
          <a:prstGeom prst="rect">
            <a:avLst/>
          </a:prstGeom>
          <a:noFill/>
          <a:ln/>
        </p:spPr>
        <p:txBody>
          <a:bodyPr wrap="square" lIns="25400" tIns="25400" rIns="25400" bIns="25400" rtlCol="0" anchor="t">
            <a:normAutofit/>
          </a:bodyPr>
          <a:lstStyle/>
          <a:p>
            <a:pPr algn="l" indent="0" marL="0">
              <a:lnSpc>
                <a:spcPct val="145000"/>
              </a:lnSpc>
              <a:buNone/>
            </a:pPr>
            <a:r>
              <a:rPr lang="en-US" sz="1800" dirty="0">
                <a:solidFill>
                  <a:srgbClr val="6E7570"/>
                </a:solidFill>
                <a:latin typeface="Archivo" pitchFamily="34" charset="0"/>
                <a:ea typeface="Archivo" pitchFamily="34" charset="-122"/>
                <a:cs typeface="Archivo" pitchFamily="34" charset="-120"/>
              </a:rPr>
              <a:t>Search by meaning — “sermons about anxiety” — not just exact words.</a:t>
            </a:r>
            <a:endParaRPr lang="en-US" sz="1800" dirty="0"/>
          </a:p>
        </p:txBody>
      </p:sp>
      <p:sp>
        <p:nvSpPr>
          <p:cNvPr id="8" name="Shape 5"/>
          <p:cNvSpPr/>
          <p:nvPr/>
        </p:nvSpPr>
        <p:spPr>
          <a:xfrm>
            <a:off x="6603950" y="4977705"/>
            <a:ext cx="685800" cy="685800"/>
          </a:xfrm>
          <a:prstGeom prst="roundRect">
            <a:avLst>
              <a:gd name="adj" fmla="val 22222"/>
            </a:avLst>
          </a:prstGeom>
          <a:solidFill>
            <a:srgbClr val="6E7570">
              <a:alpha val="12000"/>
            </a:srgbClr>
          </a:solidFill>
          <a:ln/>
        </p:spPr>
      </p:sp>
      <p:pic>
        <p:nvPicPr>
          <p:cNvPr id="9" name="Image 1" descr="preencoded.png">    </p:cNvPr>
          <p:cNvPicPr>
            <a:picLocks noChangeAspect="1"/>
          </p:cNvPicPr>
          <p:nvPr/>
        </p:nvPicPr>
        <p:blipFill>
          <a:blip r:embed="rId2"/>
          <a:stretch>
            <a:fillRect/>
          </a:stretch>
        </p:blipFill>
        <p:spPr>
          <a:xfrm>
            <a:off x="6765875" y="5139630"/>
            <a:ext cx="361950" cy="361950"/>
          </a:xfrm>
          <a:prstGeom prst="rect">
            <a:avLst/>
          </a:prstGeom>
        </p:spPr>
      </p:pic>
      <p:sp>
        <p:nvSpPr>
          <p:cNvPr id="10" name="Text 6"/>
          <p:cNvSpPr/>
          <p:nvPr/>
        </p:nvSpPr>
        <p:spPr>
          <a:xfrm>
            <a:off x="6603950" y="5911155"/>
            <a:ext cx="5232349" cy="342900"/>
          </a:xfrm>
          <a:prstGeom prst="rect">
            <a:avLst/>
          </a:prstGeom>
          <a:noFill/>
          <a:ln/>
        </p:spPr>
        <p:txBody>
          <a:bodyPr wrap="square" lIns="25400" tIns="25400" rIns="25400" bIns="25400" rtlCol="0" anchor="t">
            <a:normAutofit/>
          </a:bodyPr>
          <a:lstStyle/>
          <a:p>
            <a:pPr algn="l" indent="0" marL="0">
              <a:buNone/>
            </a:pPr>
            <a:r>
              <a:rPr lang="en-US" sz="2250" b="1" dirty="0">
                <a:solidFill>
                  <a:srgbClr val="6E7570"/>
                </a:solidFill>
                <a:latin typeface="Archivo" pitchFamily="34" charset="0"/>
                <a:ea typeface="Archivo" pitchFamily="34" charset="-122"/>
                <a:cs typeface="Archivo" pitchFamily="34" charset="-120"/>
              </a:rPr>
              <a:t>Personal accounts</a:t>
            </a:r>
            <a:endParaRPr lang="en-US" sz="2250" dirty="0"/>
          </a:p>
        </p:txBody>
      </p:sp>
      <p:sp>
        <p:nvSpPr>
          <p:cNvPr id="11" name="Text 7"/>
          <p:cNvSpPr/>
          <p:nvPr/>
        </p:nvSpPr>
        <p:spPr>
          <a:xfrm>
            <a:off x="6603950" y="6349305"/>
            <a:ext cx="5232349" cy="700980"/>
          </a:xfrm>
          <a:prstGeom prst="rect">
            <a:avLst/>
          </a:prstGeom>
          <a:noFill/>
          <a:ln/>
        </p:spPr>
        <p:txBody>
          <a:bodyPr wrap="square" lIns="25400" tIns="25400" rIns="25400" bIns="25400" rtlCol="0" anchor="t">
            <a:normAutofit/>
          </a:bodyPr>
          <a:lstStyle/>
          <a:p>
            <a:pPr algn="l" indent="0" marL="0">
              <a:lnSpc>
                <a:spcPct val="145000"/>
              </a:lnSpc>
              <a:buNone/>
            </a:pPr>
            <a:r>
              <a:rPr lang="en-US" sz="1800" dirty="0">
                <a:solidFill>
                  <a:srgbClr val="6E7570"/>
                </a:solidFill>
                <a:latin typeface="Archivo" pitchFamily="34" charset="0"/>
                <a:ea typeface="Archivo" pitchFamily="34" charset="-122"/>
                <a:cs typeface="Archivo" pitchFamily="34" charset="-120"/>
              </a:rPr>
              <a:t>Save favorite moments, build playlists, and share collections.</a:t>
            </a:r>
            <a:endParaRPr lang="en-US" sz="1800" dirty="0"/>
          </a:p>
        </p:txBody>
      </p:sp>
      <p:sp>
        <p:nvSpPr>
          <p:cNvPr id="12" name="Shape 8"/>
          <p:cNvSpPr/>
          <p:nvPr/>
        </p:nvSpPr>
        <p:spPr>
          <a:xfrm>
            <a:off x="12064901" y="4977705"/>
            <a:ext cx="685800" cy="685800"/>
          </a:xfrm>
          <a:prstGeom prst="roundRect">
            <a:avLst>
              <a:gd name="adj" fmla="val 22222"/>
            </a:avLst>
          </a:prstGeom>
          <a:solidFill>
            <a:srgbClr val="6E7570">
              <a:alpha val="12000"/>
            </a:srgbClr>
          </a:solidFill>
          <a:ln/>
        </p:spPr>
      </p:sp>
      <p:pic>
        <p:nvPicPr>
          <p:cNvPr id="13" name="Image 2" descr="preencoded.png">    </p:cNvPr>
          <p:cNvPicPr>
            <a:picLocks noChangeAspect="1"/>
          </p:cNvPicPr>
          <p:nvPr/>
        </p:nvPicPr>
        <p:blipFill>
          <a:blip r:embed="rId3"/>
          <a:stretch>
            <a:fillRect/>
          </a:stretch>
        </p:blipFill>
        <p:spPr>
          <a:xfrm>
            <a:off x="12226826" y="5139630"/>
            <a:ext cx="361950" cy="361950"/>
          </a:xfrm>
          <a:prstGeom prst="rect">
            <a:avLst/>
          </a:prstGeom>
        </p:spPr>
      </p:pic>
      <p:sp>
        <p:nvSpPr>
          <p:cNvPr id="14" name="Text 9"/>
          <p:cNvSpPr/>
          <p:nvPr/>
        </p:nvSpPr>
        <p:spPr>
          <a:xfrm>
            <a:off x="12064901" y="5911155"/>
            <a:ext cx="5232349" cy="342900"/>
          </a:xfrm>
          <a:prstGeom prst="rect">
            <a:avLst/>
          </a:prstGeom>
          <a:noFill/>
          <a:ln/>
        </p:spPr>
        <p:txBody>
          <a:bodyPr wrap="square" lIns="25400" tIns="25400" rIns="25400" bIns="25400" rtlCol="0" anchor="t">
            <a:normAutofit/>
          </a:bodyPr>
          <a:lstStyle/>
          <a:p>
            <a:pPr algn="l" indent="0" marL="0">
              <a:buNone/>
            </a:pPr>
            <a:r>
              <a:rPr lang="en-US" sz="2250" b="1" dirty="0">
                <a:solidFill>
                  <a:srgbClr val="6E7570"/>
                </a:solidFill>
                <a:latin typeface="Archivo" pitchFamily="34" charset="0"/>
                <a:ea typeface="Archivo" pitchFamily="34" charset="-122"/>
                <a:cs typeface="Archivo" pitchFamily="34" charset="-120"/>
              </a:rPr>
              <a:t>Themes across the archive</a:t>
            </a:r>
            <a:endParaRPr lang="en-US" sz="2250" dirty="0"/>
          </a:p>
        </p:txBody>
      </p:sp>
      <p:sp>
        <p:nvSpPr>
          <p:cNvPr id="15" name="Text 10"/>
          <p:cNvSpPr/>
          <p:nvPr/>
        </p:nvSpPr>
        <p:spPr>
          <a:xfrm>
            <a:off x="12064901" y="6349305"/>
            <a:ext cx="5232349" cy="700980"/>
          </a:xfrm>
          <a:prstGeom prst="rect">
            <a:avLst/>
          </a:prstGeom>
          <a:noFill/>
          <a:ln/>
        </p:spPr>
        <p:txBody>
          <a:bodyPr wrap="square" lIns="25400" tIns="25400" rIns="25400" bIns="25400" rtlCol="0" anchor="t">
            <a:normAutofit/>
          </a:bodyPr>
          <a:lstStyle/>
          <a:p>
            <a:pPr algn="l" indent="0" marL="0">
              <a:lnSpc>
                <a:spcPct val="145000"/>
              </a:lnSpc>
              <a:buNone/>
            </a:pPr>
            <a:r>
              <a:rPr lang="en-US" sz="1800" dirty="0">
                <a:solidFill>
                  <a:srgbClr val="6E7570"/>
                </a:solidFill>
                <a:latin typeface="Archivo" pitchFamily="34" charset="0"/>
                <a:ea typeface="Archivo" pitchFamily="34" charset="-122"/>
                <a:cs typeface="Archivo" pitchFamily="34" charset="-120"/>
              </a:rPr>
              <a:t>Surface recurring topics and threads spanning all twelve years.</a:t>
            </a:r>
            <a:endParaRPr lang="en-US" sz="1800" dirty="0"/>
          </a:p>
        </p:txBody>
      </p:sp>
      <p:sp>
        <p:nvSpPr>
          <p:cNvPr id="16" name="Text 11"/>
          <p:cNvSpPr/>
          <p:nvPr/>
        </p:nvSpPr>
        <p:spPr>
          <a:xfrm>
            <a:off x="1143000" y="9601200"/>
            <a:ext cx="9894755" cy="285750"/>
          </a:xfrm>
          <a:prstGeom prst="rect">
            <a:avLst/>
          </a:prstGeom>
          <a:noFill/>
          <a:ln/>
        </p:spPr>
        <p:txBody>
          <a:bodyPr wrap="square" lIns="25400" tIns="25400" rIns="25400" bIns="25400" rtlCol="0" anchor="t">
            <a:normAutofit/>
          </a:bodyPr>
          <a:lstStyle/>
          <a:p>
            <a:pPr algn="l" indent="0" marL="0">
              <a:buNone/>
            </a:pPr>
            <a:r>
              <a:rPr lang="en-US" sz="1800" b="1" spc="288" kern="0" dirty="0">
                <a:solidFill>
                  <a:srgbClr val="A9ADA4"/>
                </a:solidFill>
                <a:latin typeface="Archivo" pitchFamily="34" charset="0"/>
                <a:ea typeface="Archivo" pitchFamily="34" charset="-122"/>
                <a:cs typeface="Archivo" pitchFamily="34" charset="-120"/>
              </a:rPr>
              <a:t>LATER · OPTIONAL — KEPT SEPARATE FROM THE NEAR-TERM PLAN</a:t>
            </a:r>
            <a:endParaRPr lang="en-US" sz="1800" dirty="0"/>
          </a:p>
        </p:txBody>
      </p:sp>
      <p:sp>
        <p:nvSpPr>
          <p:cNvPr id="17" name="Text 12"/>
          <p:cNvSpPr/>
          <p:nvPr/>
        </p:nvSpPr>
        <p:spPr>
          <a:xfrm>
            <a:off x="16870561" y="9572625"/>
            <a:ext cx="350639" cy="314325"/>
          </a:xfrm>
          <a:prstGeom prst="rect">
            <a:avLst/>
          </a:prstGeom>
          <a:noFill/>
          <a:ln/>
        </p:spPr>
        <p:txBody>
          <a:bodyPr wrap="square" lIns="25400" tIns="25400" rIns="25400" bIns="25400" rtlCol="0" anchor="t">
            <a:normAutofit/>
          </a:bodyPr>
          <a:lstStyle/>
          <a:p>
            <a:pPr algn="l" indent="0" marL="0">
              <a:buNone/>
            </a:pPr>
            <a:r>
              <a:rPr lang="en-US" sz="1800" b="1" dirty="0">
                <a:solidFill>
                  <a:srgbClr val="A9ADA4"/>
                </a:solidFill>
                <a:latin typeface="Spline Sans Mono" pitchFamily="34" charset="0"/>
                <a:ea typeface="Spline Sans Mono" pitchFamily="34" charset="-122"/>
                <a:cs typeface="Spline Sans Mono" pitchFamily="34" charset="-120"/>
              </a:rPr>
              <a:t>13</a:t>
            </a:r>
            <a:endParaRPr lang="en-US" sz="1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4F1EA"/>
        </a:solidFill>
      </p:bgPr>
    </p:bg>
    <p:spTree>
      <p:nvGrpSpPr>
        <p:cNvPr id="1" name=""/>
        <p:cNvGrpSpPr/>
        <p:nvPr/>
      </p:nvGrpSpPr>
      <p:grpSpPr>
        <a:xfrm>
          <a:off x="0" y="0"/>
          <a:ext cx="0" cy="0"/>
          <a:chOff x="0" y="0"/>
          <a:chExt cx="0" cy="0"/>
        </a:xfrm>
      </p:grpSpPr>
      <p:sp>
        <p:nvSpPr>
          <p:cNvPr id="2" name="Text 0"/>
          <p:cNvSpPr/>
          <p:nvPr/>
        </p:nvSpPr>
        <p:spPr>
          <a:xfrm>
            <a:off x="1143000" y="876300"/>
            <a:ext cx="16482060" cy="285750"/>
          </a:xfrm>
          <a:prstGeom prst="rect">
            <a:avLst/>
          </a:prstGeom>
          <a:noFill/>
          <a:ln/>
        </p:spPr>
        <p:txBody>
          <a:bodyPr wrap="square" lIns="25400" tIns="25400" rIns="25400" bIns="25400" rtlCol="0" anchor="t">
            <a:normAutofit/>
          </a:bodyPr>
          <a:lstStyle/>
          <a:p>
            <a:pPr algn="l" indent="0" marL="0">
              <a:buNone/>
            </a:pPr>
            <a:r>
              <a:rPr lang="en-US" sz="1800" b="1" spc="396" kern="0" dirty="0">
                <a:solidFill>
                  <a:srgbClr val="3C7C92"/>
                </a:solidFill>
                <a:latin typeface="Archivo" pitchFamily="34" charset="0"/>
                <a:ea typeface="Archivo" pitchFamily="34" charset="-122"/>
                <a:cs typeface="Archivo" pitchFamily="34" charset="-120"/>
              </a:rPr>
              <a:t>THE ASK</a:t>
            </a:r>
            <a:endParaRPr lang="en-US" sz="1800" dirty="0"/>
          </a:p>
        </p:txBody>
      </p:sp>
      <p:sp>
        <p:nvSpPr>
          <p:cNvPr id="3" name="Text 1"/>
          <p:cNvSpPr/>
          <p:nvPr/>
        </p:nvSpPr>
        <p:spPr>
          <a:xfrm>
            <a:off x="1143000" y="4228356"/>
            <a:ext cx="8396162" cy="397073"/>
          </a:xfrm>
          <a:prstGeom prst="rect">
            <a:avLst/>
          </a:prstGeom>
          <a:noFill/>
          <a:ln/>
        </p:spPr>
        <p:txBody>
          <a:bodyPr wrap="square" lIns="25400" tIns="25400" rIns="25400" bIns="25400" rtlCol="0" anchor="t">
            <a:normAutofit/>
          </a:bodyPr>
          <a:lstStyle/>
          <a:p>
            <a:pPr algn="l" indent="0" marL="0">
              <a:lnSpc>
                <a:spcPct val="145000"/>
              </a:lnSpc>
              <a:buNone/>
            </a:pPr>
            <a:r>
              <a:rPr lang="en-US" sz="1950" b="1" spc="78" kern="0" dirty="0">
                <a:solidFill>
                  <a:srgbClr val="3C7C92"/>
                </a:solidFill>
                <a:latin typeface="Archivo" pitchFamily="34" charset="0"/>
                <a:ea typeface="Archivo" pitchFamily="34" charset="-122"/>
                <a:cs typeface="Archivo" pitchFamily="34" charset="-120"/>
              </a:rPr>
              <a:t>RECOMMENDED NEXT STEP</a:t>
            </a:r>
            <a:endParaRPr lang="en-US" sz="1950" dirty="0"/>
          </a:p>
        </p:txBody>
      </p:sp>
      <p:sp>
        <p:nvSpPr>
          <p:cNvPr id="4" name="Text 2"/>
          <p:cNvSpPr/>
          <p:nvPr/>
        </p:nvSpPr>
        <p:spPr>
          <a:xfrm>
            <a:off x="1143000" y="4777829"/>
            <a:ext cx="8396162" cy="1642765"/>
          </a:xfrm>
          <a:prstGeom prst="rect">
            <a:avLst/>
          </a:prstGeom>
          <a:noFill/>
          <a:ln/>
        </p:spPr>
        <p:txBody>
          <a:bodyPr wrap="square" lIns="25400" tIns="25400" rIns="25400" bIns="25400" rtlCol="0" anchor="t">
            <a:normAutofit/>
          </a:bodyPr>
          <a:lstStyle/>
          <a:p>
            <a:pPr algn="l" indent="0" marL="0">
              <a:lnSpc>
                <a:spcPct val="104000"/>
              </a:lnSpc>
              <a:buNone/>
            </a:pPr>
            <a:r>
              <a:rPr lang="en-US" sz="4050" b="1" spc="-40" kern="0" dirty="0">
                <a:solidFill>
                  <a:srgbClr val="2E3330"/>
                </a:solidFill>
                <a:latin typeface="Spectral" pitchFamily="34" charset="0"/>
                <a:ea typeface="Spectral" pitchFamily="34" charset="-122"/>
                <a:cs typeface="Spectral" pitchFamily="34" charset="-120"/>
              </a:rPr>
              <a:t>Approve indexing the full archive — and auto-pulling each sermon’s details.</a:t>
            </a:r>
            <a:endParaRPr lang="en-US" sz="4050" dirty="0"/>
          </a:p>
        </p:txBody>
      </p:sp>
      <p:sp>
        <p:nvSpPr>
          <p:cNvPr id="5" name="Shape 3"/>
          <p:cNvSpPr/>
          <p:nvPr/>
        </p:nvSpPr>
        <p:spPr>
          <a:xfrm>
            <a:off x="10056614" y="4257675"/>
            <a:ext cx="19050" cy="2095351"/>
          </a:xfrm>
          <a:prstGeom prst="rect">
            <a:avLst/>
          </a:prstGeom>
          <a:solidFill>
            <a:srgbClr val="DBD6CC"/>
          </a:solidFill>
          <a:ln/>
        </p:spPr>
      </p:sp>
      <p:sp>
        <p:nvSpPr>
          <p:cNvPr id="6" name="Text 4"/>
          <p:cNvSpPr/>
          <p:nvPr/>
        </p:nvSpPr>
        <p:spPr>
          <a:xfrm>
            <a:off x="10609064" y="4257675"/>
            <a:ext cx="6731861" cy="369540"/>
          </a:xfrm>
          <a:prstGeom prst="rect">
            <a:avLst/>
          </a:prstGeom>
          <a:noFill/>
          <a:ln/>
        </p:spPr>
        <p:txBody>
          <a:bodyPr wrap="square" lIns="25400" tIns="25400" rIns="25400" bIns="25400" rtlCol="0" anchor="t">
            <a:normAutofit/>
          </a:bodyPr>
          <a:lstStyle/>
          <a:p>
            <a:pPr algn="l" indent="0" marL="0">
              <a:lnSpc>
                <a:spcPct val="145000"/>
              </a:lnSpc>
              <a:buNone/>
            </a:pPr>
            <a:r>
              <a:rPr lang="en-US" sz="1800" b="1" spc="180" kern="0" dirty="0">
                <a:solidFill>
                  <a:srgbClr val="6E7570"/>
                </a:solidFill>
                <a:latin typeface="Archivo" pitchFamily="34" charset="0"/>
                <a:ea typeface="Archivo" pitchFamily="34" charset="-122"/>
                <a:cs typeface="Archivo" pitchFamily="34" charset="-120"/>
              </a:rPr>
              <a:t>DECISIONS NEEDED</a:t>
            </a:r>
            <a:endParaRPr lang="en-US" sz="1800" dirty="0"/>
          </a:p>
        </p:txBody>
      </p:sp>
      <p:sp>
        <p:nvSpPr>
          <p:cNvPr id="7" name="Text 5"/>
          <p:cNvSpPr/>
          <p:nvPr/>
        </p:nvSpPr>
        <p:spPr>
          <a:xfrm>
            <a:off x="10609064" y="4798665"/>
            <a:ext cx="361950" cy="476250"/>
          </a:xfrm>
          <a:prstGeom prst="rect">
            <a:avLst/>
          </a:prstGeom>
          <a:noFill/>
          <a:ln/>
        </p:spPr>
        <p:txBody>
          <a:bodyPr wrap="square" lIns="25400" tIns="25400" rIns="25400" bIns="25400" rtlCol="0" anchor="t">
            <a:normAutofit/>
          </a:bodyPr>
          <a:lstStyle/>
          <a:p>
            <a:pPr algn="l" indent="0" marL="0">
              <a:buNone/>
            </a:pPr>
            <a:r>
              <a:rPr lang="en-US" sz="2250" b="1" dirty="0">
                <a:solidFill>
                  <a:srgbClr val="3C7C92"/>
                </a:solidFill>
                <a:latin typeface="Spectral" pitchFamily="34" charset="0"/>
                <a:ea typeface="Spectral" pitchFamily="34" charset="-122"/>
                <a:cs typeface="Spectral" pitchFamily="34" charset="-120"/>
              </a:rPr>
              <a:t>—</a:t>
            </a:r>
            <a:endParaRPr lang="en-US" sz="2250" dirty="0"/>
          </a:p>
        </p:txBody>
      </p:sp>
      <p:sp>
        <p:nvSpPr>
          <p:cNvPr id="8" name="Text 6"/>
          <p:cNvSpPr/>
          <p:nvPr/>
        </p:nvSpPr>
        <p:spPr>
          <a:xfrm>
            <a:off x="11085314" y="4798665"/>
            <a:ext cx="4859387" cy="424755"/>
          </a:xfrm>
          <a:prstGeom prst="rect">
            <a:avLst/>
          </a:prstGeom>
          <a:noFill/>
          <a:ln/>
        </p:spPr>
        <p:txBody>
          <a:bodyPr wrap="square" lIns="25400" tIns="25400" rIns="25400" bIns="25400" rtlCol="0" anchor="t">
            <a:normAutofit/>
          </a:bodyPr>
          <a:lstStyle/>
          <a:p>
            <a:pPr algn="l" indent="0" marL="0">
              <a:lnSpc>
                <a:spcPct val="145000"/>
              </a:lnSpc>
              <a:buNone/>
            </a:pPr>
            <a:r>
              <a:rPr lang="en-US" sz="2100" dirty="0">
                <a:solidFill>
                  <a:srgbClr val="2E3330"/>
                </a:solidFill>
                <a:latin typeface="Archivo" pitchFamily="34" charset="0"/>
                <a:ea typeface="Archivo" pitchFamily="34" charset="-122"/>
                <a:cs typeface="Archivo" pitchFamily="34" charset="-120"/>
              </a:rPr>
              <a:t>Priority order for the Phase 2–3 features.</a:t>
            </a:r>
            <a:endParaRPr lang="en-US" sz="2100" dirty="0"/>
          </a:p>
        </p:txBody>
      </p:sp>
      <p:sp>
        <p:nvSpPr>
          <p:cNvPr id="9" name="Text 7"/>
          <p:cNvSpPr/>
          <p:nvPr/>
        </p:nvSpPr>
        <p:spPr>
          <a:xfrm>
            <a:off x="10609064" y="5579715"/>
            <a:ext cx="361950" cy="476250"/>
          </a:xfrm>
          <a:prstGeom prst="rect">
            <a:avLst/>
          </a:prstGeom>
          <a:noFill/>
          <a:ln/>
        </p:spPr>
        <p:txBody>
          <a:bodyPr wrap="square" lIns="25400" tIns="25400" rIns="25400" bIns="25400" rtlCol="0" anchor="t">
            <a:normAutofit/>
          </a:bodyPr>
          <a:lstStyle/>
          <a:p>
            <a:pPr algn="l" indent="0" marL="0">
              <a:buNone/>
            </a:pPr>
            <a:r>
              <a:rPr lang="en-US" sz="2250" b="1" dirty="0">
                <a:solidFill>
                  <a:srgbClr val="3C7C92"/>
                </a:solidFill>
                <a:latin typeface="Spectral" pitchFamily="34" charset="0"/>
                <a:ea typeface="Spectral" pitchFamily="34" charset="-122"/>
                <a:cs typeface="Spectral" pitchFamily="34" charset="-120"/>
              </a:rPr>
              <a:t>—</a:t>
            </a:r>
            <a:endParaRPr lang="en-US" sz="2250" dirty="0"/>
          </a:p>
        </p:txBody>
      </p:sp>
      <p:sp>
        <p:nvSpPr>
          <p:cNvPr id="10" name="Text 8"/>
          <p:cNvSpPr/>
          <p:nvPr/>
        </p:nvSpPr>
        <p:spPr>
          <a:xfrm>
            <a:off x="11085314" y="5579715"/>
            <a:ext cx="6241323" cy="811411"/>
          </a:xfrm>
          <a:prstGeom prst="rect">
            <a:avLst/>
          </a:prstGeom>
          <a:noFill/>
          <a:ln/>
        </p:spPr>
        <p:txBody>
          <a:bodyPr wrap="square" lIns="25400" tIns="25400" rIns="25400" bIns="25400" rtlCol="0" anchor="t">
            <a:normAutofit/>
          </a:bodyPr>
          <a:lstStyle/>
          <a:p>
            <a:pPr algn="l" indent="0" marL="0">
              <a:lnSpc>
                <a:spcPct val="145000"/>
              </a:lnSpc>
              <a:buNone/>
            </a:pPr>
            <a:r>
              <a:rPr lang="en-US" sz="2100" dirty="0">
                <a:solidFill>
                  <a:srgbClr val="2E3330"/>
                </a:solidFill>
                <a:latin typeface="Archivo" pitchFamily="34" charset="0"/>
                <a:ea typeface="Archivo" pitchFamily="34" charset="-122"/>
                <a:cs typeface="Archivo" pitchFamily="34" charset="-120"/>
              </a:rPr>
              <a:t>Whether it stays public, moves behind a simple login, or both. </a:t>
            </a:r>
            <a:pPr algn="l" indent="0" marL="0">
              <a:lnSpc>
                <a:spcPct val="145000"/>
              </a:lnSpc>
              <a:buNone/>
            </a:pPr>
            <a:r>
              <a:rPr lang="en-US" sz="2100" dirty="0">
                <a:solidFill>
                  <a:srgbClr val="A9ADA4"/>
                </a:solidFill>
                <a:latin typeface="Archivo" pitchFamily="34" charset="0"/>
                <a:ea typeface="Archivo" pitchFamily="34" charset="-122"/>
                <a:cs typeface="Archivo" pitchFamily="34" charset="-120"/>
              </a:rPr>
              <a:t>(optional)</a:t>
            </a:r>
            <a:endParaRPr lang="en-US" sz="2100" dirty="0"/>
          </a:p>
        </p:txBody>
      </p:sp>
      <p:sp>
        <p:nvSpPr>
          <p:cNvPr id="11" name="Text 9"/>
          <p:cNvSpPr/>
          <p:nvPr/>
        </p:nvSpPr>
        <p:spPr>
          <a:xfrm>
            <a:off x="16870561" y="9572625"/>
            <a:ext cx="350639" cy="314325"/>
          </a:xfrm>
          <a:prstGeom prst="rect">
            <a:avLst/>
          </a:prstGeom>
          <a:noFill/>
          <a:ln/>
        </p:spPr>
        <p:txBody>
          <a:bodyPr wrap="square" lIns="25400" tIns="25400" rIns="25400" bIns="25400" rtlCol="0" anchor="t">
            <a:normAutofit/>
          </a:bodyPr>
          <a:lstStyle/>
          <a:p>
            <a:pPr algn="l" indent="0" marL="0">
              <a:buNone/>
            </a:pPr>
            <a:r>
              <a:rPr lang="en-US" sz="1800" b="1" dirty="0">
                <a:solidFill>
                  <a:srgbClr val="A9ADA4"/>
                </a:solidFill>
                <a:latin typeface="Spline Sans Mono" pitchFamily="34" charset="0"/>
                <a:ea typeface="Spline Sans Mono" pitchFamily="34" charset="-122"/>
                <a:cs typeface="Spline Sans Mono" pitchFamily="34" charset="-120"/>
              </a:rPr>
              <a:t>14</a:t>
            </a:r>
            <a:endParaRPr lang="en-US" sz="1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solidFill>
            <a:srgbClr val="38403A"/>
          </a:solidFill>
          <a:ln/>
        </p:spPr>
      </p:sp>
      <p:sp>
        <p:nvSpPr>
          <p:cNvPr id="3" name="Shape 1"/>
          <p:cNvSpPr/>
          <p:nvPr/>
        </p:nvSpPr>
        <p:spPr>
          <a:xfrm>
            <a:off x="1143000" y="2331988"/>
            <a:ext cx="57150" cy="180975"/>
          </a:xfrm>
          <a:prstGeom prst="roundRect">
            <a:avLst>
              <a:gd name="adj" fmla="val 50000"/>
            </a:avLst>
          </a:prstGeom>
          <a:solidFill>
            <a:srgbClr val="7FB6C6">
              <a:alpha val="85000"/>
            </a:srgbClr>
          </a:solidFill>
          <a:ln/>
        </p:spPr>
      </p:sp>
      <p:sp>
        <p:nvSpPr>
          <p:cNvPr id="4" name="Shape 2"/>
          <p:cNvSpPr/>
          <p:nvPr/>
        </p:nvSpPr>
        <p:spPr>
          <a:xfrm>
            <a:off x="1247775" y="2284363"/>
            <a:ext cx="57150" cy="276225"/>
          </a:xfrm>
          <a:prstGeom prst="roundRect">
            <a:avLst>
              <a:gd name="adj" fmla="val 50000"/>
            </a:avLst>
          </a:prstGeom>
          <a:solidFill>
            <a:srgbClr val="7FB6C6">
              <a:alpha val="85000"/>
            </a:srgbClr>
          </a:solidFill>
          <a:ln/>
        </p:spPr>
      </p:sp>
      <p:sp>
        <p:nvSpPr>
          <p:cNvPr id="5" name="Shape 3"/>
          <p:cNvSpPr/>
          <p:nvPr/>
        </p:nvSpPr>
        <p:spPr>
          <a:xfrm>
            <a:off x="1352550" y="2346275"/>
            <a:ext cx="57150" cy="152400"/>
          </a:xfrm>
          <a:prstGeom prst="roundRect">
            <a:avLst>
              <a:gd name="adj" fmla="val 50000"/>
            </a:avLst>
          </a:prstGeom>
          <a:solidFill>
            <a:srgbClr val="7FB6C6">
              <a:alpha val="85000"/>
            </a:srgbClr>
          </a:solidFill>
          <a:ln/>
        </p:spPr>
      </p:sp>
      <p:sp>
        <p:nvSpPr>
          <p:cNvPr id="6" name="Shape 4"/>
          <p:cNvSpPr/>
          <p:nvPr/>
        </p:nvSpPr>
        <p:spPr>
          <a:xfrm>
            <a:off x="1457325" y="2312938"/>
            <a:ext cx="57150" cy="219075"/>
          </a:xfrm>
          <a:prstGeom prst="roundRect">
            <a:avLst>
              <a:gd name="adj" fmla="val 50000"/>
            </a:avLst>
          </a:prstGeom>
          <a:solidFill>
            <a:srgbClr val="7FB6C6">
              <a:alpha val="85000"/>
            </a:srgbClr>
          </a:solidFill>
          <a:ln/>
        </p:spPr>
      </p:sp>
      <p:sp>
        <p:nvSpPr>
          <p:cNvPr id="7" name="Shape 5"/>
          <p:cNvSpPr/>
          <p:nvPr/>
        </p:nvSpPr>
        <p:spPr>
          <a:xfrm>
            <a:off x="1562100" y="2265313"/>
            <a:ext cx="57150" cy="314325"/>
          </a:xfrm>
          <a:prstGeom prst="roundRect">
            <a:avLst>
              <a:gd name="adj" fmla="val 50000"/>
            </a:avLst>
          </a:prstGeom>
          <a:solidFill>
            <a:srgbClr val="7FB6C6">
              <a:alpha val="85000"/>
            </a:srgbClr>
          </a:solidFill>
          <a:ln/>
        </p:spPr>
      </p:sp>
      <p:sp>
        <p:nvSpPr>
          <p:cNvPr id="8" name="Shape 6"/>
          <p:cNvSpPr/>
          <p:nvPr/>
        </p:nvSpPr>
        <p:spPr>
          <a:xfrm>
            <a:off x="1666875" y="2241500"/>
            <a:ext cx="57150" cy="361950"/>
          </a:xfrm>
          <a:prstGeom prst="roundRect">
            <a:avLst>
              <a:gd name="adj" fmla="val 50000"/>
            </a:avLst>
          </a:prstGeom>
          <a:solidFill>
            <a:srgbClr val="7FB6C6">
              <a:alpha val="85000"/>
            </a:srgbClr>
          </a:solidFill>
          <a:ln/>
        </p:spPr>
      </p:sp>
      <p:sp>
        <p:nvSpPr>
          <p:cNvPr id="9" name="Shape 7"/>
          <p:cNvSpPr/>
          <p:nvPr/>
        </p:nvSpPr>
        <p:spPr>
          <a:xfrm>
            <a:off x="1771650" y="2327225"/>
            <a:ext cx="57150" cy="190500"/>
          </a:xfrm>
          <a:prstGeom prst="roundRect">
            <a:avLst>
              <a:gd name="adj" fmla="val 50000"/>
            </a:avLst>
          </a:prstGeom>
          <a:solidFill>
            <a:srgbClr val="7FB6C6">
              <a:alpha val="85000"/>
            </a:srgbClr>
          </a:solidFill>
          <a:ln/>
        </p:spPr>
      </p:sp>
      <p:sp>
        <p:nvSpPr>
          <p:cNvPr id="10" name="Shape 8"/>
          <p:cNvSpPr/>
          <p:nvPr/>
        </p:nvSpPr>
        <p:spPr>
          <a:xfrm>
            <a:off x="1876425" y="2131963"/>
            <a:ext cx="57150" cy="581025"/>
          </a:xfrm>
          <a:prstGeom prst="roundRect">
            <a:avLst>
              <a:gd name="adj" fmla="val 50000"/>
            </a:avLst>
          </a:prstGeom>
          <a:solidFill>
            <a:srgbClr val="7FB6C6">
              <a:alpha val="85000"/>
            </a:srgbClr>
          </a:solidFill>
          <a:ln/>
        </p:spPr>
      </p:sp>
      <p:sp>
        <p:nvSpPr>
          <p:cNvPr id="11" name="Shape 9"/>
          <p:cNvSpPr/>
          <p:nvPr/>
        </p:nvSpPr>
        <p:spPr>
          <a:xfrm>
            <a:off x="1981200" y="2189113"/>
            <a:ext cx="57150" cy="466725"/>
          </a:xfrm>
          <a:prstGeom prst="roundRect">
            <a:avLst>
              <a:gd name="adj" fmla="val 50000"/>
            </a:avLst>
          </a:prstGeom>
          <a:solidFill>
            <a:srgbClr val="7FB6C6">
              <a:alpha val="85000"/>
            </a:srgbClr>
          </a:solidFill>
          <a:ln/>
        </p:spPr>
      </p:sp>
      <p:sp>
        <p:nvSpPr>
          <p:cNvPr id="12" name="Shape 10"/>
          <p:cNvSpPr/>
          <p:nvPr/>
        </p:nvSpPr>
        <p:spPr>
          <a:xfrm>
            <a:off x="2085975" y="2227213"/>
            <a:ext cx="57150" cy="390525"/>
          </a:xfrm>
          <a:prstGeom prst="roundRect">
            <a:avLst>
              <a:gd name="adj" fmla="val 50000"/>
            </a:avLst>
          </a:prstGeom>
          <a:solidFill>
            <a:srgbClr val="7FB6C6">
              <a:alpha val="85000"/>
            </a:srgbClr>
          </a:solidFill>
          <a:ln/>
        </p:spPr>
      </p:sp>
      <p:sp>
        <p:nvSpPr>
          <p:cNvPr id="13" name="Shape 11"/>
          <p:cNvSpPr/>
          <p:nvPr/>
        </p:nvSpPr>
        <p:spPr>
          <a:xfrm>
            <a:off x="2190750" y="2255788"/>
            <a:ext cx="57150" cy="333375"/>
          </a:xfrm>
          <a:prstGeom prst="roundRect">
            <a:avLst>
              <a:gd name="adj" fmla="val 50000"/>
            </a:avLst>
          </a:prstGeom>
          <a:solidFill>
            <a:srgbClr val="7FB6C6">
              <a:alpha val="85000"/>
            </a:srgbClr>
          </a:solidFill>
          <a:ln/>
        </p:spPr>
      </p:sp>
      <p:sp>
        <p:nvSpPr>
          <p:cNvPr id="14" name="Shape 12"/>
          <p:cNvSpPr/>
          <p:nvPr/>
        </p:nvSpPr>
        <p:spPr>
          <a:xfrm>
            <a:off x="2295525" y="2117675"/>
            <a:ext cx="57150" cy="609600"/>
          </a:xfrm>
          <a:prstGeom prst="roundRect">
            <a:avLst>
              <a:gd name="adj" fmla="val 50000"/>
            </a:avLst>
          </a:prstGeom>
          <a:solidFill>
            <a:srgbClr val="7FB6C6">
              <a:alpha val="85000"/>
            </a:srgbClr>
          </a:solidFill>
          <a:ln/>
        </p:spPr>
      </p:sp>
      <p:sp>
        <p:nvSpPr>
          <p:cNvPr id="15" name="Shape 13"/>
          <p:cNvSpPr/>
          <p:nvPr/>
        </p:nvSpPr>
        <p:spPr>
          <a:xfrm>
            <a:off x="2400300" y="2141488"/>
            <a:ext cx="57150" cy="561975"/>
          </a:xfrm>
          <a:prstGeom prst="roundRect">
            <a:avLst>
              <a:gd name="adj" fmla="val 50000"/>
            </a:avLst>
          </a:prstGeom>
          <a:solidFill>
            <a:srgbClr val="7FB6C6">
              <a:alpha val="85000"/>
            </a:srgbClr>
          </a:solidFill>
          <a:ln/>
        </p:spPr>
      </p:sp>
      <p:sp>
        <p:nvSpPr>
          <p:cNvPr id="16" name="Shape 14"/>
          <p:cNvSpPr/>
          <p:nvPr/>
        </p:nvSpPr>
        <p:spPr>
          <a:xfrm>
            <a:off x="2505075" y="2303413"/>
            <a:ext cx="57150" cy="238125"/>
          </a:xfrm>
          <a:prstGeom prst="roundRect">
            <a:avLst>
              <a:gd name="adj" fmla="val 50000"/>
            </a:avLst>
          </a:prstGeom>
          <a:solidFill>
            <a:srgbClr val="7FB6C6">
              <a:alpha val="85000"/>
            </a:srgbClr>
          </a:solidFill>
          <a:ln/>
        </p:spPr>
      </p:sp>
      <p:sp>
        <p:nvSpPr>
          <p:cNvPr id="17" name="Shape 15"/>
          <p:cNvSpPr/>
          <p:nvPr/>
        </p:nvSpPr>
        <p:spPr>
          <a:xfrm>
            <a:off x="2609850" y="2179588"/>
            <a:ext cx="57150" cy="485775"/>
          </a:xfrm>
          <a:prstGeom prst="roundRect">
            <a:avLst>
              <a:gd name="adj" fmla="val 50000"/>
            </a:avLst>
          </a:prstGeom>
          <a:solidFill>
            <a:srgbClr val="7FB6C6">
              <a:alpha val="85000"/>
            </a:srgbClr>
          </a:solidFill>
          <a:ln/>
        </p:spPr>
      </p:sp>
      <p:sp>
        <p:nvSpPr>
          <p:cNvPr id="18" name="Shape 16"/>
          <p:cNvSpPr/>
          <p:nvPr/>
        </p:nvSpPr>
        <p:spPr>
          <a:xfrm>
            <a:off x="2714625" y="2251025"/>
            <a:ext cx="57150" cy="342900"/>
          </a:xfrm>
          <a:prstGeom prst="roundRect">
            <a:avLst>
              <a:gd name="adj" fmla="val 50000"/>
            </a:avLst>
          </a:prstGeom>
          <a:solidFill>
            <a:srgbClr val="7FB6C6">
              <a:alpha val="85000"/>
            </a:srgbClr>
          </a:solidFill>
          <a:ln/>
        </p:spPr>
      </p:sp>
      <p:sp>
        <p:nvSpPr>
          <p:cNvPr id="19" name="Shape 17"/>
          <p:cNvSpPr/>
          <p:nvPr/>
        </p:nvSpPr>
        <p:spPr>
          <a:xfrm>
            <a:off x="2819400" y="2117675"/>
            <a:ext cx="57150" cy="609600"/>
          </a:xfrm>
          <a:prstGeom prst="roundRect">
            <a:avLst>
              <a:gd name="adj" fmla="val 50000"/>
            </a:avLst>
          </a:prstGeom>
          <a:solidFill>
            <a:srgbClr val="7FB6C6">
              <a:alpha val="85000"/>
            </a:srgbClr>
          </a:solidFill>
          <a:ln/>
        </p:spPr>
      </p:sp>
      <p:sp>
        <p:nvSpPr>
          <p:cNvPr id="20" name="Shape 18"/>
          <p:cNvSpPr/>
          <p:nvPr/>
        </p:nvSpPr>
        <p:spPr>
          <a:xfrm>
            <a:off x="2924175" y="2270075"/>
            <a:ext cx="57150" cy="304800"/>
          </a:xfrm>
          <a:prstGeom prst="roundRect">
            <a:avLst>
              <a:gd name="adj" fmla="val 50000"/>
            </a:avLst>
          </a:prstGeom>
          <a:solidFill>
            <a:srgbClr val="7FB6C6">
              <a:alpha val="85000"/>
            </a:srgbClr>
          </a:solidFill>
          <a:ln/>
        </p:spPr>
      </p:sp>
      <p:sp>
        <p:nvSpPr>
          <p:cNvPr id="21" name="Shape 19"/>
          <p:cNvSpPr/>
          <p:nvPr/>
        </p:nvSpPr>
        <p:spPr>
          <a:xfrm>
            <a:off x="3028950" y="2141488"/>
            <a:ext cx="57150" cy="561975"/>
          </a:xfrm>
          <a:prstGeom prst="roundRect">
            <a:avLst>
              <a:gd name="adj" fmla="val 50000"/>
            </a:avLst>
          </a:prstGeom>
          <a:solidFill>
            <a:srgbClr val="7FB6C6">
              <a:alpha val="85000"/>
            </a:srgbClr>
          </a:solidFill>
          <a:ln/>
        </p:spPr>
      </p:sp>
      <p:sp>
        <p:nvSpPr>
          <p:cNvPr id="22" name="Shape 20"/>
          <p:cNvSpPr/>
          <p:nvPr/>
        </p:nvSpPr>
        <p:spPr>
          <a:xfrm>
            <a:off x="3133725" y="2165300"/>
            <a:ext cx="57150" cy="514350"/>
          </a:xfrm>
          <a:prstGeom prst="roundRect">
            <a:avLst>
              <a:gd name="adj" fmla="val 50000"/>
            </a:avLst>
          </a:prstGeom>
          <a:solidFill>
            <a:srgbClr val="7FB6C6">
              <a:alpha val="85000"/>
            </a:srgbClr>
          </a:solidFill>
          <a:ln/>
        </p:spPr>
      </p:sp>
      <p:sp>
        <p:nvSpPr>
          <p:cNvPr id="23" name="Shape 21"/>
          <p:cNvSpPr/>
          <p:nvPr/>
        </p:nvSpPr>
        <p:spPr>
          <a:xfrm>
            <a:off x="3238500" y="2260550"/>
            <a:ext cx="57150" cy="323850"/>
          </a:xfrm>
          <a:prstGeom prst="roundRect">
            <a:avLst>
              <a:gd name="adj" fmla="val 50000"/>
            </a:avLst>
          </a:prstGeom>
          <a:solidFill>
            <a:srgbClr val="7FB6C6">
              <a:alpha val="85000"/>
            </a:srgbClr>
          </a:solidFill>
          <a:ln/>
        </p:spPr>
      </p:sp>
      <p:sp>
        <p:nvSpPr>
          <p:cNvPr id="24" name="Shape 22"/>
          <p:cNvSpPr/>
          <p:nvPr/>
        </p:nvSpPr>
        <p:spPr>
          <a:xfrm>
            <a:off x="3343275" y="2298650"/>
            <a:ext cx="57150" cy="247650"/>
          </a:xfrm>
          <a:prstGeom prst="roundRect">
            <a:avLst>
              <a:gd name="adj" fmla="val 50000"/>
            </a:avLst>
          </a:prstGeom>
          <a:solidFill>
            <a:srgbClr val="7FB6C6">
              <a:alpha val="85000"/>
            </a:srgbClr>
          </a:solidFill>
          <a:ln/>
        </p:spPr>
      </p:sp>
      <p:sp>
        <p:nvSpPr>
          <p:cNvPr id="25" name="Shape 23"/>
          <p:cNvSpPr/>
          <p:nvPr/>
        </p:nvSpPr>
        <p:spPr>
          <a:xfrm>
            <a:off x="3448050" y="2012900"/>
            <a:ext cx="57150" cy="819150"/>
          </a:xfrm>
          <a:prstGeom prst="roundRect">
            <a:avLst>
              <a:gd name="adj" fmla="val 50000"/>
            </a:avLst>
          </a:prstGeom>
          <a:solidFill>
            <a:srgbClr val="7FB6C6">
              <a:alpha val="85000"/>
            </a:srgbClr>
          </a:solidFill>
          <a:ln/>
        </p:spPr>
      </p:sp>
      <p:sp>
        <p:nvSpPr>
          <p:cNvPr id="26" name="Shape 24"/>
          <p:cNvSpPr/>
          <p:nvPr/>
        </p:nvSpPr>
        <p:spPr>
          <a:xfrm>
            <a:off x="3552825" y="2003375"/>
            <a:ext cx="57150" cy="838200"/>
          </a:xfrm>
          <a:prstGeom prst="roundRect">
            <a:avLst>
              <a:gd name="adj" fmla="val 50000"/>
            </a:avLst>
          </a:prstGeom>
          <a:solidFill>
            <a:srgbClr val="7FB6C6">
              <a:alpha val="85000"/>
            </a:srgbClr>
          </a:solidFill>
          <a:ln/>
        </p:spPr>
      </p:sp>
      <p:sp>
        <p:nvSpPr>
          <p:cNvPr id="27" name="Shape 25"/>
          <p:cNvSpPr/>
          <p:nvPr/>
        </p:nvSpPr>
        <p:spPr>
          <a:xfrm>
            <a:off x="3657600" y="2274838"/>
            <a:ext cx="57150" cy="295275"/>
          </a:xfrm>
          <a:prstGeom prst="roundRect">
            <a:avLst>
              <a:gd name="adj" fmla="val 50000"/>
            </a:avLst>
          </a:prstGeom>
          <a:solidFill>
            <a:srgbClr val="7FB6C6">
              <a:alpha val="85000"/>
            </a:srgbClr>
          </a:solidFill>
          <a:ln/>
        </p:spPr>
      </p:sp>
      <p:sp>
        <p:nvSpPr>
          <p:cNvPr id="28" name="Shape 26"/>
          <p:cNvSpPr/>
          <p:nvPr/>
        </p:nvSpPr>
        <p:spPr>
          <a:xfrm>
            <a:off x="3762375" y="2174825"/>
            <a:ext cx="57150" cy="495300"/>
          </a:xfrm>
          <a:prstGeom prst="roundRect">
            <a:avLst>
              <a:gd name="adj" fmla="val 50000"/>
            </a:avLst>
          </a:prstGeom>
          <a:solidFill>
            <a:srgbClr val="7FB6C6">
              <a:alpha val="85000"/>
            </a:srgbClr>
          </a:solidFill>
          <a:ln/>
        </p:spPr>
      </p:sp>
      <p:sp>
        <p:nvSpPr>
          <p:cNvPr id="29" name="Shape 27"/>
          <p:cNvSpPr/>
          <p:nvPr/>
        </p:nvSpPr>
        <p:spPr>
          <a:xfrm>
            <a:off x="3867150" y="2008138"/>
            <a:ext cx="57150" cy="828675"/>
          </a:xfrm>
          <a:prstGeom prst="roundRect">
            <a:avLst>
              <a:gd name="adj" fmla="val 50000"/>
            </a:avLst>
          </a:prstGeom>
          <a:solidFill>
            <a:srgbClr val="7FB6C6">
              <a:alpha val="85000"/>
            </a:srgbClr>
          </a:solidFill>
          <a:ln/>
        </p:spPr>
      </p:sp>
      <p:sp>
        <p:nvSpPr>
          <p:cNvPr id="30" name="Shape 28"/>
          <p:cNvSpPr/>
          <p:nvPr/>
        </p:nvSpPr>
        <p:spPr>
          <a:xfrm>
            <a:off x="3971925" y="2255788"/>
            <a:ext cx="57150" cy="333375"/>
          </a:xfrm>
          <a:prstGeom prst="roundRect">
            <a:avLst>
              <a:gd name="adj" fmla="val 50000"/>
            </a:avLst>
          </a:prstGeom>
          <a:solidFill>
            <a:srgbClr val="7FB6C6">
              <a:alpha val="85000"/>
            </a:srgbClr>
          </a:solidFill>
          <a:ln/>
        </p:spPr>
      </p:sp>
      <p:sp>
        <p:nvSpPr>
          <p:cNvPr id="31" name="Shape 29"/>
          <p:cNvSpPr/>
          <p:nvPr/>
        </p:nvSpPr>
        <p:spPr>
          <a:xfrm>
            <a:off x="4076700" y="2184350"/>
            <a:ext cx="57150" cy="476250"/>
          </a:xfrm>
          <a:prstGeom prst="roundRect">
            <a:avLst>
              <a:gd name="adj" fmla="val 50000"/>
            </a:avLst>
          </a:prstGeom>
          <a:solidFill>
            <a:srgbClr val="7FB6C6">
              <a:alpha val="85000"/>
            </a:srgbClr>
          </a:solidFill>
          <a:ln/>
        </p:spPr>
      </p:sp>
      <p:sp>
        <p:nvSpPr>
          <p:cNvPr id="32" name="Shape 30"/>
          <p:cNvSpPr/>
          <p:nvPr/>
        </p:nvSpPr>
        <p:spPr>
          <a:xfrm>
            <a:off x="4181475" y="2146250"/>
            <a:ext cx="57150" cy="552450"/>
          </a:xfrm>
          <a:prstGeom prst="roundRect">
            <a:avLst>
              <a:gd name="adj" fmla="val 50000"/>
            </a:avLst>
          </a:prstGeom>
          <a:solidFill>
            <a:srgbClr val="7FB6C6">
              <a:alpha val="85000"/>
            </a:srgbClr>
          </a:solidFill>
          <a:ln/>
        </p:spPr>
      </p:sp>
      <p:sp>
        <p:nvSpPr>
          <p:cNvPr id="33" name="Shape 31"/>
          <p:cNvSpPr/>
          <p:nvPr/>
        </p:nvSpPr>
        <p:spPr>
          <a:xfrm>
            <a:off x="4286250" y="2108150"/>
            <a:ext cx="57150" cy="628650"/>
          </a:xfrm>
          <a:prstGeom prst="roundRect">
            <a:avLst>
              <a:gd name="adj" fmla="val 50000"/>
            </a:avLst>
          </a:prstGeom>
          <a:solidFill>
            <a:srgbClr val="7FB6C6">
              <a:alpha val="85000"/>
            </a:srgbClr>
          </a:solidFill>
          <a:ln/>
        </p:spPr>
      </p:sp>
      <p:sp>
        <p:nvSpPr>
          <p:cNvPr id="34" name="Shape 32"/>
          <p:cNvSpPr/>
          <p:nvPr/>
        </p:nvSpPr>
        <p:spPr>
          <a:xfrm>
            <a:off x="4391025" y="2231975"/>
            <a:ext cx="57150" cy="381000"/>
          </a:xfrm>
          <a:prstGeom prst="roundRect">
            <a:avLst>
              <a:gd name="adj" fmla="val 50000"/>
            </a:avLst>
          </a:prstGeom>
          <a:solidFill>
            <a:srgbClr val="7FB6C6">
              <a:alpha val="85000"/>
            </a:srgbClr>
          </a:solidFill>
          <a:ln/>
        </p:spPr>
      </p:sp>
      <p:sp>
        <p:nvSpPr>
          <p:cNvPr id="35" name="Shape 33"/>
          <p:cNvSpPr/>
          <p:nvPr/>
        </p:nvSpPr>
        <p:spPr>
          <a:xfrm>
            <a:off x="4495800" y="2270075"/>
            <a:ext cx="57150" cy="304800"/>
          </a:xfrm>
          <a:prstGeom prst="roundRect">
            <a:avLst>
              <a:gd name="adj" fmla="val 50000"/>
            </a:avLst>
          </a:prstGeom>
          <a:solidFill>
            <a:srgbClr val="7FB6C6">
              <a:alpha val="85000"/>
            </a:srgbClr>
          </a:solidFill>
          <a:ln/>
        </p:spPr>
      </p:sp>
      <p:sp>
        <p:nvSpPr>
          <p:cNvPr id="36" name="Shape 34"/>
          <p:cNvSpPr/>
          <p:nvPr/>
        </p:nvSpPr>
        <p:spPr>
          <a:xfrm>
            <a:off x="4600575" y="2027188"/>
            <a:ext cx="57150" cy="790575"/>
          </a:xfrm>
          <a:prstGeom prst="roundRect">
            <a:avLst>
              <a:gd name="adj" fmla="val 50000"/>
            </a:avLst>
          </a:prstGeom>
          <a:solidFill>
            <a:srgbClr val="7FB6C6">
              <a:alpha val="85000"/>
            </a:srgbClr>
          </a:solidFill>
          <a:ln/>
        </p:spPr>
      </p:sp>
      <p:sp>
        <p:nvSpPr>
          <p:cNvPr id="37" name="Shape 35"/>
          <p:cNvSpPr/>
          <p:nvPr/>
        </p:nvSpPr>
        <p:spPr>
          <a:xfrm>
            <a:off x="4705350" y="2193875"/>
            <a:ext cx="57150" cy="457200"/>
          </a:xfrm>
          <a:prstGeom prst="roundRect">
            <a:avLst>
              <a:gd name="adj" fmla="val 50000"/>
            </a:avLst>
          </a:prstGeom>
          <a:solidFill>
            <a:srgbClr val="7FB6C6">
              <a:alpha val="85000"/>
            </a:srgbClr>
          </a:solidFill>
          <a:ln/>
        </p:spPr>
      </p:sp>
      <p:sp>
        <p:nvSpPr>
          <p:cNvPr id="38" name="Shape 36"/>
          <p:cNvSpPr/>
          <p:nvPr/>
        </p:nvSpPr>
        <p:spPr>
          <a:xfrm>
            <a:off x="4810125" y="2260550"/>
            <a:ext cx="57150" cy="323850"/>
          </a:xfrm>
          <a:prstGeom prst="roundRect">
            <a:avLst>
              <a:gd name="adj" fmla="val 50000"/>
            </a:avLst>
          </a:prstGeom>
          <a:solidFill>
            <a:srgbClr val="7FB6C6">
              <a:alpha val="85000"/>
            </a:srgbClr>
          </a:solidFill>
          <a:ln/>
        </p:spPr>
      </p:sp>
      <p:sp>
        <p:nvSpPr>
          <p:cNvPr id="39" name="Shape 37"/>
          <p:cNvSpPr/>
          <p:nvPr/>
        </p:nvSpPr>
        <p:spPr>
          <a:xfrm>
            <a:off x="4914900" y="2174825"/>
            <a:ext cx="57150" cy="495300"/>
          </a:xfrm>
          <a:prstGeom prst="roundRect">
            <a:avLst>
              <a:gd name="adj" fmla="val 50000"/>
            </a:avLst>
          </a:prstGeom>
          <a:solidFill>
            <a:srgbClr val="7FB6C6">
              <a:alpha val="85000"/>
            </a:srgbClr>
          </a:solidFill>
          <a:ln/>
        </p:spPr>
      </p:sp>
      <p:sp>
        <p:nvSpPr>
          <p:cNvPr id="40" name="Shape 38"/>
          <p:cNvSpPr/>
          <p:nvPr/>
        </p:nvSpPr>
        <p:spPr>
          <a:xfrm>
            <a:off x="5019675" y="2241500"/>
            <a:ext cx="57150" cy="361950"/>
          </a:xfrm>
          <a:prstGeom prst="roundRect">
            <a:avLst>
              <a:gd name="adj" fmla="val 50000"/>
            </a:avLst>
          </a:prstGeom>
          <a:solidFill>
            <a:srgbClr val="7FB6C6">
              <a:alpha val="85000"/>
            </a:srgbClr>
          </a:solidFill>
          <a:ln/>
        </p:spPr>
      </p:sp>
      <p:sp>
        <p:nvSpPr>
          <p:cNvPr id="41" name="Shape 39"/>
          <p:cNvSpPr/>
          <p:nvPr/>
        </p:nvSpPr>
        <p:spPr>
          <a:xfrm>
            <a:off x="5124450" y="2293888"/>
            <a:ext cx="57150" cy="257175"/>
          </a:xfrm>
          <a:prstGeom prst="roundRect">
            <a:avLst>
              <a:gd name="adj" fmla="val 50000"/>
            </a:avLst>
          </a:prstGeom>
          <a:solidFill>
            <a:srgbClr val="7FB6C6">
              <a:alpha val="85000"/>
            </a:srgbClr>
          </a:solidFill>
          <a:ln/>
        </p:spPr>
      </p:sp>
      <p:sp>
        <p:nvSpPr>
          <p:cNvPr id="42" name="Shape 40"/>
          <p:cNvSpPr/>
          <p:nvPr/>
        </p:nvSpPr>
        <p:spPr>
          <a:xfrm>
            <a:off x="5229225" y="2136725"/>
            <a:ext cx="57150" cy="571500"/>
          </a:xfrm>
          <a:prstGeom prst="roundRect">
            <a:avLst>
              <a:gd name="adj" fmla="val 50000"/>
            </a:avLst>
          </a:prstGeom>
          <a:solidFill>
            <a:srgbClr val="7FB6C6">
              <a:alpha val="85000"/>
            </a:srgbClr>
          </a:solidFill>
          <a:ln/>
        </p:spPr>
      </p:sp>
      <p:sp>
        <p:nvSpPr>
          <p:cNvPr id="43" name="Shape 41"/>
          <p:cNvSpPr/>
          <p:nvPr/>
        </p:nvSpPr>
        <p:spPr>
          <a:xfrm>
            <a:off x="5334000" y="2251025"/>
            <a:ext cx="57150" cy="342900"/>
          </a:xfrm>
          <a:prstGeom prst="roundRect">
            <a:avLst>
              <a:gd name="adj" fmla="val 50000"/>
            </a:avLst>
          </a:prstGeom>
          <a:solidFill>
            <a:srgbClr val="7FB6C6">
              <a:alpha val="85000"/>
            </a:srgbClr>
          </a:solidFill>
          <a:ln/>
        </p:spPr>
      </p:sp>
      <p:sp>
        <p:nvSpPr>
          <p:cNvPr id="44" name="Shape 42"/>
          <p:cNvSpPr/>
          <p:nvPr/>
        </p:nvSpPr>
        <p:spPr>
          <a:xfrm>
            <a:off x="5438775" y="2255788"/>
            <a:ext cx="57150" cy="333375"/>
          </a:xfrm>
          <a:prstGeom prst="roundRect">
            <a:avLst>
              <a:gd name="adj" fmla="val 50000"/>
            </a:avLst>
          </a:prstGeom>
          <a:solidFill>
            <a:srgbClr val="7FB6C6">
              <a:alpha val="85000"/>
            </a:srgbClr>
          </a:solidFill>
          <a:ln/>
        </p:spPr>
      </p:sp>
      <p:sp>
        <p:nvSpPr>
          <p:cNvPr id="45" name="Shape 43"/>
          <p:cNvSpPr/>
          <p:nvPr/>
        </p:nvSpPr>
        <p:spPr>
          <a:xfrm>
            <a:off x="5543550" y="2327225"/>
            <a:ext cx="57150" cy="190500"/>
          </a:xfrm>
          <a:prstGeom prst="roundRect">
            <a:avLst>
              <a:gd name="adj" fmla="val 50000"/>
            </a:avLst>
          </a:prstGeom>
          <a:solidFill>
            <a:srgbClr val="7FB6C6">
              <a:alpha val="85000"/>
            </a:srgbClr>
          </a:solidFill>
          <a:ln/>
        </p:spPr>
      </p:sp>
      <p:sp>
        <p:nvSpPr>
          <p:cNvPr id="46" name="Shape 44"/>
          <p:cNvSpPr/>
          <p:nvPr/>
        </p:nvSpPr>
        <p:spPr>
          <a:xfrm>
            <a:off x="5648325" y="2146250"/>
            <a:ext cx="57150" cy="552450"/>
          </a:xfrm>
          <a:prstGeom prst="roundRect">
            <a:avLst>
              <a:gd name="adj" fmla="val 50000"/>
            </a:avLst>
          </a:prstGeom>
          <a:solidFill>
            <a:srgbClr val="7FB6C6">
              <a:alpha val="85000"/>
            </a:srgbClr>
          </a:solidFill>
          <a:ln/>
        </p:spPr>
      </p:sp>
      <p:sp>
        <p:nvSpPr>
          <p:cNvPr id="47" name="Shape 45"/>
          <p:cNvSpPr/>
          <p:nvPr/>
        </p:nvSpPr>
        <p:spPr>
          <a:xfrm>
            <a:off x="5753100" y="2303413"/>
            <a:ext cx="57150" cy="238125"/>
          </a:xfrm>
          <a:prstGeom prst="roundRect">
            <a:avLst>
              <a:gd name="adj" fmla="val 50000"/>
            </a:avLst>
          </a:prstGeom>
          <a:solidFill>
            <a:srgbClr val="7FB6C6">
              <a:alpha val="85000"/>
            </a:srgbClr>
          </a:solidFill>
          <a:ln/>
        </p:spPr>
      </p:sp>
      <p:sp>
        <p:nvSpPr>
          <p:cNvPr id="48" name="Shape 46"/>
          <p:cNvSpPr/>
          <p:nvPr/>
        </p:nvSpPr>
        <p:spPr>
          <a:xfrm>
            <a:off x="5857875" y="2189113"/>
            <a:ext cx="57150" cy="466725"/>
          </a:xfrm>
          <a:prstGeom prst="roundRect">
            <a:avLst>
              <a:gd name="adj" fmla="val 50000"/>
            </a:avLst>
          </a:prstGeom>
          <a:solidFill>
            <a:srgbClr val="7FB6C6">
              <a:alpha val="85000"/>
            </a:srgbClr>
          </a:solidFill>
          <a:ln/>
        </p:spPr>
      </p:sp>
      <p:sp>
        <p:nvSpPr>
          <p:cNvPr id="49" name="Shape 47"/>
          <p:cNvSpPr/>
          <p:nvPr/>
        </p:nvSpPr>
        <p:spPr>
          <a:xfrm>
            <a:off x="5962650" y="2284363"/>
            <a:ext cx="57150" cy="276225"/>
          </a:xfrm>
          <a:prstGeom prst="roundRect">
            <a:avLst>
              <a:gd name="adj" fmla="val 50000"/>
            </a:avLst>
          </a:prstGeom>
          <a:solidFill>
            <a:srgbClr val="7FB6C6">
              <a:alpha val="85000"/>
            </a:srgbClr>
          </a:solidFill>
          <a:ln/>
        </p:spPr>
      </p:sp>
      <p:sp>
        <p:nvSpPr>
          <p:cNvPr id="50" name="Shape 48"/>
          <p:cNvSpPr/>
          <p:nvPr/>
        </p:nvSpPr>
        <p:spPr>
          <a:xfrm>
            <a:off x="6067425" y="2336750"/>
            <a:ext cx="57150" cy="171450"/>
          </a:xfrm>
          <a:prstGeom prst="roundRect">
            <a:avLst>
              <a:gd name="adj" fmla="val 50000"/>
            </a:avLst>
          </a:prstGeom>
          <a:solidFill>
            <a:srgbClr val="7FB6C6">
              <a:alpha val="85000"/>
            </a:srgbClr>
          </a:solidFill>
          <a:ln/>
        </p:spPr>
      </p:sp>
      <p:sp>
        <p:nvSpPr>
          <p:cNvPr id="51" name="Text 49"/>
          <p:cNvSpPr/>
          <p:nvPr/>
        </p:nvSpPr>
        <p:spPr>
          <a:xfrm>
            <a:off x="1143000" y="3800921"/>
            <a:ext cx="8834274" cy="1670149"/>
          </a:xfrm>
          <a:prstGeom prst="rect">
            <a:avLst/>
          </a:prstGeom>
          <a:noFill/>
          <a:ln/>
        </p:spPr>
        <p:txBody>
          <a:bodyPr wrap="square" lIns="25400" tIns="25400" rIns="25400" bIns="25400" rtlCol="0" anchor="t">
            <a:normAutofit/>
          </a:bodyPr>
          <a:lstStyle/>
          <a:p>
            <a:pPr algn="l" indent="0" marL="0">
              <a:lnSpc>
                <a:spcPct val="102000"/>
              </a:lnSpc>
              <a:buNone/>
            </a:pPr>
            <a:r>
              <a:rPr lang="en-US" sz="6300" b="1" spc="-126" kern="0" dirty="0">
                <a:solidFill>
                  <a:srgbClr val="F4F1EA"/>
                </a:solidFill>
                <a:latin typeface="Spectral" pitchFamily="34" charset="0"/>
                <a:ea typeface="Spectral" pitchFamily="34" charset="-122"/>
                <a:cs typeface="Spectral" pitchFamily="34" charset="-120"/>
              </a:rPr>
              <a:t>Every word, one click away.</a:t>
            </a:r>
            <a:endParaRPr lang="en-US" sz="6300" dirty="0"/>
          </a:p>
        </p:txBody>
      </p:sp>
      <p:sp>
        <p:nvSpPr>
          <p:cNvPr id="52" name="Text 50"/>
          <p:cNvSpPr/>
          <p:nvPr/>
        </p:nvSpPr>
        <p:spPr>
          <a:xfrm>
            <a:off x="1143000" y="6478042"/>
            <a:ext cx="5731011" cy="1300758"/>
          </a:xfrm>
          <a:prstGeom prst="rect">
            <a:avLst/>
          </a:prstGeom>
          <a:noFill/>
          <a:ln/>
        </p:spPr>
        <p:txBody>
          <a:bodyPr wrap="square" lIns="25400" tIns="25400" rIns="25400" bIns="25400" rtlCol="0" anchor="t">
            <a:normAutofit/>
          </a:bodyPr>
          <a:lstStyle/>
          <a:p>
            <a:pPr algn="l" indent="0" marL="0">
              <a:lnSpc>
                <a:spcPct val="130000"/>
              </a:lnSpc>
              <a:buNone/>
            </a:pPr>
            <a:r>
              <a:rPr lang="en-US" sz="2550" dirty="0">
                <a:solidFill>
                  <a:srgbClr val="C9CEC7"/>
                </a:solidFill>
                <a:latin typeface="Archivo" pitchFamily="34" charset="0"/>
                <a:ea typeface="Archivo" pitchFamily="34" charset="-122"/>
                <a:cs typeface="Archivo" pitchFamily="34" charset="-120"/>
              </a:rPr>
              <a:t>Athey Creek Sermon Search — try the live demo and let us know what you think.</a:t>
            </a:r>
            <a:endParaRPr lang="en-US" sz="2550" dirty="0"/>
          </a:p>
        </p:txBody>
      </p:sp>
      <p:sp>
        <p:nvSpPr>
          <p:cNvPr id="53" name="Shape 51"/>
          <p:cNvSpPr/>
          <p:nvPr/>
        </p:nvSpPr>
        <p:spPr>
          <a:xfrm>
            <a:off x="1143000" y="8953500"/>
            <a:ext cx="1775371" cy="533400"/>
          </a:xfrm>
          <a:prstGeom prst="roundRect">
            <a:avLst>
              <a:gd name="adj" fmla="val 50000"/>
            </a:avLst>
          </a:prstGeom>
          <a:ln w="9525">
            <a:solidFill>
              <a:srgbClr val="86BAC9">
                <a:alpha val="50000"/>
              </a:srgbClr>
            </a:solidFill>
            <a:prstDash val="solid"/>
          </a:ln>
        </p:spPr>
      </p:sp>
      <p:sp>
        <p:nvSpPr>
          <p:cNvPr id="54" name="Shape 52"/>
          <p:cNvSpPr/>
          <p:nvPr/>
        </p:nvSpPr>
        <p:spPr>
          <a:xfrm>
            <a:off x="1381125" y="9177338"/>
            <a:ext cx="85725" cy="85725"/>
          </a:xfrm>
          <a:prstGeom prst="ellipse">
            <a:avLst/>
          </a:prstGeom>
          <a:solidFill>
            <a:srgbClr val="5FBF7E"/>
          </a:solidFill>
          <a:ln/>
          <a:effectLst>
            <a:outerShdw sx="100000" sy="100000" kx="0" ky="0" algn="bl" rotWithShape="0" blurRad="101600" dist="50800" dir="16200000">
              <a:srgbClr val="5FBF7E">
                <a:alpha val="20000"/>
              </a:srgbClr>
            </a:outerShdw>
          </a:effectLst>
        </p:spPr>
      </p:sp>
      <p:sp>
        <p:nvSpPr>
          <p:cNvPr id="55" name="Text 53"/>
          <p:cNvSpPr/>
          <p:nvPr/>
        </p:nvSpPr>
        <p:spPr>
          <a:xfrm>
            <a:off x="1600200" y="9096375"/>
            <a:ext cx="1156246" cy="285750"/>
          </a:xfrm>
          <a:prstGeom prst="rect">
            <a:avLst/>
          </a:prstGeom>
          <a:noFill/>
          <a:ln/>
        </p:spPr>
        <p:txBody>
          <a:bodyPr wrap="square" lIns="0" tIns="0" rIns="0" bIns="0" rtlCol="0" anchor="t">
            <a:normAutofit/>
          </a:bodyPr>
          <a:lstStyle/>
          <a:p>
            <a:pPr algn="l" indent="0" marL="0">
              <a:buNone/>
            </a:pPr>
            <a:r>
              <a:rPr lang="en-US" sz="1800" b="1" dirty="0">
                <a:solidFill>
                  <a:srgbClr val="9FC9D6"/>
                </a:solidFill>
                <a:latin typeface="Archivo" pitchFamily="34" charset="0"/>
                <a:ea typeface="Archivo" pitchFamily="34" charset="-122"/>
                <a:cs typeface="Archivo" pitchFamily="34" charset="-120"/>
              </a:rPr>
              <a:t>Live demo</a:t>
            </a:r>
            <a:endParaRPr lang="en-US" sz="1800" dirty="0"/>
          </a:p>
        </p:txBody>
      </p:sp>
      <p:sp>
        <p:nvSpPr>
          <p:cNvPr id="56" name="Text 54"/>
          <p:cNvSpPr/>
          <p:nvPr/>
        </p:nvSpPr>
        <p:spPr>
          <a:xfrm>
            <a:off x="3127921" y="9082088"/>
            <a:ext cx="5792328" cy="314325"/>
          </a:xfrm>
          <a:prstGeom prst="rect">
            <a:avLst/>
          </a:prstGeom>
          <a:noFill/>
          <a:ln/>
        </p:spPr>
        <p:txBody>
          <a:bodyPr wrap="square" lIns="25400" tIns="25400" rIns="25400" bIns="25400" rtlCol="0" anchor="t">
            <a:normAutofit/>
          </a:bodyPr>
          <a:lstStyle/>
          <a:p>
            <a:pPr algn="l" indent="0" marL="0">
              <a:buNone/>
            </a:pPr>
            <a:r>
              <a:rPr lang="en-US" sz="1800" dirty="0">
                <a:solidFill>
                  <a:srgbClr val="9FC9D6"/>
                </a:solidFill>
                <a:latin typeface="Spline Sans Mono" pitchFamily="34" charset="0"/>
                <a:ea typeface="Spline Sans Mono" pitchFamily="34" charset="-122"/>
                <a:cs typeface="Spline Sans Mono" pitchFamily="34" charset="-120"/>
              </a:rPr>
              <a:t>bscheffer13.github.io/athey-sermon-search</a:t>
            </a:r>
            <a:endParaRPr lang="en-US" sz="1800" dirty="0"/>
          </a:p>
        </p:txBody>
      </p:sp>
      <p:sp>
        <p:nvSpPr>
          <p:cNvPr id="57" name="Text 55"/>
          <p:cNvSpPr/>
          <p:nvPr/>
        </p:nvSpPr>
        <p:spPr>
          <a:xfrm>
            <a:off x="1143000" y="9601200"/>
            <a:ext cx="3372599" cy="285750"/>
          </a:xfrm>
          <a:prstGeom prst="rect">
            <a:avLst/>
          </a:prstGeom>
          <a:noFill/>
          <a:ln/>
        </p:spPr>
        <p:txBody>
          <a:bodyPr wrap="square" lIns="25400" tIns="25400" rIns="25400" bIns="25400" rtlCol="0" anchor="t">
            <a:normAutofit/>
          </a:bodyPr>
          <a:lstStyle/>
          <a:p>
            <a:pPr algn="l" indent="0" marL="0">
              <a:buNone/>
            </a:pPr>
            <a:r>
              <a:rPr lang="en-US" sz="1800" b="1" spc="288" kern="0" dirty="0">
                <a:solidFill>
                  <a:srgbClr val="F4F1EA">
                    <a:alpha val="40000"/>
                  </a:srgbClr>
                </a:solidFill>
                <a:latin typeface="Archivo" pitchFamily="34" charset="0"/>
                <a:ea typeface="Archivo" pitchFamily="34" charset="-122"/>
                <a:cs typeface="Archivo" pitchFamily="34" charset="-120"/>
              </a:rPr>
              <a:t>ATHEY CREEK CHURCH</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2026-06-08T21:58:22Z</dcterms:created>
  <dcterms:modified xsi:type="dcterms:W3CDTF">2026-06-08T21:58:22Z</dcterms:modified>
</cp:coreProperties>
</file>